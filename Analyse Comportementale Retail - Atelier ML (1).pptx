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Poppins Bold" charset="1" panose="00000800000000000000"/>
      <p:regular r:id="rId47"/>
    </p:embeddedFont>
    <p:embeddedFont>
      <p:font typeface="Poppins" charset="1" panose="00000500000000000000"/>
      <p:regular r:id="rId48"/>
    </p:embeddedFont>
    <p:embeddedFont>
      <p:font typeface="Open Sans" charset="1" panose="020B0606030504020204"/>
      <p:regular r:id="rId49"/>
    </p:embeddedFont>
    <p:embeddedFont>
      <p:font typeface="Aileron Ultra-Bold" charset="1" panose="00000A00000000000000"/>
      <p:regular r:id="rId55"/>
    </p:embeddedFont>
    <p:embeddedFont>
      <p:font typeface="Public Sans" charset="1" panose="00000000000000000000"/>
      <p:regular r:id="rId56"/>
    </p:embeddedFont>
    <p:embeddedFont>
      <p:font typeface="Public Sans Bold" charset="1" panose="00000000000000000000"/>
      <p:regular r:id="rId57"/>
    </p:embeddedFont>
    <p:embeddedFont>
      <p:font typeface="Aileron" charset="1" panose="00000500000000000000"/>
      <p:regular r:id="rId77"/>
    </p:embeddedFont>
    <p:embeddedFont>
      <p:font typeface="Aileron Bold" charset="1" panose="00000800000000000000"/>
      <p:regular r:id="rId7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notesMasters/notesMaster1.xml" Type="http://schemas.openxmlformats.org/officeDocument/2006/relationships/notesMaster"/><Relationship Id="rId45" Target="theme/theme2.xml" Type="http://schemas.openxmlformats.org/officeDocument/2006/relationships/theme"/><Relationship Id="rId46" Target="notesSlides/notesSlide1.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2.xml" Type="http://schemas.openxmlformats.org/officeDocument/2006/relationships/notesSlide"/><Relationship Id="rId51" Target="notesSlides/notesSlide3.xml" Type="http://schemas.openxmlformats.org/officeDocument/2006/relationships/notesSlide"/><Relationship Id="rId52" Target="notesSlides/notesSlide4.xml" Type="http://schemas.openxmlformats.org/officeDocument/2006/relationships/notesSlide"/><Relationship Id="rId53" Target="notesSlides/notesSlide5.xml" Type="http://schemas.openxmlformats.org/officeDocument/2006/relationships/notesSlide"/><Relationship Id="rId54" Target="notesSlides/notesSlide6.xml" Type="http://schemas.openxmlformats.org/officeDocument/2006/relationships/notesSlide"/><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notesSlides/notesSlide7.xml" Type="http://schemas.openxmlformats.org/officeDocument/2006/relationships/notesSlide"/><Relationship Id="rId59" Target="notesSlides/notesSlide8.xml" Type="http://schemas.openxmlformats.org/officeDocument/2006/relationships/notesSlide"/><Relationship Id="rId6" Target="slides/slide1.xml" Type="http://schemas.openxmlformats.org/officeDocument/2006/relationships/slide"/><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slides/slide2.xml" Type="http://schemas.openxmlformats.org/officeDocument/2006/relationships/slid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fonts/font77.fntdata" Type="http://schemas.openxmlformats.org/officeDocument/2006/relationships/font"/><Relationship Id="rId78" Target="fonts/font78.fntdata" Type="http://schemas.openxmlformats.org/officeDocument/2006/relationships/font"/><Relationship Id="rId79" Target="notesSlides/notesSlide26.xml" Type="http://schemas.openxmlformats.org/officeDocument/2006/relationships/notesSlide"/><Relationship Id="rId8" Target="slides/slide3.xml" Type="http://schemas.openxmlformats.org/officeDocument/2006/relationships/slide"/><Relationship Id="rId80" Target="notesSlides/notesSlide27.xml" Type="http://schemas.openxmlformats.org/officeDocument/2006/relationships/notesSlide"/><Relationship Id="rId81" Target="notesSlides/notesSlide28.xml" Type="http://schemas.openxmlformats.org/officeDocument/2006/relationships/notesSlide"/><Relationship Id="rId82" Target="notesSlides/notesSlide29.xml" Type="http://schemas.openxmlformats.org/officeDocument/2006/relationships/notesSlide"/><Relationship Id="rId83" Target="notesSlides/notesSlide30.xml" Type="http://schemas.openxmlformats.org/officeDocument/2006/relationships/notesSlide"/><Relationship Id="rId84" Target="notesSlides/notesSlide31.xml" Type="http://schemas.openxmlformats.org/officeDocument/2006/relationships/notesSlide"/><Relationship Id="rId85" Target="notesSlides/notesSlide32.xml" Type="http://schemas.openxmlformats.org/officeDocument/2006/relationships/notesSlide"/><Relationship Id="rId86" Target="notesSlides/notesSlide33.xml" Type="http://schemas.openxmlformats.org/officeDocument/2006/relationships/notesSlide"/><Relationship Id="rId87" Target="notesSlides/notesSlide34.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bonsoir à tous  ,</a:t>
            </a:r>
          </a:p>
          <a:p>
            <a:r>
              <a:rPr lang="en-US"/>
              <a:t> je me présente maryem siala s4 ,</a:t>
            </a:r>
          </a:p>
          <a:p>
            <a:r>
              <a:rPr lang="en-US"/>
              <a:t> Je vous présente aujourd'hui  l’atelier de Machine Learning portant sur l’analyse comportementale de la clientèle retail.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marché des cadeaux en e-commerce est fortement concurrentiel.</a:t>
            </a:r>
          </a:p>
          <a:p>
            <a:r>
              <a:rPr lang="en-US"/>
              <a:t/>
            </a:r>
          </a:p>
          <a:p>
            <a:r>
              <a:rPr lang="en-US"/>
              <a:t>L’objectif est de mieux comprendre le comportement client à partir des données transactionnelles pour guider les décisions.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démarche suit une suite logique.</a:t>
            </a:r>
          </a:p>
          <a:p>
            <a:r>
              <a:rPr lang="en-US"/>
              <a:t/>
            </a:r>
          </a:p>
          <a:p>
            <a:r>
              <a:rPr lang="en-US"/>
              <a:t>On commence par explorer et comprendre les données, puis on les nettoie et les prépare pour l’analyse.</a:t>
            </a:r>
          </a:p>
          <a:p>
            <a:r>
              <a:rPr lang="en-US"/>
              <a:t/>
            </a:r>
          </a:p>
          <a:p>
            <a:r>
              <a:rPr lang="en-US"/>
              <a:t>Ensuite, on réduit leur dimension et on applique les modèles de machine learning.</a:t>
            </a:r>
          </a:p>
          <a:p>
            <a:r>
              <a:rPr lang="en-US"/>
              <a:t/>
            </a:r>
          </a:p>
          <a:p>
            <a:r>
              <a:rPr lang="en-US"/>
              <a:t>Après cela, on évalue les performances des modèles.</a:t>
            </a:r>
          </a:p>
          <a:p>
            <a:r>
              <a:rPr lang="en-US"/>
              <a:t/>
            </a:r>
          </a:p>
          <a:p>
            <a:r>
              <a:rPr lang="en-US"/>
              <a:t>Enfin, on déploie la solution pour une utilisation opérationnelle.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passons maintenant à la Configuration de l'Environnement de Travail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projet est structuré en plusieurs parties.</a:t>
            </a:r>
          </a:p>
          <a:p>
            <a:r>
              <a:rPr lang="en-US"/>
              <a:t/>
            </a:r>
          </a:p>
          <a:p>
            <a:r>
              <a:rPr lang="en-US"/>
              <a:t>Les données sont stockées dans data, le travail exploratoire dans notebooks.</a:t>
            </a:r>
          </a:p>
          <a:p>
            <a:r>
              <a:rPr lang="en-US"/>
              <a:t/>
            </a:r>
          </a:p>
          <a:p>
            <a:r>
              <a:rPr lang="en-US"/>
              <a:t>src pour le prétraitement, l’entraînement et la prédiction.</a:t>
            </a:r>
          </a:p>
          <a:p>
            <a:r>
              <a:rPr lang="en-US"/>
              <a:t/>
            </a:r>
          </a:p>
          <a:p>
            <a:r>
              <a:rPr lang="en-US"/>
              <a:t>Les modèles sont sauvegardés dans models, et le déploiement est géré par app avec Flask.</a:t>
            </a:r>
          </a:p>
          <a:p>
            <a:r>
              <a:rPr lang="en-US"/>
              <a:t/>
            </a:r>
          </a:p>
          <a:p>
            <a:r>
              <a:rPr lang="en-US"/>
              <a:t>Le fichier README décrit le projet, son objectif , sa structure et son installation. </a:t>
            </a:r>
          </a:p>
          <a:p>
            <a:r>
              <a:rPr lang="en-US"/>
              <a:t/>
            </a:r>
          </a:p>
          <a:p>
            <a:r>
              <a:rPr lang="en-US"/>
              <a:t>Enfin, run.py lance l’application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on utilise un environnement virtuel qui permet d’isoler les dépendances du projet ,garantir la reproductibilité du modèle sur différentes machines et éviter les conflits entre versions de bibliothèques.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Les dépendances du projet comme pandas flask joblib etc sont centralisées dans le fichier requirements.txt.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fichier README décrit le projet, son objectif , sa structure et son installation. </a:t>
            </a:r>
          </a:p>
          <a:p>
            <a:r>
              <a:rPr lang="en-US"/>
              <a:t/>
            </a:r>
          </a:p>
          <a:p>
            <a:r>
              <a:rPr lang="en-US"/>
              <a:t>Le projet ensuite  est versionné avec Git puis publié sur GitHub pour la collaboration.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dataset utilisé pour cet atelier provient d’une plateforme e-commerce de cadeaux et contient 52 variables décrivant le comportement client.</a:t>
            </a:r>
          </a:p>
          <a:p>
            <a:r>
              <a:rPr lang="en-US"/>
              <a:t/>
            </a:r>
          </a:p>
          <a:p>
            <a:r>
              <a:rPr lang="en-US"/>
              <a:t>La variable cible est Churn, indiquant si un client est parti ou actif.</a:t>
            </a:r>
          </a:p>
          <a:p>
            <a:r>
              <a:rPr lang="en-US"/>
              <a:t/>
            </a:r>
          </a:p>
          <a:p>
            <a:r>
              <a:rPr lang="en-US"/>
              <a:t>Les variables se répartissent en trois catégories : les features  numériques transactionnelles, les features numériques comportementales et les features catégorielles.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passons à l'Exploration des Données qui permet de comprendre la structure du dataset</a:t>
            </a:r>
          </a:p>
          <a:p>
            <a:r>
              <a:rPr lang="en-US"/>
              <a:t/>
            </a:r>
          </a:p>
          <a:p>
            <a:r>
              <a:rPr lang="en-US"/>
              <a:t/>
            </a:r>
          </a:p>
          <a:p>
            <a:r>
              <a:rPr lang="en-US"/>
              <a:t/>
            </a:r>
          </a:p>
          <a:p>
            <a:r>
              <a:rPr lang="en-US"/>
              <a:t>L’analyse de la structure globale met en évidence les problèmes de format, les types incorrects et les valeurs manquantes.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distingue Trois types de données :</a:t>
            </a:r>
          </a:p>
          <a:p>
            <a:r>
              <a:rPr lang="en-US"/>
              <a:t/>
            </a:r>
          </a:p>
          <a:p>
            <a:r>
              <a:rPr lang="en-US"/>
              <a:t>int64 :pour les  variables entières (comptage)</a:t>
            </a:r>
          </a:p>
          <a:p>
            <a:r>
              <a:rPr lang="en-US"/>
              <a:t>float64 : variables décimales</a:t>
            </a:r>
          </a:p>
          <a:p>
            <a:r>
              <a:rPr lang="en-US"/>
              <a:t>object /str: variables textuelles avec quelques erreurs de typage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fonction df.describe() fournit un résumé statistique des variables numériques du dataset comme la (moyenne), la dispersion le minimum, le maximum et les quartiles </a:t>
            </a:r>
          </a:p>
          <a:p>
            <a:r>
              <a:rPr lang="en-US"/>
              <a:t> afin de détecter les anomalies.</a:t>
            </a:r>
          </a:p>
          <a:p>
            <a:r>
              <a:rPr lang="en-US"/>
              <a:t/>
            </a:r>
          </a:p>
          <a:p>
            <a:r>
              <a:rPr lang="en-US"/>
              <a:t>Par exemple, pour SatisfactionScore, des valeurs sentinelles {-1, 0, 99} ont été identifiées alors que l’échelle attendue est de 1 à 5.</a:t>
            </a:r>
          </a:p>
          <a:p>
            <a:r>
              <a:rPr lang="en-US"/>
              <a:t/>
            </a:r>
          </a:p>
          <a:p>
            <a:r>
              <a:rPr lang="en-US"/>
              <a:t>De même, pour SupportTicketsCount, les valeurs {-1, 999} sont incohérentes, car un tel nombre de tickets est irréaliste, indiquant des données mal codées ou manquantes.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On observe aussi que l’âge client présente environ 30 % de valeurs manquantes.</a:t>
            </a:r>
          </a:p>
          <a:p>
            <a:r>
              <a:rPr lang="en-US"/>
              <a:t/>
            </a:r>
          </a:p>
          <a:p>
            <a:r>
              <a:rPr lang="en-US"/>
              <a:t>et AvgDaysBetweenPurchases présente environ 1,8 % de valeurs manquantes s’expliquent par des clients ayant un seul achat,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 plus Plusieurs features demandent un traitement spécifique : NewsletterSubscribed (variance nulle</a:t>
            </a:r>
          </a:p>
          <a:p>
            <a:r>
              <a:rPr lang="en-US"/>
              <a:t>, RegistrationDate (formats mixtes à standardiser),</a:t>
            </a:r>
          </a:p>
          <a:p>
            <a:r>
              <a:rPr lang="en-US"/>
              <a:t> </a:t>
            </a:r>
          </a:p>
          <a:p>
            <a:r>
              <a:rPr lang="en-US"/>
              <a:t>LastLoginIP  qui est (non exploitable directement) </a:t>
            </a:r>
          </a:p>
          <a:p>
            <a:r>
              <a:rPr lang="en-US"/>
              <a:t/>
            </a:r>
          </a:p>
          <a:p>
            <a:r>
              <a:rPr lang="en-US"/>
              <a:t>La variable cible Churn montre un déséquilibre avec environ 67 % de clients fidèles ,  et 33.3%de clients partis, , nécessitant un rééquilibrage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 plus L’analyse de corrélation et de multicolinéarité permet d’éviter les variables redondantes et d’améliorer la stabilité du modèle.</a:t>
            </a:r>
          </a:p>
          <a:p>
            <a:r>
              <a:rPr lang="en-US"/>
              <a:t>pour cela on calcul</a:t>
            </a:r>
          </a:p>
          <a:p>
            <a:r>
              <a:rPr lang="en-US"/>
              <a:t>La matrice de corrélation  qui identifie les relations fortes entre variables (seuil &gt; 0.8),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passns maintenata au data processing càd  transformer des données brutes en données propres et exploitables par les modèles de Machine Learning.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commonçons par Les valeurs aberrantes </a:t>
            </a:r>
          </a:p>
          <a:p>
            <a:r>
              <a:rPr lang="en-US"/>
              <a:t/>
            </a:r>
          </a:p>
          <a:p>
            <a:r>
              <a:rPr lang="en-US"/>
              <a:t>Pour SupportTicketsCount, on applique un clipping au 99ᵉ percentile : on définit une limite supérieure telle que 99 % des données sont en dessous, et toute valeur supérieure est remplacée par cette limite et Les valeurs négatives sont remplacées par 0 .</a:t>
            </a:r>
          </a:p>
          <a:p>
            <a:r>
              <a:rPr lang="en-US"/>
              <a:t/>
            </a:r>
          </a:p>
          <a:p>
            <a:r>
              <a:rPr lang="en-US"/>
              <a:t>Pour SatisfactionScore, les valeurs invalides sont remplacées par la médiane des valeurs valides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feature engineering transforme les données brutes en variables plus informatives </a:t>
            </a:r>
          </a:p>
          <a:p>
            <a:r>
              <a:rPr lang="en-US"/>
              <a:t/>
            </a:r>
          </a:p>
          <a:p>
            <a:r>
              <a:rPr lang="en-US"/>
              <a:t>on fait un parsing pour La variable RegistrationDate qui  est décomposée en année (ancienneté client), mois (saisonnalité), jour et jour de semaine, afin de capturer les comportements temporels.</a:t>
            </a:r>
          </a:p>
          <a:p>
            <a:r>
              <a:rPr lang="en-US"/>
              <a:t/>
            </a:r>
          </a:p>
          <a:p>
            <a:r>
              <a:rPr lang="en-US"/>
              <a:t>Pour les adresses IP, une nouvelle variable Is_Private_IP est créée pour distinguer les IP privées (1) des IP publiques (0),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 plus la  Construction de 3 features comportementales </a:t>
            </a:r>
          </a:p>
          <a:p>
            <a:r>
              <a:rPr lang="en-US"/>
              <a:t/>
            </a:r>
          </a:p>
          <a:p>
            <a:r>
              <a:rPr lang="en-US"/>
              <a:t>MonetaryPerDay </a:t>
            </a:r>
          </a:p>
          <a:p>
            <a:r>
              <a:rPr lang="en-US"/>
              <a:t/>
            </a:r>
          </a:p>
          <a:p>
            <a:r>
              <a:rPr lang="en-US"/>
              <a:t>AvgBasketValue </a:t>
            </a:r>
          </a:p>
          <a:p>
            <a:r>
              <a:rPr lang="en-US"/>
              <a:t/>
            </a:r>
          </a:p>
          <a:p>
            <a:r>
              <a:rPr lang="en-US"/>
              <a:t>TenureRatio </a:t>
            </a:r>
          </a:p>
          <a:p>
            <a:r>
              <a:rPr lang="en-US"/>
              <a:t/>
            </a:r>
          </a:p>
          <a:p>
            <a:r>
              <a:rPr lang="en-US"/>
              <a:t> pour améliorer la prédiction du churn.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suppression des features inutiles comme </a:t>
            </a:r>
          </a:p>
          <a:p>
            <a:r>
              <a:rPr lang="en-US"/>
              <a:t>CustomerID  : un identifiant sans pouvoir prédictif, et NewsletterSubscribed qui présente une variance nulle (100 % “Oui”)</a:t>
            </a:r>
          </a:p>
          <a:p>
            <a:r>
              <a:rPr lang="en-US"/>
              <a:t/>
            </a:r>
          </a:p>
          <a:p>
            <a:r>
              <a:rPr lang="en-US"/>
              <a:t>Plusieurs variables sont aussi éliminées car elles causent du data leakage, c’est-à-dire qu’elles contiennent des informations liées à la cible Churn. C’est le cas de ChurnRisk, LoyaltyLevel, FavoriteSeason etc </a:t>
            </a:r>
          </a:p>
          <a:p>
            <a:r>
              <a:rPr lang="en-US"/>
              <a:t>------------------------------------</a:t>
            </a:r>
          </a:p>
          <a:p>
            <a:r>
              <a:rPr lang="en-US"/>
              <a:t>Le data leakage se produit lorsque le modèle accède à des informations qu’il ne devrait pas connaître au moment de la prédiction, ce qui donne des performances artificiellement élevées mais non fiables en production.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L’analyse de corrélation commence après la séparation des données </a:t>
            </a:r>
          </a:p>
          <a:p>
            <a:r>
              <a:rPr lang="en-US"/>
              <a:t/>
            </a:r>
          </a:p>
          <a:p>
            <a:r>
              <a:rPr lang="en-US"/>
              <a:t>y = Churn (cible) et X = features, afin d’éviter tout risque de data leakage.</a:t>
            </a:r>
          </a:p>
          <a:p>
            <a:r>
              <a:rPr lang="en-US"/>
              <a:t/>
            </a:r>
          </a:p>
          <a:p>
            <a:r>
              <a:rPr lang="en-US"/>
              <a:t>on calcule la matrice de corrélation absolue  sur  les variables numériques  et </a:t>
            </a:r>
          </a:p>
          <a:p>
            <a:r>
              <a:rPr lang="en-US"/>
              <a:t/>
            </a:r>
          </a:p>
          <a:p>
            <a:r>
              <a:rPr lang="en-US"/>
              <a:t>On identifie les variables fortement corrélées comme MonetaryTotal ↔ MonetaryAvg, Frequency ↔ UniqueInvoices, et UniqueProducts ↔ UniqueDescriptions (r ≈ 0.99).</a:t>
            </a:r>
          </a:p>
          <a:p>
            <a:r>
              <a:rPr lang="en-US"/>
              <a:t/>
            </a:r>
          </a:p>
          <a:p>
            <a:r>
              <a:rPr lang="en-US"/>
              <a:t>Les variables redondantes sont ensuite supprimées pour réduire la multicolinéarité et stabiliser les modèles.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séparation train/test est faite en 80/20 avec stratify=y pour conserver la même distribution du churn dans les deux ensembles.</a:t>
            </a:r>
          </a:p>
          <a:p>
            <a:r>
              <a:rPr lang="en-US"/>
              <a:t/>
            </a:r>
          </a:p>
          <a:p>
            <a:r>
              <a:rPr lang="en-US"/>
              <a:t/>
            </a:r>
          </a:p>
          <a:p>
            <a:r>
              <a:rPr lang="en-US"/>
              <a:t>Un pipeline de preprocessing est ensuite appliqué : imputation et standardisation  pour les variables numériques càd  mettre toutes les variables sur la même échelle </a:t>
            </a:r>
          </a:p>
          <a:p>
            <a:r>
              <a:rPr lang="en-US"/>
              <a:t/>
            </a:r>
          </a:p>
          <a:p>
            <a:r>
              <a:rPr lang="en-US"/>
              <a:t>et pour les variables catégorielles imputation  et l'encodage avec le one-Hot Encoding  qui transforme une variable catégorielle en plusieurs variables binaires (0/1)</a:t>
            </a:r>
          </a:p>
          <a:p>
            <a:r>
              <a:rPr lang="en-US"/>
              <a:t/>
            </a:r>
          </a:p>
          <a:p>
            <a:r>
              <a:rPr lang="en-US"/>
              <a:t>enfin application de pca qui  réduit le nombre de variables en conservant l’essentiel de l’information (95% de la variance)</a:t>
            </a:r>
          </a:p>
          <a:p>
            <a:r>
              <a:rPr lang="en-US"/>
              <a:t>---------------------------------</a:t>
            </a:r>
          </a:p>
          <a:p>
            <a:r>
              <a:rPr lang="en-US"/>
              <a:t/>
            </a:r>
          </a:p>
          <a:p>
            <a:r>
              <a:rPr lang="en-US"/>
              <a:t>from sklearn.model_selection import train_test_split</a:t>
            </a:r>
          </a:p>
          <a:p>
            <a:r>
              <a:rPr lang="en-US"/>
              <a:t>from sklearn.preprocessing import StandardScaler, OneHotEncoder</a:t>
            </a:r>
          </a:p>
          <a:p>
            <a:r>
              <a:rPr lang="en-US"/>
              <a:t>from sklearn.impute import SimpleImputer</a:t>
            </a:r>
          </a:p>
          <a:p>
            <a:r>
              <a:rPr lang="en-US"/>
              <a:t>from sklearn.compose import ColumnTransformer</a:t>
            </a:r>
          </a:p>
          <a:p>
            <a:r>
              <a:rPr lang="en-US"/>
              <a:t>from sklearn.pipeline import Pipeline</a:t>
            </a:r>
          </a:p>
          <a:p>
            <a:r>
              <a:rPr lang="en-US"/>
              <a:t>from sklearn.decomposition import PCA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pour L’imputation de l' Age , on utilise une imputation par la médiane , car elle est robuste aux valeurs extrêmes</a:t>
            </a:r>
          </a:p>
          <a:p>
            <a:r>
              <a:rPr lang="en-US"/>
              <a:t/>
            </a:r>
          </a:p>
          <a:p>
            <a:r>
              <a:rPr lang="en-US"/>
              <a:t>Pour AvgDaysBetweenPurchases  on impute par 0, car les clients concernés n’ont effectué qu’un seul achat, donc aucun intervalle entre achats n’est défini.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pipeline est appliqué en deux étapes : sur le train, fit_transform(X_train) apprend les paramètres de prétraitement et les applique, tandis que sur le test, transform(X_test) applique les mêmes transformations sans réapprentissage.</a:t>
            </a:r>
          </a:p>
          <a:p>
            <a:r>
              <a:rPr lang="en-US"/>
              <a:t/>
            </a:r>
          </a:p>
          <a:p>
            <a:r>
              <a:rPr lang="en-US"/>
              <a:t>Ensuite, SMOTE est utilisé pour rééquilibrer le classe (churn) en générant des exemples synthétiques de la classe minoritaire (churn), </a:t>
            </a:r>
          </a:p>
          <a:p>
            <a:r>
              <a:rPr lang="en-US"/>
              <a:t/>
            </a:r>
          </a:p>
          <a:p>
            <a:r>
              <a:rPr lang="en-US"/>
              <a:t/>
            </a:r>
          </a:p>
          <a:p>
            <a:r>
              <a:rPr lang="en-US"/>
              <a:t/>
            </a:r>
          </a:p>
          <a:p>
            <a:r>
              <a:rPr lang="en-US"/>
              <a:t>Enfin,les datasets finaux sont sauvegardés ainsi que le pipeline sous forme de fichier .pkl pour assurer la reproductibilité.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passons maintenat à la La phase de modélisation et entraînement  qui consiste à comparer deux algorithmes supervisés, la Régression Logistique et le Random Forest, pour la prédiction du churn.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régression logistique estime la probabilité d’appartenir à une classe (0 ou 1) via une fonction sigmoïde.</a:t>
            </a:r>
          </a:p>
          <a:p>
            <a:r>
              <a:rPr lang="en-US"/>
              <a:t>Paramètres clés :</a:t>
            </a:r>
          </a:p>
          <a:p>
            <a:r>
              <a:rPr lang="en-US"/>
              <a:t/>
            </a:r>
          </a:p>
          <a:p>
            <a:r>
              <a:rPr lang="en-US"/>
              <a:t/>
            </a:r>
          </a:p>
          <a:p>
            <a:r>
              <a:rPr lang="en-US"/>
              <a:t>C : contrôle la complexité (petit C = modèle plus simple)</a:t>
            </a:r>
          </a:p>
          <a:p>
            <a:r>
              <a:rPr lang="en-US"/>
              <a:t/>
            </a:r>
          </a:p>
          <a:p>
            <a:r>
              <a:rPr lang="en-US"/>
              <a:t/>
            </a:r>
          </a:p>
          <a:p>
            <a:r>
              <a:rPr lang="en-US"/>
              <a:t>class_weight : gère le déséquilibre des classes</a:t>
            </a:r>
          </a:p>
          <a:p>
            <a:r>
              <a:rPr lang="en-US"/>
              <a:t/>
            </a:r>
          </a:p>
          <a:p>
            <a:r>
              <a:rPr lang="en-US"/>
              <a:t/>
            </a:r>
          </a:p>
          <a:p>
            <a:r>
              <a:rPr lang="en-US"/>
              <a:t>penalty : régularisation pour éviter le sur-apprentissage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 Random Forest Classifier repose sur un apprentissage ensembliste.</a:t>
            </a:r>
          </a:p>
          <a:p>
            <a:r>
              <a:rPr lang="en-US"/>
              <a:t/>
            </a:r>
          </a:p>
          <a:p>
            <a:r>
              <a:rPr lang="en-US"/>
              <a:t>Il combine plusieurs arbres de décision, chacun entraîné sur un échantillon bootstrap des données, et la prédiction finale est obtenue par vote majoritaire.</a:t>
            </a:r>
          </a:p>
          <a:p>
            <a:r>
              <a:rPr lang="en-US"/>
              <a:t/>
            </a:r>
          </a:p>
          <a:p>
            <a:r>
              <a:rPr lang="en-US"/>
              <a:t>Cette approche réduit le surapprentissage et améliore la robustesse du modèle.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donc , Pour la régression logistique, on initialise le modèle avec max_iter=1000 pour assurer la convergence.</a:t>
            </a:r>
          </a:p>
          <a:p>
            <a:r>
              <a:rPr lang="en-US"/>
              <a:t>On teste plusieurs valeurs de C (0.1  ,1.0  , 10.0)afin de trouver le bon compromis :</a:t>
            </a:r>
          </a:p>
          <a:p>
            <a:r>
              <a:rPr lang="en-US"/>
              <a:t/>
            </a:r>
          </a:p>
          <a:p>
            <a:r>
              <a:rPr lang="en-US"/>
              <a:t> class_weight='balanced' permet de gérer le déséquilibre des classes.</a:t>
            </a:r>
          </a:p>
          <a:p>
            <a:r>
              <a:rPr lang="en-US"/>
              <a:t/>
            </a:r>
          </a:p>
          <a:p>
            <a:r>
              <a:rPr lang="en-US"/>
              <a:t>Pour le Random Forest, on fixe random_state=42 pour la reproductibilité.</a:t>
            </a:r>
          </a:p>
          <a:p>
            <a:r>
              <a:rPr lang="en-US"/>
              <a:t>Les hyperparamètres testés sont :</a:t>
            </a:r>
          </a:p>
          <a:p>
            <a:r>
              <a:rPr lang="en-US"/>
              <a:t/>
            </a:r>
          </a:p>
          <a:p>
            <a:r>
              <a:rPr lang="en-US"/>
              <a:t>n_estimators : nombre d’arbres </a:t>
            </a:r>
          </a:p>
          <a:p>
            <a:r>
              <a:rPr lang="en-US"/>
              <a:t>max_depth : profondeur </a:t>
            </a:r>
          </a:p>
          <a:p>
            <a:r>
              <a:rPr lang="en-US"/>
              <a:t>class_weight='balanced' :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GridSearchCV permet de tester automatiquement toutes les combinaisons d’hyperparamètres afin de sélectionner la configuration la plus performante.</a:t>
            </a:r>
          </a:p>
          <a:p>
            <a:r>
              <a:rPr lang="en-US"/>
              <a:t>Les paramètres principaux sont :</a:t>
            </a:r>
          </a:p>
          <a:p>
            <a:r>
              <a:rPr lang="en-US"/>
              <a:t/>
            </a:r>
          </a:p>
          <a:p>
            <a:r>
              <a:rPr lang="en-US"/>
              <a:t/>
            </a:r>
          </a:p>
          <a:p>
            <a:r>
              <a:rPr lang="en-US"/>
              <a:t>param_grid : ensemble des hyperparamètres à tester</a:t>
            </a:r>
          </a:p>
          <a:p>
            <a:r>
              <a:rPr lang="en-US"/>
              <a:t/>
            </a:r>
          </a:p>
          <a:p>
            <a:r>
              <a:rPr lang="en-US"/>
              <a:t/>
            </a:r>
          </a:p>
          <a:p>
            <a:r>
              <a:rPr lang="en-US"/>
              <a:t>cv : nombre de folds pour la validation croisée</a:t>
            </a:r>
          </a:p>
          <a:p>
            <a:r>
              <a:rPr lang="en-US"/>
              <a:t/>
            </a:r>
          </a:p>
          <a:p>
            <a:r>
              <a:rPr lang="en-US"/>
              <a:t/>
            </a:r>
          </a:p>
          <a:p>
            <a:r>
              <a:rPr lang="en-US"/>
              <a:t>scoring : métrique d’évaluation (ici F1-score)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La GridSearchCV est utilisée pour optimiser les hyperparamètres et sélectionner les meilleurs paramètres </a:t>
            </a:r>
          </a:p>
          <a:p>
            <a:r>
              <a:rPr lang="en-US"/>
              <a:t/>
            </a:r>
          </a:p>
          <a:p>
            <a:r>
              <a:rPr lang="en-US"/>
              <a:t>Pour les deux modèles on applique une validation croisée à 5 folds avec le F1-score comme métrique d’évaluation.</a:t>
            </a:r>
          </a:p>
          <a:p>
            <a:r>
              <a:rPr lang="en-US"/>
              <a:t/>
            </a:r>
          </a:p>
          <a:p>
            <a:r>
              <a:rPr lang="en-US"/>
              <a:t>Le choix du F1-score est justifié par son équilibre entre précision et recall, ce qui est essentiel dans la prédiction du churn. </a:t>
            </a:r>
          </a:p>
          <a:p>
            <a:r>
              <a:rPr lang="en-US"/>
              <a:t>--------------------------------</a:t>
            </a:r>
          </a:p>
          <a:p>
            <a:r>
              <a:rPr lang="en-US"/>
              <a:t>Le recall est particulièrement important, car ne pas détecter un client à risque (faux négatif) est plus coûteux que cibler un client fidèle.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récupère ensuite le meilleur modèle obtenu et on réalise les prédictions sur le test set</a:t>
            </a:r>
          </a:p>
          <a:p>
            <a:r>
              <a:rPr lang="en-US"/>
              <a:t/>
            </a:r>
          </a:p>
          <a:p>
            <a:r>
              <a:rPr lang="en-US"/>
              <a:t/>
            </a:r>
          </a:p>
          <a:p>
            <a:r>
              <a:rPr lang="en-US"/>
              <a:t>Enfin, on évalue le modèle avec plusieurs métriques : acc ....</a:t>
            </a:r>
          </a:p>
          <a:p>
            <a:r>
              <a:rPr lang="en-US"/>
              <a:t>---------------------------------</a:t>
            </a:r>
          </a:p>
          <a:p>
            <a:r>
              <a:rPr lang="en-US"/>
              <a:t>Accuracy : proportion de prédictions correctes sur l’ensemble des données</a:t>
            </a:r>
          </a:p>
          <a:p>
            <a:r>
              <a:rPr lang="en-US"/>
              <a:t/>
            </a:r>
          </a:p>
          <a:p>
            <a:r>
              <a:rPr lang="en-US"/>
              <a:t>Precision : parmi les clients prédits comme churn, combien sont réellement churn</a:t>
            </a:r>
          </a:p>
          <a:p>
            <a:r>
              <a:rPr lang="en-US"/>
              <a:t/>
            </a:r>
          </a:p>
          <a:p>
            <a:r>
              <a:rPr lang="en-US"/>
              <a:t>Recall : parmi les vrais churn, combien sont détectés</a:t>
            </a:r>
          </a:p>
          <a:p>
            <a:r>
              <a:rPr lang="en-US"/>
              <a:t/>
            </a:r>
          </a:p>
          <a:p>
            <a:r>
              <a:rPr lang="en-US"/>
              <a:t>F1-score : moyenne équilibrée entre précision et recall</a:t>
            </a:r>
          </a:p>
          <a:p>
            <a:r>
              <a:rPr lang="en-US"/>
              <a:t/>
            </a:r>
          </a:p>
          <a:p>
            <a:r>
              <a:rPr lang="en-US"/>
              <a:t>ROC-AUC : mesure la capacité du modèle à distinguer churn vs non-churn, indépendamment du seuil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Bien que le Random Forest affiche une meilleure Précision 0.857, la Régression Logistique s'impose sur la quasi-totalité des autres indicateurs clés. Elle obtient non seulement une meilleure Accuracy 0.8926 et un meilleur ROC-AUC 0.9528 mais elle surpasse surtout le Random Forest en termes de Recall 0.886 contre 0.7835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.Décision finale : La Régression Logistique est retenue comme modèle final.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 workshop a permis de construire un pipeline ML complet pour la prédiction du churn client, de la préparation des données jusqu'au déploiement. Cette solution opérationnelle permet d'anticiper les départs clients et d'activer des stratégies de rétention efficaces.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9.png" Type="http://schemas.openxmlformats.org/officeDocument/2006/relationships/image"/><Relationship Id="rId4" Target="../media/image2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1.png" Type="http://schemas.openxmlformats.org/officeDocument/2006/relationships/image"/><Relationship Id="rId4" Target="../media/image2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1.png" Type="http://schemas.openxmlformats.org/officeDocument/2006/relationships/image"/><Relationship Id="rId4" Target="../media/image2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5.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2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2.png" Type="http://schemas.openxmlformats.org/officeDocument/2006/relationships/image"/><Relationship Id="rId4" Target="../media/image13.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29.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32.png" Type="http://schemas.openxmlformats.org/officeDocument/2006/relationships/image"/><Relationship Id="rId4" Target="../media/image3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9258300"/>
            <a:ext cx="19007579" cy="4876938"/>
            <a:chOff x="0" y="0"/>
            <a:chExt cx="2375880" cy="609600"/>
          </a:xfrm>
        </p:grpSpPr>
        <p:sp>
          <p:nvSpPr>
            <p:cNvPr name="Freeform 3" id="3"/>
            <p:cNvSpPr/>
            <p:nvPr/>
          </p:nvSpPr>
          <p:spPr>
            <a:xfrm flipH="false" flipV="false" rot="0">
              <a:off x="6824" y="0"/>
              <a:ext cx="2362232" cy="609600"/>
            </a:xfrm>
            <a:custGeom>
              <a:avLst/>
              <a:gdLst/>
              <a:ahLst/>
              <a:cxnLst/>
              <a:rect r="r" b="b" t="t" l="l"/>
              <a:pathLst>
                <a:path h="609600" w="2362232">
                  <a:moveTo>
                    <a:pt x="220814" y="0"/>
                  </a:moveTo>
                  <a:lnTo>
                    <a:pt x="2344618" y="0"/>
                  </a:lnTo>
                  <a:cubicBezTo>
                    <a:pt x="2350280" y="0"/>
                    <a:pt x="2355596" y="2722"/>
                    <a:pt x="2358907" y="7315"/>
                  </a:cubicBezTo>
                  <a:cubicBezTo>
                    <a:pt x="2362218" y="11908"/>
                    <a:pt x="2363118" y="17813"/>
                    <a:pt x="2361328" y="23184"/>
                  </a:cubicBezTo>
                  <a:lnTo>
                    <a:pt x="2173584" y="586416"/>
                  </a:lnTo>
                  <a:cubicBezTo>
                    <a:pt x="2168969" y="600261"/>
                    <a:pt x="2156012" y="609600"/>
                    <a:pt x="2141418" y="609600"/>
                  </a:cubicBezTo>
                  <a:lnTo>
                    <a:pt x="17614" y="609600"/>
                  </a:lnTo>
                  <a:cubicBezTo>
                    <a:pt x="11952" y="609600"/>
                    <a:pt x="6636" y="606878"/>
                    <a:pt x="3325" y="602285"/>
                  </a:cubicBezTo>
                  <a:cubicBezTo>
                    <a:pt x="14" y="597692"/>
                    <a:pt x="-886" y="591787"/>
                    <a:pt x="904" y="586416"/>
                  </a:cubicBezTo>
                  <a:lnTo>
                    <a:pt x="188648" y="23184"/>
                  </a:lnTo>
                  <a:cubicBezTo>
                    <a:pt x="193263" y="9339"/>
                    <a:pt x="206220" y="0"/>
                    <a:pt x="220814" y="0"/>
                  </a:cubicBezTo>
                  <a:close/>
                </a:path>
              </a:pathLst>
            </a:custGeom>
            <a:gradFill rotWithShape="true">
              <a:gsLst>
                <a:gs pos="0">
                  <a:srgbClr val="2B79FF">
                    <a:alpha val="100000"/>
                  </a:srgbClr>
                </a:gs>
                <a:gs pos="100000">
                  <a:srgbClr val="0D1296">
                    <a:alpha val="100000"/>
                  </a:srgbClr>
                </a:gs>
              </a:gsLst>
              <a:lin ang="0"/>
            </a:gradFill>
          </p:spPr>
        </p:sp>
        <p:sp>
          <p:nvSpPr>
            <p:cNvPr name="TextBox 4" id="4"/>
            <p:cNvSpPr txBox="true"/>
            <p:nvPr/>
          </p:nvSpPr>
          <p:spPr>
            <a:xfrm>
              <a:off x="101600" y="-38100"/>
              <a:ext cx="2172680" cy="6477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028700" y="1750357"/>
            <a:ext cx="11195915" cy="2672201"/>
          </a:xfrm>
          <a:prstGeom prst="rect">
            <a:avLst/>
          </a:prstGeom>
        </p:spPr>
        <p:txBody>
          <a:bodyPr anchor="t" rtlCol="false" tIns="0" lIns="0" bIns="0" rIns="0">
            <a:spAutoFit/>
          </a:bodyPr>
          <a:lstStyle/>
          <a:p>
            <a:pPr algn="l" marL="0" indent="0" lvl="0">
              <a:lnSpc>
                <a:spcPts val="10164"/>
              </a:lnSpc>
            </a:pPr>
            <a:r>
              <a:rPr lang="en-US" b="true" sz="9240">
                <a:solidFill>
                  <a:srgbClr val="1D4ABD"/>
                </a:solidFill>
                <a:latin typeface="Poppins Bold"/>
                <a:ea typeface="Poppins Bold"/>
                <a:cs typeface="Poppins Bold"/>
                <a:sym typeface="Poppins Bold"/>
              </a:rPr>
              <a:t>Atelier Machine Learning</a:t>
            </a:r>
          </a:p>
        </p:txBody>
      </p:sp>
      <p:sp>
        <p:nvSpPr>
          <p:cNvPr name="TextBox 6" id="6"/>
          <p:cNvSpPr txBox="true"/>
          <p:nvPr/>
        </p:nvSpPr>
        <p:spPr>
          <a:xfrm rot="0">
            <a:off x="1028700" y="4626393"/>
            <a:ext cx="8972828" cy="2914930"/>
          </a:xfrm>
          <a:prstGeom prst="rect">
            <a:avLst/>
          </a:prstGeom>
        </p:spPr>
        <p:txBody>
          <a:bodyPr anchor="t" rtlCol="false" tIns="0" lIns="0" bIns="0" rIns="0">
            <a:spAutoFit/>
          </a:bodyPr>
          <a:lstStyle/>
          <a:p>
            <a:pPr algn="l" marL="0" indent="0" lvl="0">
              <a:lnSpc>
                <a:spcPts val="7449"/>
              </a:lnSpc>
            </a:pPr>
            <a:r>
              <a:rPr lang="en-US" sz="6772">
                <a:solidFill>
                  <a:srgbClr val="1D4ABD"/>
                </a:solidFill>
                <a:latin typeface="Poppins"/>
                <a:ea typeface="Poppins"/>
                <a:cs typeface="Poppins"/>
                <a:sym typeface="Poppins"/>
              </a:rPr>
              <a:t>Analyse Comportementale Clientèle Retail</a:t>
            </a:r>
          </a:p>
        </p:txBody>
      </p:sp>
      <p:sp>
        <p:nvSpPr>
          <p:cNvPr name="TextBox 7" id="7"/>
          <p:cNvSpPr txBox="true"/>
          <p:nvPr/>
        </p:nvSpPr>
        <p:spPr>
          <a:xfrm rot="0">
            <a:off x="11873345" y="6007658"/>
            <a:ext cx="4837619" cy="483870"/>
          </a:xfrm>
          <a:prstGeom prst="rect">
            <a:avLst/>
          </a:prstGeom>
        </p:spPr>
        <p:txBody>
          <a:bodyPr anchor="t" rtlCol="false" tIns="0" lIns="0" bIns="0" rIns="0">
            <a:spAutoFit/>
          </a:bodyPr>
          <a:lstStyle/>
          <a:p>
            <a:pPr algn="ctr" marL="0" indent="0" lvl="0">
              <a:lnSpc>
                <a:spcPts val="3779"/>
              </a:lnSpc>
              <a:spcBef>
                <a:spcPct val="0"/>
              </a:spcBef>
            </a:pPr>
            <a:r>
              <a:rPr lang="en-US" sz="2699">
                <a:solidFill>
                  <a:srgbClr val="181216"/>
                </a:solidFill>
                <a:latin typeface="Poppins"/>
                <a:ea typeface="Poppins"/>
                <a:cs typeface="Poppins"/>
                <a:sym typeface="Poppins"/>
              </a:rPr>
              <a:t>Préparé par: MARYEM SIALA</a:t>
            </a:r>
          </a:p>
        </p:txBody>
      </p:sp>
      <p:sp>
        <p:nvSpPr>
          <p:cNvPr name="TextBox 8" id="8"/>
          <p:cNvSpPr txBox="true"/>
          <p:nvPr/>
        </p:nvSpPr>
        <p:spPr>
          <a:xfrm rot="0">
            <a:off x="11911445" y="6955122"/>
            <a:ext cx="4904294" cy="483870"/>
          </a:xfrm>
          <a:prstGeom prst="rect">
            <a:avLst/>
          </a:prstGeom>
        </p:spPr>
        <p:txBody>
          <a:bodyPr anchor="t" rtlCol="false" tIns="0" lIns="0" bIns="0" rIns="0">
            <a:spAutoFit/>
          </a:bodyPr>
          <a:lstStyle/>
          <a:p>
            <a:pPr algn="ctr" marL="0" indent="0" lvl="0">
              <a:lnSpc>
                <a:spcPts val="3779"/>
              </a:lnSpc>
              <a:spcBef>
                <a:spcPct val="0"/>
              </a:spcBef>
            </a:pPr>
            <a:r>
              <a:rPr lang="en-US" sz="2699">
                <a:solidFill>
                  <a:srgbClr val="181216"/>
                </a:solidFill>
                <a:latin typeface="Poppins"/>
                <a:ea typeface="Poppins"/>
                <a:cs typeface="Poppins"/>
                <a:sym typeface="Poppins"/>
              </a:rPr>
              <a:t>Supervisé par: Fadoua Drira</a:t>
            </a:r>
          </a:p>
        </p:txBody>
      </p:sp>
      <p:sp>
        <p:nvSpPr>
          <p:cNvPr name="TextBox 9" id="9"/>
          <p:cNvSpPr txBox="true"/>
          <p:nvPr/>
        </p:nvSpPr>
        <p:spPr>
          <a:xfrm rot="0">
            <a:off x="11911445" y="7999138"/>
            <a:ext cx="3157990" cy="483870"/>
          </a:xfrm>
          <a:prstGeom prst="rect">
            <a:avLst/>
          </a:prstGeom>
        </p:spPr>
        <p:txBody>
          <a:bodyPr anchor="t" rtlCol="false" tIns="0" lIns="0" bIns="0" rIns="0">
            <a:spAutoFit/>
          </a:bodyPr>
          <a:lstStyle/>
          <a:p>
            <a:pPr algn="r" marL="0" indent="0" lvl="0">
              <a:lnSpc>
                <a:spcPts val="3779"/>
              </a:lnSpc>
              <a:spcBef>
                <a:spcPct val="0"/>
              </a:spcBef>
            </a:pPr>
            <a:r>
              <a:rPr lang="en-US" sz="2699">
                <a:solidFill>
                  <a:srgbClr val="181216"/>
                </a:solidFill>
                <a:latin typeface="Poppins"/>
                <a:ea typeface="Poppins"/>
                <a:cs typeface="Poppins"/>
                <a:sym typeface="Poppins"/>
              </a:rPr>
              <a:t>Année 2025-2026</a:t>
            </a:r>
          </a:p>
        </p:txBody>
      </p:sp>
      <p:sp>
        <p:nvSpPr>
          <p:cNvPr name="TextBox 10" id="10"/>
          <p:cNvSpPr txBox="true"/>
          <p:nvPr/>
        </p:nvSpPr>
        <p:spPr>
          <a:xfrm rot="0">
            <a:off x="17259300" y="9505950"/>
            <a:ext cx="152400" cy="200025"/>
          </a:xfrm>
          <a:prstGeom prst="rect">
            <a:avLst/>
          </a:prstGeom>
        </p:spPr>
        <p:txBody>
          <a:bodyPr anchor="t" rtlCol="false" tIns="0" lIns="0" bIns="0" rIns="0" wrap="none">
            <a:spAutoFit/>
          </a:bodyPr>
          <a:lstStyle/>
          <a:p>
            <a:pPr algn="ctr">
              <a:lnSpc>
                <a:spcPts val="3499"/>
              </a:lnSpc>
              <a:spcBef>
                <a:spcPct val="0"/>
              </a:spcBef>
            </a:pPr>
            <a:r>
              <a:rPr lang="en-US" sz="2499">
                <a:solidFill>
                  <a:srgbClr val="FFFFFF"/>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78667" y="3260939"/>
            <a:ext cx="14448517" cy="1669626"/>
          </a:xfrm>
          <a:prstGeom prst="rect">
            <a:avLst/>
          </a:prstGeom>
        </p:spPr>
        <p:txBody>
          <a:bodyPr anchor="t" rtlCol="false" tIns="0" lIns="0" bIns="0" rIns="0">
            <a:spAutoFit/>
          </a:bodyPr>
          <a:lstStyle/>
          <a:p>
            <a:pPr algn="just" marL="0" indent="0" lvl="0">
              <a:lnSpc>
                <a:spcPts val="3366"/>
              </a:lnSpc>
            </a:pPr>
            <a:r>
              <a:rPr lang="en-US" sz="2404">
                <a:solidFill>
                  <a:srgbClr val="181216"/>
                </a:solidFill>
                <a:latin typeface="Poppins"/>
                <a:ea typeface="Poppins"/>
                <a:cs typeface="Poppins"/>
                <a:sym typeface="Poppins"/>
              </a:rPr>
              <a:t>• Marché e-commerce de cadeaux de plus en plus compétitif</a:t>
            </a:r>
          </a:p>
          <a:p>
            <a:pPr algn="just" marL="0" indent="0" lvl="0">
              <a:lnSpc>
                <a:spcPts val="3366"/>
              </a:lnSpc>
            </a:pPr>
            <a:r>
              <a:rPr lang="en-US" sz="2404">
                <a:solidFill>
                  <a:srgbClr val="181216"/>
                </a:solidFill>
                <a:latin typeface="Poppins"/>
                <a:ea typeface="Poppins"/>
                <a:cs typeface="Poppins"/>
                <a:sym typeface="Poppins"/>
              </a:rPr>
              <a:t>• Compréhension du comportement client : levier stratégique clé</a:t>
            </a:r>
          </a:p>
          <a:p>
            <a:pPr algn="just" marL="0" indent="0" lvl="0">
              <a:lnSpc>
                <a:spcPts val="3366"/>
              </a:lnSpc>
            </a:pPr>
            <a:r>
              <a:rPr lang="en-US" sz="2404">
                <a:solidFill>
                  <a:srgbClr val="181216"/>
                </a:solidFill>
                <a:latin typeface="Poppins"/>
                <a:ea typeface="Poppins"/>
                <a:cs typeface="Poppins"/>
                <a:sym typeface="Poppins"/>
              </a:rPr>
              <a:t>• Exploiter les données transactionnelles pour des insights actionnables</a:t>
            </a:r>
          </a:p>
          <a:p>
            <a:pPr algn="just" marL="0" indent="0" lvl="0">
              <a:lnSpc>
                <a:spcPts val="3366"/>
              </a:lnSpc>
            </a:pPr>
            <a:r>
              <a:rPr lang="en-US" sz="2404">
                <a:solidFill>
                  <a:srgbClr val="181216"/>
                </a:solidFill>
                <a:latin typeface="Poppins"/>
                <a:ea typeface="Poppins"/>
                <a:cs typeface="Poppins"/>
                <a:sym typeface="Poppins"/>
              </a:rPr>
              <a:t>• Accompagner la prise de décision et améliorer la performance commerciale</a:t>
            </a:r>
          </a:p>
        </p:txBody>
      </p:sp>
      <p:sp>
        <p:nvSpPr>
          <p:cNvPr name="TextBox 3" id="3"/>
          <p:cNvSpPr txBox="true"/>
          <p:nvPr/>
        </p:nvSpPr>
        <p:spPr>
          <a:xfrm rot="0">
            <a:off x="1028700" y="1038225"/>
            <a:ext cx="12212451" cy="859225"/>
          </a:xfrm>
          <a:prstGeom prst="rect">
            <a:avLst/>
          </a:prstGeom>
        </p:spPr>
        <p:txBody>
          <a:bodyPr anchor="t" rtlCol="false" tIns="0" lIns="0" bIns="0" rIns="0">
            <a:spAutoFit/>
          </a:bodyPr>
          <a:lstStyle/>
          <a:p>
            <a:pPr algn="l" marL="0" indent="0" lvl="0">
              <a:lnSpc>
                <a:spcPts val="6214"/>
              </a:lnSpc>
            </a:pPr>
            <a:r>
              <a:rPr lang="en-US" b="true" sz="5754">
                <a:solidFill>
                  <a:srgbClr val="1D4ABD"/>
                </a:solidFill>
                <a:latin typeface="Poppins Bold"/>
                <a:ea typeface="Poppins Bold"/>
                <a:cs typeface="Poppins Bold"/>
                <a:sym typeface="Poppins Bold"/>
              </a:rPr>
              <a:t>Contexte, Mission et Objectifs</a:t>
            </a:r>
          </a:p>
        </p:txBody>
      </p:sp>
      <p:sp>
        <p:nvSpPr>
          <p:cNvPr name="TextBox 4" id="4"/>
          <p:cNvSpPr txBox="true"/>
          <p:nvPr/>
        </p:nvSpPr>
        <p:spPr>
          <a:xfrm rot="0">
            <a:off x="1178667" y="2254628"/>
            <a:ext cx="7176721" cy="462632"/>
          </a:xfrm>
          <a:prstGeom prst="rect">
            <a:avLst/>
          </a:prstGeom>
        </p:spPr>
        <p:txBody>
          <a:bodyPr anchor="t" rtlCol="false" tIns="0" lIns="0" bIns="0" rIns="0">
            <a:spAutoFit/>
          </a:bodyPr>
          <a:lstStyle/>
          <a:p>
            <a:pPr algn="just" marL="0" indent="0" lvl="0">
              <a:lnSpc>
                <a:spcPts val="3582"/>
              </a:lnSpc>
            </a:pPr>
            <a:r>
              <a:rPr lang="en-US" b="true" sz="2558">
                <a:solidFill>
                  <a:srgbClr val="1D4ABD"/>
                </a:solidFill>
                <a:latin typeface="Poppins Bold"/>
                <a:ea typeface="Poppins Bold"/>
                <a:cs typeface="Poppins Bold"/>
                <a:sym typeface="Poppins Bold"/>
              </a:rPr>
              <a:t>Analyse Comportementale Clientèle Retail</a:t>
            </a:r>
          </a:p>
        </p:txBody>
      </p:sp>
      <p:grpSp>
        <p:nvGrpSpPr>
          <p:cNvPr name="Group 5" id="5"/>
          <p:cNvGrpSpPr/>
          <p:nvPr/>
        </p:nvGrpSpPr>
        <p:grpSpPr>
          <a:xfrm rot="0">
            <a:off x="253593" y="8992413"/>
            <a:ext cx="20334267" cy="8668838"/>
            <a:chOff x="0" y="0"/>
            <a:chExt cx="2210551" cy="942395"/>
          </a:xfrm>
        </p:grpSpPr>
        <p:sp>
          <p:nvSpPr>
            <p:cNvPr name="Freeform 6" id="6"/>
            <p:cNvSpPr/>
            <p:nvPr/>
          </p:nvSpPr>
          <p:spPr>
            <a:xfrm flipH="false" flipV="false" rot="0">
              <a:off x="4400" y="0"/>
              <a:ext cx="2201750" cy="942395"/>
            </a:xfrm>
            <a:custGeom>
              <a:avLst/>
              <a:gdLst/>
              <a:ahLst/>
              <a:cxnLst/>
              <a:rect r="r" b="b" t="t" l="l"/>
              <a:pathLst>
                <a:path h="942395" w="2201750">
                  <a:moveTo>
                    <a:pt x="221644" y="0"/>
                  </a:moveTo>
                  <a:lnTo>
                    <a:pt x="2183307" y="0"/>
                  </a:lnTo>
                  <a:cubicBezTo>
                    <a:pt x="2188881" y="0"/>
                    <a:pt x="2194156" y="2521"/>
                    <a:pt x="2197657" y="6858"/>
                  </a:cubicBezTo>
                  <a:cubicBezTo>
                    <a:pt x="2201159" y="11194"/>
                    <a:pt x="2202511" y="16882"/>
                    <a:pt x="2201336" y="22331"/>
                  </a:cubicBezTo>
                  <a:lnTo>
                    <a:pt x="2007766" y="920064"/>
                  </a:lnTo>
                  <a:cubicBezTo>
                    <a:pt x="2004957" y="933093"/>
                    <a:pt x="1993436" y="942395"/>
                    <a:pt x="1980107" y="942395"/>
                  </a:cubicBezTo>
                  <a:lnTo>
                    <a:pt x="18444" y="942395"/>
                  </a:lnTo>
                  <a:cubicBezTo>
                    <a:pt x="12870" y="942395"/>
                    <a:pt x="7595" y="939874"/>
                    <a:pt x="4094" y="935537"/>
                  </a:cubicBezTo>
                  <a:cubicBezTo>
                    <a:pt x="592" y="931201"/>
                    <a:pt x="-760" y="925513"/>
                    <a:pt x="415" y="920064"/>
                  </a:cubicBezTo>
                  <a:lnTo>
                    <a:pt x="193985" y="22331"/>
                  </a:lnTo>
                  <a:cubicBezTo>
                    <a:pt x="196794" y="9302"/>
                    <a:pt x="208316" y="0"/>
                    <a:pt x="221644" y="0"/>
                  </a:cubicBezTo>
                  <a:close/>
                </a:path>
              </a:pathLst>
            </a:custGeom>
            <a:gradFill rotWithShape="true">
              <a:gsLst>
                <a:gs pos="0">
                  <a:srgbClr val="0D1296">
                    <a:alpha val="100000"/>
                  </a:srgbClr>
                </a:gs>
                <a:gs pos="100000">
                  <a:srgbClr val="2B79FF">
                    <a:alpha val="100000"/>
                  </a:srgbClr>
                </a:gs>
              </a:gsLst>
              <a:lin ang="2700000"/>
            </a:gradFill>
          </p:spPr>
        </p:sp>
        <p:sp>
          <p:nvSpPr>
            <p:cNvPr name="TextBox 7" id="7"/>
            <p:cNvSpPr txBox="true"/>
            <p:nvPr/>
          </p:nvSpPr>
          <p:spPr>
            <a:xfrm>
              <a:off x="101600" y="-66675"/>
              <a:ext cx="2007351" cy="1009070"/>
            </a:xfrm>
            <a:prstGeom prst="rect">
              <a:avLst/>
            </a:prstGeom>
          </p:spPr>
          <p:txBody>
            <a:bodyPr anchor="ctr" rtlCol="false" tIns="50800" lIns="50800" bIns="50800" rIns="50800"/>
            <a:lstStyle/>
            <a:p>
              <a:pPr algn="ctr" marL="0" indent="0" lvl="0">
                <a:lnSpc>
                  <a:spcPts val="3151"/>
                </a:lnSpc>
              </a:pPr>
            </a:p>
          </p:txBody>
        </p:sp>
      </p:grpSp>
      <p:sp>
        <p:nvSpPr>
          <p:cNvPr name="TextBox 8" id="8"/>
          <p:cNvSpPr txBox="true"/>
          <p:nvPr/>
        </p:nvSpPr>
        <p:spPr>
          <a:xfrm rot="0">
            <a:off x="1178667" y="5540165"/>
            <a:ext cx="7310278" cy="443874"/>
          </a:xfrm>
          <a:prstGeom prst="rect">
            <a:avLst/>
          </a:prstGeom>
        </p:spPr>
        <p:txBody>
          <a:bodyPr anchor="t" rtlCol="false" tIns="0" lIns="0" bIns="0" rIns="0">
            <a:spAutoFit/>
          </a:bodyPr>
          <a:lstStyle/>
          <a:p>
            <a:pPr algn="l" marL="0" indent="0" lvl="0">
              <a:lnSpc>
                <a:spcPts val="3223"/>
              </a:lnSpc>
            </a:pPr>
            <a:r>
              <a:rPr lang="en-US" b="true" sz="2930">
                <a:solidFill>
                  <a:srgbClr val="1D4ABD"/>
                </a:solidFill>
                <a:latin typeface="Poppins Bold"/>
                <a:ea typeface="Poppins Bold"/>
                <a:cs typeface="Poppins Bold"/>
                <a:sym typeface="Poppins Bold"/>
              </a:rPr>
              <a:t>Quatre </a:t>
            </a:r>
            <a:r>
              <a:rPr lang="en-US" b="true" sz="2930">
                <a:solidFill>
                  <a:srgbClr val="1D4ABD"/>
                </a:solidFill>
                <a:latin typeface="Poppins Bold"/>
                <a:ea typeface="Poppins Bold"/>
                <a:cs typeface="Poppins Bold"/>
                <a:sym typeface="Poppins Bold"/>
              </a:rPr>
              <a:t>Enjeux Stratégiques Majeurs</a:t>
            </a:r>
          </a:p>
        </p:txBody>
      </p:sp>
      <p:grpSp>
        <p:nvGrpSpPr>
          <p:cNvPr name="Group 9" id="9"/>
          <p:cNvGrpSpPr/>
          <p:nvPr/>
        </p:nvGrpSpPr>
        <p:grpSpPr>
          <a:xfrm rot="0">
            <a:off x="1501644" y="6603164"/>
            <a:ext cx="472987" cy="472987"/>
            <a:chOff x="0" y="0"/>
            <a:chExt cx="82312" cy="82312"/>
          </a:xfrm>
        </p:grpSpPr>
        <p:sp>
          <p:nvSpPr>
            <p:cNvPr name="Freeform 10" id="10"/>
            <p:cNvSpPr/>
            <p:nvPr/>
          </p:nvSpPr>
          <p:spPr>
            <a:xfrm flipH="false" flipV="false" rot="0">
              <a:off x="0" y="0"/>
              <a:ext cx="82312" cy="82312"/>
            </a:xfrm>
            <a:custGeom>
              <a:avLst/>
              <a:gdLst/>
              <a:ahLst/>
              <a:cxnLst/>
              <a:rect r="r" b="b" t="t" l="l"/>
              <a:pathLst>
                <a:path h="82312" w="82312">
                  <a:moveTo>
                    <a:pt x="41156" y="0"/>
                  </a:moveTo>
                  <a:lnTo>
                    <a:pt x="41156" y="0"/>
                  </a:lnTo>
                  <a:cubicBezTo>
                    <a:pt x="52071" y="0"/>
                    <a:pt x="62539" y="4336"/>
                    <a:pt x="70258" y="12054"/>
                  </a:cubicBezTo>
                  <a:cubicBezTo>
                    <a:pt x="77976" y="19773"/>
                    <a:pt x="82312" y="30241"/>
                    <a:pt x="82312" y="41156"/>
                  </a:cubicBezTo>
                  <a:lnTo>
                    <a:pt x="82312" y="41156"/>
                  </a:lnTo>
                  <a:cubicBezTo>
                    <a:pt x="82312" y="52071"/>
                    <a:pt x="77976" y="62539"/>
                    <a:pt x="70258" y="70258"/>
                  </a:cubicBezTo>
                  <a:cubicBezTo>
                    <a:pt x="62539" y="77976"/>
                    <a:pt x="52071" y="82312"/>
                    <a:pt x="41156" y="82312"/>
                  </a:cubicBezTo>
                  <a:lnTo>
                    <a:pt x="41156" y="82312"/>
                  </a:lnTo>
                  <a:cubicBezTo>
                    <a:pt x="30241" y="82312"/>
                    <a:pt x="19773" y="77976"/>
                    <a:pt x="12054" y="70258"/>
                  </a:cubicBezTo>
                  <a:cubicBezTo>
                    <a:pt x="4336" y="62539"/>
                    <a:pt x="0" y="52071"/>
                    <a:pt x="0" y="41156"/>
                  </a:cubicBezTo>
                  <a:lnTo>
                    <a:pt x="0" y="41156"/>
                  </a:lnTo>
                  <a:cubicBezTo>
                    <a:pt x="0" y="30241"/>
                    <a:pt x="4336" y="19773"/>
                    <a:pt x="12054" y="12054"/>
                  </a:cubicBezTo>
                  <a:cubicBezTo>
                    <a:pt x="19773" y="4336"/>
                    <a:pt x="30241" y="0"/>
                    <a:pt x="41156" y="0"/>
                  </a:cubicBezTo>
                  <a:close/>
                </a:path>
              </a:pathLst>
            </a:custGeom>
            <a:gradFill rotWithShape="true">
              <a:gsLst>
                <a:gs pos="0">
                  <a:srgbClr val="0D1296">
                    <a:alpha val="100000"/>
                  </a:srgbClr>
                </a:gs>
                <a:gs pos="100000">
                  <a:srgbClr val="2B79FF">
                    <a:alpha val="100000"/>
                  </a:srgbClr>
                </a:gs>
              </a:gsLst>
              <a:lin ang="2700000"/>
            </a:gradFill>
          </p:spPr>
        </p:sp>
        <p:sp>
          <p:nvSpPr>
            <p:cNvPr name="TextBox 11" id="11"/>
            <p:cNvSpPr txBox="true"/>
            <p:nvPr/>
          </p:nvSpPr>
          <p:spPr>
            <a:xfrm>
              <a:off x="0" y="-85725"/>
              <a:ext cx="82312" cy="168037"/>
            </a:xfrm>
            <a:prstGeom prst="rect">
              <a:avLst/>
            </a:prstGeom>
          </p:spPr>
          <p:txBody>
            <a:bodyPr anchor="ctr" rtlCol="false" tIns="50800" lIns="50800" bIns="50800" rIns="50800"/>
            <a:lstStyle/>
            <a:p>
              <a:pPr algn="ctr" marL="0" indent="0" lvl="0">
                <a:lnSpc>
                  <a:spcPts val="4473"/>
                </a:lnSpc>
              </a:pPr>
            </a:p>
          </p:txBody>
        </p:sp>
      </p:grpSp>
      <p:grpSp>
        <p:nvGrpSpPr>
          <p:cNvPr name="Group 12" id="12"/>
          <p:cNvGrpSpPr/>
          <p:nvPr/>
        </p:nvGrpSpPr>
        <p:grpSpPr>
          <a:xfrm rot="0">
            <a:off x="1501644" y="7685751"/>
            <a:ext cx="472987" cy="472987"/>
            <a:chOff x="0" y="0"/>
            <a:chExt cx="82312" cy="82312"/>
          </a:xfrm>
        </p:grpSpPr>
        <p:sp>
          <p:nvSpPr>
            <p:cNvPr name="Freeform 13" id="13"/>
            <p:cNvSpPr/>
            <p:nvPr/>
          </p:nvSpPr>
          <p:spPr>
            <a:xfrm flipH="false" flipV="false" rot="0">
              <a:off x="0" y="0"/>
              <a:ext cx="82312" cy="82312"/>
            </a:xfrm>
            <a:custGeom>
              <a:avLst/>
              <a:gdLst/>
              <a:ahLst/>
              <a:cxnLst/>
              <a:rect r="r" b="b" t="t" l="l"/>
              <a:pathLst>
                <a:path h="82312" w="82312">
                  <a:moveTo>
                    <a:pt x="41156" y="0"/>
                  </a:moveTo>
                  <a:lnTo>
                    <a:pt x="41156" y="0"/>
                  </a:lnTo>
                  <a:cubicBezTo>
                    <a:pt x="52071" y="0"/>
                    <a:pt x="62539" y="4336"/>
                    <a:pt x="70258" y="12054"/>
                  </a:cubicBezTo>
                  <a:cubicBezTo>
                    <a:pt x="77976" y="19773"/>
                    <a:pt x="82312" y="30241"/>
                    <a:pt x="82312" y="41156"/>
                  </a:cubicBezTo>
                  <a:lnTo>
                    <a:pt x="82312" y="41156"/>
                  </a:lnTo>
                  <a:cubicBezTo>
                    <a:pt x="82312" y="52071"/>
                    <a:pt x="77976" y="62539"/>
                    <a:pt x="70258" y="70258"/>
                  </a:cubicBezTo>
                  <a:cubicBezTo>
                    <a:pt x="62539" y="77976"/>
                    <a:pt x="52071" y="82312"/>
                    <a:pt x="41156" y="82312"/>
                  </a:cubicBezTo>
                  <a:lnTo>
                    <a:pt x="41156" y="82312"/>
                  </a:lnTo>
                  <a:cubicBezTo>
                    <a:pt x="30241" y="82312"/>
                    <a:pt x="19773" y="77976"/>
                    <a:pt x="12054" y="70258"/>
                  </a:cubicBezTo>
                  <a:cubicBezTo>
                    <a:pt x="4336" y="62539"/>
                    <a:pt x="0" y="52071"/>
                    <a:pt x="0" y="41156"/>
                  </a:cubicBezTo>
                  <a:lnTo>
                    <a:pt x="0" y="41156"/>
                  </a:lnTo>
                  <a:cubicBezTo>
                    <a:pt x="0" y="30241"/>
                    <a:pt x="4336" y="19773"/>
                    <a:pt x="12054" y="12054"/>
                  </a:cubicBezTo>
                  <a:cubicBezTo>
                    <a:pt x="19773" y="4336"/>
                    <a:pt x="30241" y="0"/>
                    <a:pt x="41156" y="0"/>
                  </a:cubicBezTo>
                  <a:close/>
                </a:path>
              </a:pathLst>
            </a:custGeom>
            <a:gradFill rotWithShape="true">
              <a:gsLst>
                <a:gs pos="0">
                  <a:srgbClr val="0D1296">
                    <a:alpha val="100000"/>
                  </a:srgbClr>
                </a:gs>
                <a:gs pos="100000">
                  <a:srgbClr val="2B79FF">
                    <a:alpha val="100000"/>
                  </a:srgbClr>
                </a:gs>
              </a:gsLst>
              <a:lin ang="2700000"/>
            </a:gradFill>
          </p:spPr>
        </p:sp>
        <p:sp>
          <p:nvSpPr>
            <p:cNvPr name="TextBox 14" id="14"/>
            <p:cNvSpPr txBox="true"/>
            <p:nvPr/>
          </p:nvSpPr>
          <p:spPr>
            <a:xfrm>
              <a:off x="0" y="-85725"/>
              <a:ext cx="82312" cy="168037"/>
            </a:xfrm>
            <a:prstGeom prst="rect">
              <a:avLst/>
            </a:prstGeom>
          </p:spPr>
          <p:txBody>
            <a:bodyPr anchor="ctr" rtlCol="false" tIns="50800" lIns="50800" bIns="50800" rIns="50800"/>
            <a:lstStyle/>
            <a:p>
              <a:pPr algn="ctr" marL="0" indent="0" lvl="0">
                <a:lnSpc>
                  <a:spcPts val="4473"/>
                </a:lnSpc>
              </a:pPr>
            </a:p>
          </p:txBody>
        </p:sp>
      </p:grpSp>
      <p:sp>
        <p:nvSpPr>
          <p:cNvPr name="TextBox 15" id="15"/>
          <p:cNvSpPr txBox="true"/>
          <p:nvPr/>
        </p:nvSpPr>
        <p:spPr>
          <a:xfrm rot="0">
            <a:off x="1599948" y="6583888"/>
            <a:ext cx="276378" cy="524917"/>
          </a:xfrm>
          <a:prstGeom prst="rect">
            <a:avLst/>
          </a:prstGeom>
        </p:spPr>
        <p:txBody>
          <a:bodyPr anchor="t" rtlCol="false" tIns="0" lIns="0" bIns="0" rIns="0">
            <a:spAutoFit/>
          </a:bodyPr>
          <a:lstStyle/>
          <a:p>
            <a:pPr algn="ctr" marL="0" indent="0" lvl="0">
              <a:lnSpc>
                <a:spcPts val="4142"/>
              </a:lnSpc>
            </a:pPr>
            <a:r>
              <a:rPr lang="en-US" sz="2958">
                <a:solidFill>
                  <a:srgbClr val="FFFFFF"/>
                </a:solidFill>
                <a:latin typeface="Poppins"/>
                <a:ea typeface="Poppins"/>
                <a:cs typeface="Poppins"/>
                <a:sym typeface="Poppins"/>
              </a:rPr>
              <a:t>1</a:t>
            </a:r>
          </a:p>
        </p:txBody>
      </p:sp>
      <p:sp>
        <p:nvSpPr>
          <p:cNvPr name="TextBox 16" id="16"/>
          <p:cNvSpPr txBox="true"/>
          <p:nvPr/>
        </p:nvSpPr>
        <p:spPr>
          <a:xfrm rot="0">
            <a:off x="1599948" y="7656949"/>
            <a:ext cx="276378" cy="501422"/>
          </a:xfrm>
          <a:prstGeom prst="rect">
            <a:avLst/>
          </a:prstGeom>
        </p:spPr>
        <p:txBody>
          <a:bodyPr anchor="t" rtlCol="false" tIns="0" lIns="0" bIns="0" rIns="0">
            <a:spAutoFit/>
          </a:bodyPr>
          <a:lstStyle/>
          <a:p>
            <a:pPr algn="ctr" marL="0" indent="0" lvl="0">
              <a:lnSpc>
                <a:spcPts val="3862"/>
              </a:lnSpc>
            </a:pPr>
            <a:r>
              <a:rPr lang="en-US" sz="2758">
                <a:solidFill>
                  <a:srgbClr val="FFFFFF"/>
                </a:solidFill>
                <a:latin typeface="Poppins"/>
                <a:ea typeface="Poppins"/>
                <a:cs typeface="Poppins"/>
                <a:sym typeface="Poppins"/>
              </a:rPr>
              <a:t>2</a:t>
            </a:r>
          </a:p>
        </p:txBody>
      </p:sp>
      <p:sp>
        <p:nvSpPr>
          <p:cNvPr name="TextBox 17" id="17"/>
          <p:cNvSpPr txBox="true"/>
          <p:nvPr/>
        </p:nvSpPr>
        <p:spPr>
          <a:xfrm rot="0">
            <a:off x="2164536" y="6654842"/>
            <a:ext cx="3882216" cy="392491"/>
          </a:xfrm>
          <a:prstGeom prst="rect">
            <a:avLst/>
          </a:prstGeom>
        </p:spPr>
        <p:txBody>
          <a:bodyPr anchor="t" rtlCol="false" tIns="0" lIns="0" bIns="0" rIns="0">
            <a:spAutoFit/>
          </a:bodyPr>
          <a:lstStyle/>
          <a:p>
            <a:pPr algn="just" marL="0" indent="0" lvl="0">
              <a:lnSpc>
                <a:spcPts val="3041"/>
              </a:lnSpc>
            </a:pPr>
            <a:r>
              <a:rPr lang="en-US" sz="2172">
                <a:solidFill>
                  <a:srgbClr val="181216"/>
                </a:solidFill>
                <a:latin typeface="Poppins"/>
                <a:ea typeface="Poppins"/>
                <a:cs typeface="Poppins"/>
                <a:sym typeface="Poppins"/>
              </a:rPr>
              <a:t>Personnalisation de l'Offre</a:t>
            </a:r>
          </a:p>
        </p:txBody>
      </p:sp>
      <p:sp>
        <p:nvSpPr>
          <p:cNvPr name="TextBox 18" id="18"/>
          <p:cNvSpPr txBox="true"/>
          <p:nvPr/>
        </p:nvSpPr>
        <p:spPr>
          <a:xfrm rot="0">
            <a:off x="2193111" y="7711454"/>
            <a:ext cx="2937869" cy="392491"/>
          </a:xfrm>
          <a:prstGeom prst="rect">
            <a:avLst/>
          </a:prstGeom>
        </p:spPr>
        <p:txBody>
          <a:bodyPr anchor="t" rtlCol="false" tIns="0" lIns="0" bIns="0" rIns="0">
            <a:spAutoFit/>
          </a:bodyPr>
          <a:lstStyle/>
          <a:p>
            <a:pPr algn="just" marL="0" indent="0" lvl="0">
              <a:lnSpc>
                <a:spcPts val="3041"/>
              </a:lnSpc>
            </a:pPr>
            <a:r>
              <a:rPr lang="en-US" sz="2172">
                <a:solidFill>
                  <a:srgbClr val="181216"/>
                </a:solidFill>
                <a:latin typeface="Poppins"/>
                <a:ea typeface="Poppins"/>
                <a:cs typeface="Poppins"/>
                <a:sym typeface="Poppins"/>
              </a:rPr>
              <a:t>Fidélisation Client</a:t>
            </a:r>
          </a:p>
        </p:txBody>
      </p:sp>
      <p:sp>
        <p:nvSpPr>
          <p:cNvPr name="TextBox 19" id="19"/>
          <p:cNvSpPr txBox="true"/>
          <p:nvPr/>
        </p:nvSpPr>
        <p:spPr>
          <a:xfrm rot="0">
            <a:off x="10221601" y="6520210"/>
            <a:ext cx="4068994" cy="400917"/>
          </a:xfrm>
          <a:prstGeom prst="rect">
            <a:avLst/>
          </a:prstGeom>
        </p:spPr>
        <p:txBody>
          <a:bodyPr anchor="t" rtlCol="false" tIns="0" lIns="0" bIns="0" rIns="0">
            <a:spAutoFit/>
          </a:bodyPr>
          <a:lstStyle/>
          <a:p>
            <a:pPr algn="just" marL="0" indent="0" lvl="0">
              <a:lnSpc>
                <a:spcPts val="3102"/>
              </a:lnSpc>
            </a:pPr>
            <a:r>
              <a:rPr lang="en-US" sz="2215">
                <a:solidFill>
                  <a:srgbClr val="181216"/>
                </a:solidFill>
                <a:latin typeface="Poppins"/>
                <a:ea typeface="Poppins"/>
                <a:cs typeface="Poppins"/>
                <a:sym typeface="Poppins"/>
              </a:rPr>
              <a:t>Optimisation des Revenus</a:t>
            </a:r>
          </a:p>
        </p:txBody>
      </p:sp>
      <p:sp>
        <p:nvSpPr>
          <p:cNvPr name="TextBox 20" id="20"/>
          <p:cNvSpPr txBox="true"/>
          <p:nvPr/>
        </p:nvSpPr>
        <p:spPr>
          <a:xfrm rot="0">
            <a:off x="10271965" y="7725021"/>
            <a:ext cx="3808076" cy="374882"/>
          </a:xfrm>
          <a:prstGeom prst="rect">
            <a:avLst/>
          </a:prstGeom>
        </p:spPr>
        <p:txBody>
          <a:bodyPr anchor="t" rtlCol="false" tIns="0" lIns="0" bIns="0" rIns="0">
            <a:spAutoFit/>
          </a:bodyPr>
          <a:lstStyle/>
          <a:p>
            <a:pPr algn="just" marL="0" indent="0" lvl="0">
              <a:lnSpc>
                <a:spcPts val="2962"/>
              </a:lnSpc>
            </a:pPr>
            <a:r>
              <a:rPr lang="en-US" sz="2115">
                <a:solidFill>
                  <a:srgbClr val="181216"/>
                </a:solidFill>
                <a:latin typeface="Poppins"/>
                <a:ea typeface="Poppins"/>
                <a:cs typeface="Poppins"/>
                <a:sym typeface="Poppins"/>
              </a:rPr>
              <a:t>Stratégie de Ciblage</a:t>
            </a:r>
          </a:p>
        </p:txBody>
      </p:sp>
      <p:grpSp>
        <p:nvGrpSpPr>
          <p:cNvPr name="Group 21" id="21"/>
          <p:cNvGrpSpPr/>
          <p:nvPr/>
        </p:nvGrpSpPr>
        <p:grpSpPr>
          <a:xfrm rot="0">
            <a:off x="9596463" y="6629006"/>
            <a:ext cx="418327" cy="418327"/>
            <a:chOff x="0" y="0"/>
            <a:chExt cx="82312" cy="82312"/>
          </a:xfrm>
        </p:grpSpPr>
        <p:sp>
          <p:nvSpPr>
            <p:cNvPr name="Freeform 22" id="22"/>
            <p:cNvSpPr/>
            <p:nvPr/>
          </p:nvSpPr>
          <p:spPr>
            <a:xfrm flipH="false" flipV="false" rot="0">
              <a:off x="0" y="0"/>
              <a:ext cx="82312" cy="82312"/>
            </a:xfrm>
            <a:custGeom>
              <a:avLst/>
              <a:gdLst/>
              <a:ahLst/>
              <a:cxnLst/>
              <a:rect r="r" b="b" t="t" l="l"/>
              <a:pathLst>
                <a:path h="82312" w="82312">
                  <a:moveTo>
                    <a:pt x="41156" y="0"/>
                  </a:moveTo>
                  <a:lnTo>
                    <a:pt x="41156" y="0"/>
                  </a:lnTo>
                  <a:cubicBezTo>
                    <a:pt x="52071" y="0"/>
                    <a:pt x="62539" y="4336"/>
                    <a:pt x="70258" y="12054"/>
                  </a:cubicBezTo>
                  <a:cubicBezTo>
                    <a:pt x="77976" y="19773"/>
                    <a:pt x="82312" y="30241"/>
                    <a:pt x="82312" y="41156"/>
                  </a:cubicBezTo>
                  <a:lnTo>
                    <a:pt x="82312" y="41156"/>
                  </a:lnTo>
                  <a:cubicBezTo>
                    <a:pt x="82312" y="52071"/>
                    <a:pt x="77976" y="62539"/>
                    <a:pt x="70258" y="70258"/>
                  </a:cubicBezTo>
                  <a:cubicBezTo>
                    <a:pt x="62539" y="77976"/>
                    <a:pt x="52071" y="82312"/>
                    <a:pt x="41156" y="82312"/>
                  </a:cubicBezTo>
                  <a:lnTo>
                    <a:pt x="41156" y="82312"/>
                  </a:lnTo>
                  <a:cubicBezTo>
                    <a:pt x="30241" y="82312"/>
                    <a:pt x="19773" y="77976"/>
                    <a:pt x="12054" y="70258"/>
                  </a:cubicBezTo>
                  <a:cubicBezTo>
                    <a:pt x="4336" y="62539"/>
                    <a:pt x="0" y="52071"/>
                    <a:pt x="0" y="41156"/>
                  </a:cubicBezTo>
                  <a:lnTo>
                    <a:pt x="0" y="41156"/>
                  </a:lnTo>
                  <a:cubicBezTo>
                    <a:pt x="0" y="30241"/>
                    <a:pt x="4336" y="19773"/>
                    <a:pt x="12054" y="12054"/>
                  </a:cubicBezTo>
                  <a:cubicBezTo>
                    <a:pt x="19773" y="4336"/>
                    <a:pt x="30241" y="0"/>
                    <a:pt x="41156" y="0"/>
                  </a:cubicBezTo>
                  <a:close/>
                </a:path>
              </a:pathLst>
            </a:custGeom>
            <a:gradFill rotWithShape="true">
              <a:gsLst>
                <a:gs pos="0">
                  <a:srgbClr val="0D1296">
                    <a:alpha val="100000"/>
                  </a:srgbClr>
                </a:gs>
                <a:gs pos="100000">
                  <a:srgbClr val="2B79FF">
                    <a:alpha val="100000"/>
                  </a:srgbClr>
                </a:gs>
              </a:gsLst>
              <a:lin ang="2700000"/>
            </a:gradFill>
          </p:spPr>
        </p:sp>
        <p:sp>
          <p:nvSpPr>
            <p:cNvPr name="TextBox 23" id="23"/>
            <p:cNvSpPr txBox="true"/>
            <p:nvPr/>
          </p:nvSpPr>
          <p:spPr>
            <a:xfrm>
              <a:off x="0" y="-95250"/>
              <a:ext cx="82312" cy="177562"/>
            </a:xfrm>
            <a:prstGeom prst="rect">
              <a:avLst/>
            </a:prstGeom>
          </p:spPr>
          <p:txBody>
            <a:bodyPr anchor="ctr" rtlCol="false" tIns="50800" lIns="50800" bIns="50800" rIns="50800"/>
            <a:lstStyle/>
            <a:p>
              <a:pPr algn="ctr" marL="0" indent="0" lvl="0">
                <a:lnSpc>
                  <a:spcPts val="4613"/>
                </a:lnSpc>
              </a:pPr>
            </a:p>
          </p:txBody>
        </p:sp>
      </p:grpSp>
      <p:grpSp>
        <p:nvGrpSpPr>
          <p:cNvPr name="Group 24" id="24"/>
          <p:cNvGrpSpPr/>
          <p:nvPr/>
        </p:nvGrpSpPr>
        <p:grpSpPr>
          <a:xfrm rot="0">
            <a:off x="9596463" y="7703555"/>
            <a:ext cx="418327" cy="418327"/>
            <a:chOff x="0" y="0"/>
            <a:chExt cx="82312" cy="82312"/>
          </a:xfrm>
        </p:grpSpPr>
        <p:sp>
          <p:nvSpPr>
            <p:cNvPr name="Freeform 25" id="25"/>
            <p:cNvSpPr/>
            <p:nvPr/>
          </p:nvSpPr>
          <p:spPr>
            <a:xfrm flipH="false" flipV="false" rot="0">
              <a:off x="0" y="0"/>
              <a:ext cx="82312" cy="82312"/>
            </a:xfrm>
            <a:custGeom>
              <a:avLst/>
              <a:gdLst/>
              <a:ahLst/>
              <a:cxnLst/>
              <a:rect r="r" b="b" t="t" l="l"/>
              <a:pathLst>
                <a:path h="82312" w="82312">
                  <a:moveTo>
                    <a:pt x="41156" y="0"/>
                  </a:moveTo>
                  <a:lnTo>
                    <a:pt x="41156" y="0"/>
                  </a:lnTo>
                  <a:cubicBezTo>
                    <a:pt x="52071" y="0"/>
                    <a:pt x="62539" y="4336"/>
                    <a:pt x="70258" y="12054"/>
                  </a:cubicBezTo>
                  <a:cubicBezTo>
                    <a:pt x="77976" y="19773"/>
                    <a:pt x="82312" y="30241"/>
                    <a:pt x="82312" y="41156"/>
                  </a:cubicBezTo>
                  <a:lnTo>
                    <a:pt x="82312" y="41156"/>
                  </a:lnTo>
                  <a:cubicBezTo>
                    <a:pt x="82312" y="52071"/>
                    <a:pt x="77976" y="62539"/>
                    <a:pt x="70258" y="70258"/>
                  </a:cubicBezTo>
                  <a:cubicBezTo>
                    <a:pt x="62539" y="77976"/>
                    <a:pt x="52071" y="82312"/>
                    <a:pt x="41156" y="82312"/>
                  </a:cubicBezTo>
                  <a:lnTo>
                    <a:pt x="41156" y="82312"/>
                  </a:lnTo>
                  <a:cubicBezTo>
                    <a:pt x="30241" y="82312"/>
                    <a:pt x="19773" y="77976"/>
                    <a:pt x="12054" y="70258"/>
                  </a:cubicBezTo>
                  <a:cubicBezTo>
                    <a:pt x="4336" y="62539"/>
                    <a:pt x="0" y="52071"/>
                    <a:pt x="0" y="41156"/>
                  </a:cubicBezTo>
                  <a:lnTo>
                    <a:pt x="0" y="41156"/>
                  </a:lnTo>
                  <a:cubicBezTo>
                    <a:pt x="0" y="30241"/>
                    <a:pt x="4336" y="19773"/>
                    <a:pt x="12054" y="12054"/>
                  </a:cubicBezTo>
                  <a:cubicBezTo>
                    <a:pt x="19773" y="4336"/>
                    <a:pt x="30241" y="0"/>
                    <a:pt x="41156" y="0"/>
                  </a:cubicBezTo>
                  <a:close/>
                </a:path>
              </a:pathLst>
            </a:custGeom>
            <a:gradFill rotWithShape="true">
              <a:gsLst>
                <a:gs pos="0">
                  <a:srgbClr val="0D1296">
                    <a:alpha val="100000"/>
                  </a:srgbClr>
                </a:gs>
                <a:gs pos="100000">
                  <a:srgbClr val="2B79FF">
                    <a:alpha val="100000"/>
                  </a:srgbClr>
                </a:gs>
              </a:gsLst>
              <a:lin ang="2700000"/>
            </a:gradFill>
          </p:spPr>
        </p:sp>
        <p:sp>
          <p:nvSpPr>
            <p:cNvPr name="TextBox 26" id="26"/>
            <p:cNvSpPr txBox="true"/>
            <p:nvPr/>
          </p:nvSpPr>
          <p:spPr>
            <a:xfrm>
              <a:off x="0" y="-85725"/>
              <a:ext cx="82312" cy="168037"/>
            </a:xfrm>
            <a:prstGeom prst="rect">
              <a:avLst/>
            </a:prstGeom>
          </p:spPr>
          <p:txBody>
            <a:bodyPr anchor="ctr" rtlCol="false" tIns="50800" lIns="50800" bIns="50800" rIns="50800"/>
            <a:lstStyle/>
            <a:p>
              <a:pPr algn="ctr" marL="0" indent="0" lvl="0">
                <a:lnSpc>
                  <a:spcPts val="4473"/>
                </a:lnSpc>
              </a:pPr>
            </a:p>
          </p:txBody>
        </p:sp>
      </p:grpSp>
      <p:sp>
        <p:nvSpPr>
          <p:cNvPr name="TextBox 27" id="27"/>
          <p:cNvSpPr txBox="true"/>
          <p:nvPr/>
        </p:nvSpPr>
        <p:spPr>
          <a:xfrm rot="0">
            <a:off x="9683407" y="6593626"/>
            <a:ext cx="244439" cy="501837"/>
          </a:xfrm>
          <a:prstGeom prst="rect">
            <a:avLst/>
          </a:prstGeom>
        </p:spPr>
        <p:txBody>
          <a:bodyPr anchor="t" rtlCol="false" tIns="0" lIns="0" bIns="0" rIns="0">
            <a:spAutoFit/>
          </a:bodyPr>
          <a:lstStyle/>
          <a:p>
            <a:pPr algn="ctr" marL="0" indent="0" lvl="0">
              <a:lnSpc>
                <a:spcPts val="3839"/>
              </a:lnSpc>
            </a:pPr>
            <a:r>
              <a:rPr lang="en-US" sz="2742">
                <a:solidFill>
                  <a:srgbClr val="FFFFFF"/>
                </a:solidFill>
                <a:latin typeface="Poppins"/>
                <a:ea typeface="Poppins"/>
                <a:cs typeface="Poppins"/>
                <a:sym typeface="Poppins"/>
              </a:rPr>
              <a:t>3</a:t>
            </a:r>
          </a:p>
        </p:txBody>
      </p:sp>
      <p:sp>
        <p:nvSpPr>
          <p:cNvPr name="TextBox 28" id="28"/>
          <p:cNvSpPr txBox="true"/>
          <p:nvPr/>
        </p:nvSpPr>
        <p:spPr>
          <a:xfrm rot="0">
            <a:off x="9683407" y="7628463"/>
            <a:ext cx="244439" cy="501837"/>
          </a:xfrm>
          <a:prstGeom prst="rect">
            <a:avLst/>
          </a:prstGeom>
        </p:spPr>
        <p:txBody>
          <a:bodyPr anchor="t" rtlCol="false" tIns="0" lIns="0" bIns="0" rIns="0">
            <a:spAutoFit/>
          </a:bodyPr>
          <a:lstStyle/>
          <a:p>
            <a:pPr algn="ctr" marL="0" indent="0" lvl="0">
              <a:lnSpc>
                <a:spcPts val="3839"/>
              </a:lnSpc>
            </a:pPr>
            <a:r>
              <a:rPr lang="en-US" sz="2742">
                <a:solidFill>
                  <a:srgbClr val="FFFFFF"/>
                </a:solidFill>
                <a:latin typeface="Poppins"/>
                <a:ea typeface="Poppins"/>
                <a:cs typeface="Poppins"/>
                <a:sym typeface="Poppins"/>
              </a:rPr>
              <a:t>4</a:t>
            </a:r>
          </a:p>
        </p:txBody>
      </p:sp>
      <p:sp>
        <p:nvSpPr>
          <p:cNvPr name="TextBox 29" id="29"/>
          <p:cNvSpPr txBox="true"/>
          <p:nvPr/>
        </p:nvSpPr>
        <p:spPr>
          <a:xfrm rot="0">
            <a:off x="17259300" y="9429750"/>
            <a:ext cx="152400" cy="200025"/>
          </a:xfrm>
          <a:prstGeom prst="rect">
            <a:avLst/>
          </a:prstGeom>
        </p:spPr>
        <p:txBody>
          <a:bodyPr anchor="t" rtlCol="false" tIns="0" lIns="0" bIns="0" rIns="0" wrap="none">
            <a:spAutoFit/>
          </a:bodyPr>
          <a:lstStyle/>
          <a:p>
            <a:pPr algn="ctr">
              <a:lnSpc>
                <a:spcPts val="3219"/>
              </a:lnSpc>
              <a:spcBef>
                <a:spcPct val="0"/>
              </a:spcBef>
            </a:pPr>
            <a:r>
              <a:rPr lang="en-US" sz="2299">
                <a:solidFill>
                  <a:srgbClr val="FFFFFF"/>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22244" y="9071097"/>
            <a:ext cx="20995038" cy="4776798"/>
            <a:chOff x="0" y="0"/>
            <a:chExt cx="2624305" cy="597083"/>
          </a:xfrm>
        </p:grpSpPr>
        <p:sp>
          <p:nvSpPr>
            <p:cNvPr name="Freeform 3" id="3"/>
            <p:cNvSpPr/>
            <p:nvPr/>
          </p:nvSpPr>
          <p:spPr>
            <a:xfrm flipH="false" flipV="false" rot="0">
              <a:off x="6283" y="0"/>
              <a:ext cx="2611739" cy="597083"/>
            </a:xfrm>
            <a:custGeom>
              <a:avLst/>
              <a:gdLst/>
              <a:ahLst/>
              <a:cxnLst/>
              <a:rect r="r" b="b" t="t" l="l"/>
              <a:pathLst>
                <a:path h="597083" w="2611739">
                  <a:moveTo>
                    <a:pt x="219042" y="0"/>
                  </a:moveTo>
                  <a:lnTo>
                    <a:pt x="2595897" y="0"/>
                  </a:lnTo>
                  <a:cubicBezTo>
                    <a:pt x="2601007" y="0"/>
                    <a:pt x="2605803" y="2465"/>
                    <a:pt x="2608778" y="6619"/>
                  </a:cubicBezTo>
                  <a:cubicBezTo>
                    <a:pt x="2611752" y="10774"/>
                    <a:pt x="2612540" y="16108"/>
                    <a:pt x="2610894" y="20945"/>
                  </a:cubicBezTo>
                  <a:lnTo>
                    <a:pt x="2421950" y="576138"/>
                  </a:lnTo>
                  <a:cubicBezTo>
                    <a:pt x="2417688" y="588661"/>
                    <a:pt x="2405927" y="597083"/>
                    <a:pt x="2392697" y="597083"/>
                  </a:cubicBezTo>
                  <a:lnTo>
                    <a:pt x="15842" y="597083"/>
                  </a:lnTo>
                  <a:cubicBezTo>
                    <a:pt x="10732" y="597083"/>
                    <a:pt x="5936" y="594618"/>
                    <a:pt x="2962" y="590464"/>
                  </a:cubicBezTo>
                  <a:cubicBezTo>
                    <a:pt x="-13" y="586309"/>
                    <a:pt x="-801" y="580975"/>
                    <a:pt x="845" y="576138"/>
                  </a:cubicBezTo>
                  <a:lnTo>
                    <a:pt x="189789" y="20945"/>
                  </a:lnTo>
                  <a:cubicBezTo>
                    <a:pt x="194051" y="8421"/>
                    <a:pt x="205813" y="0"/>
                    <a:pt x="219042" y="0"/>
                  </a:cubicBezTo>
                  <a:close/>
                </a:path>
              </a:pathLst>
            </a:custGeom>
            <a:gradFill rotWithShape="true">
              <a:gsLst>
                <a:gs pos="0">
                  <a:srgbClr val="2B79FF">
                    <a:alpha val="100000"/>
                  </a:srgbClr>
                </a:gs>
                <a:gs pos="100000">
                  <a:srgbClr val="0D1296">
                    <a:alpha val="100000"/>
                  </a:srgbClr>
                </a:gs>
              </a:gsLst>
              <a:lin ang="0"/>
            </a:gradFill>
          </p:spPr>
        </p:sp>
        <p:sp>
          <p:nvSpPr>
            <p:cNvPr name="TextBox 4" id="4"/>
            <p:cNvSpPr txBox="true"/>
            <p:nvPr/>
          </p:nvSpPr>
          <p:spPr>
            <a:xfrm>
              <a:off x="101600" y="-38100"/>
              <a:ext cx="2421105" cy="63518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15034325" y="974591"/>
            <a:ext cx="2224975" cy="350090"/>
          </a:xfrm>
          <a:prstGeom prst="rect">
            <a:avLst/>
          </a:prstGeom>
        </p:spPr>
        <p:txBody>
          <a:bodyPr anchor="t" rtlCol="false" tIns="0" lIns="0" bIns="0" rIns="0">
            <a:spAutoFit/>
          </a:bodyPr>
          <a:lstStyle/>
          <a:p>
            <a:pPr algn="r" marL="0" indent="0" lvl="0">
              <a:lnSpc>
                <a:spcPts val="2753"/>
              </a:lnSpc>
              <a:spcBef>
                <a:spcPct val="0"/>
              </a:spcBef>
            </a:pPr>
            <a:r>
              <a:rPr lang="en-US" sz="1966">
                <a:solidFill>
                  <a:srgbClr val="FFFFFF"/>
                </a:solidFill>
                <a:latin typeface="Poppins"/>
                <a:ea typeface="Poppins"/>
                <a:cs typeface="Poppins"/>
                <a:sym typeface="Poppins"/>
              </a:rPr>
              <a:t>Modèles</a:t>
            </a:r>
          </a:p>
        </p:txBody>
      </p:sp>
      <p:sp>
        <p:nvSpPr>
          <p:cNvPr name="TextBox 6" id="6"/>
          <p:cNvSpPr txBox="true"/>
          <p:nvPr/>
        </p:nvSpPr>
        <p:spPr>
          <a:xfrm rot="0">
            <a:off x="1028700" y="974767"/>
            <a:ext cx="7724541" cy="718878"/>
          </a:xfrm>
          <a:prstGeom prst="rect">
            <a:avLst/>
          </a:prstGeom>
        </p:spPr>
        <p:txBody>
          <a:bodyPr anchor="t" rtlCol="false" tIns="0" lIns="0" bIns="0" rIns="0">
            <a:spAutoFit/>
          </a:bodyPr>
          <a:lstStyle/>
          <a:p>
            <a:pPr algn="l" marL="0" indent="0" lvl="0">
              <a:lnSpc>
                <a:spcPts val="5230"/>
              </a:lnSpc>
            </a:pPr>
            <a:r>
              <a:rPr lang="en-US" b="true" sz="4888">
                <a:solidFill>
                  <a:srgbClr val="1D4ABD"/>
                </a:solidFill>
                <a:latin typeface="Poppins Bold"/>
                <a:ea typeface="Poppins Bold"/>
                <a:cs typeface="Poppins Bold"/>
                <a:sym typeface="Poppins Bold"/>
              </a:rPr>
              <a:t>Obje</a:t>
            </a:r>
            <a:r>
              <a:rPr lang="en-US" b="true" sz="4888">
                <a:solidFill>
                  <a:srgbClr val="1D4ABD"/>
                </a:solidFill>
                <a:latin typeface="Poppins Bold"/>
                <a:ea typeface="Poppins Bold"/>
                <a:cs typeface="Poppins Bold"/>
                <a:sym typeface="Poppins Bold"/>
              </a:rPr>
              <a:t>ctifs</a:t>
            </a:r>
          </a:p>
        </p:txBody>
      </p:sp>
      <p:grpSp>
        <p:nvGrpSpPr>
          <p:cNvPr name="Group 7" id="7"/>
          <p:cNvGrpSpPr/>
          <p:nvPr/>
        </p:nvGrpSpPr>
        <p:grpSpPr>
          <a:xfrm rot="0">
            <a:off x="1028700" y="2555472"/>
            <a:ext cx="420848" cy="509794"/>
            <a:chOff x="0" y="0"/>
            <a:chExt cx="67950" cy="82312"/>
          </a:xfrm>
        </p:grpSpPr>
        <p:sp>
          <p:nvSpPr>
            <p:cNvPr name="Freeform 8" id="8"/>
            <p:cNvSpPr/>
            <p:nvPr/>
          </p:nvSpPr>
          <p:spPr>
            <a:xfrm flipH="false" flipV="false" rot="0">
              <a:off x="0" y="0"/>
              <a:ext cx="67950" cy="82312"/>
            </a:xfrm>
            <a:custGeom>
              <a:avLst/>
              <a:gdLst/>
              <a:ahLst/>
              <a:cxnLst/>
              <a:rect r="r" b="b" t="t" l="l"/>
              <a:pathLst>
                <a:path h="82312" w="67950">
                  <a:moveTo>
                    <a:pt x="33975" y="0"/>
                  </a:moveTo>
                  <a:lnTo>
                    <a:pt x="33975" y="0"/>
                  </a:lnTo>
                  <a:cubicBezTo>
                    <a:pt x="42986" y="0"/>
                    <a:pt x="51628" y="3580"/>
                    <a:pt x="57999" y="9951"/>
                  </a:cubicBezTo>
                  <a:cubicBezTo>
                    <a:pt x="64371" y="16323"/>
                    <a:pt x="67950" y="24964"/>
                    <a:pt x="67950" y="33975"/>
                  </a:cubicBezTo>
                  <a:lnTo>
                    <a:pt x="67950" y="48337"/>
                  </a:lnTo>
                  <a:cubicBezTo>
                    <a:pt x="67950" y="57347"/>
                    <a:pt x="64371" y="65989"/>
                    <a:pt x="57999" y="72361"/>
                  </a:cubicBezTo>
                  <a:cubicBezTo>
                    <a:pt x="51628" y="78732"/>
                    <a:pt x="42986" y="82312"/>
                    <a:pt x="33975" y="82312"/>
                  </a:cubicBezTo>
                  <a:lnTo>
                    <a:pt x="33975" y="82312"/>
                  </a:lnTo>
                  <a:cubicBezTo>
                    <a:pt x="24964" y="82312"/>
                    <a:pt x="16323" y="78732"/>
                    <a:pt x="9951" y="72361"/>
                  </a:cubicBezTo>
                  <a:cubicBezTo>
                    <a:pt x="3580" y="65989"/>
                    <a:pt x="0" y="57347"/>
                    <a:pt x="0" y="48337"/>
                  </a:cubicBezTo>
                  <a:lnTo>
                    <a:pt x="0" y="33975"/>
                  </a:lnTo>
                  <a:cubicBezTo>
                    <a:pt x="0" y="24964"/>
                    <a:pt x="3580" y="16323"/>
                    <a:pt x="9951" y="9951"/>
                  </a:cubicBezTo>
                  <a:cubicBezTo>
                    <a:pt x="16323" y="3580"/>
                    <a:pt x="24964" y="0"/>
                    <a:pt x="33975" y="0"/>
                  </a:cubicBezTo>
                  <a:close/>
                </a:path>
              </a:pathLst>
            </a:custGeom>
            <a:gradFill rotWithShape="true">
              <a:gsLst>
                <a:gs pos="0">
                  <a:srgbClr val="0D1296">
                    <a:alpha val="100000"/>
                  </a:srgbClr>
                </a:gs>
                <a:gs pos="100000">
                  <a:srgbClr val="2B79FF">
                    <a:alpha val="100000"/>
                  </a:srgbClr>
                </a:gs>
              </a:gsLst>
              <a:lin ang="2700000"/>
            </a:gradFill>
          </p:spPr>
        </p:sp>
        <p:sp>
          <p:nvSpPr>
            <p:cNvPr name="TextBox 9" id="9"/>
            <p:cNvSpPr txBox="true"/>
            <p:nvPr/>
          </p:nvSpPr>
          <p:spPr>
            <a:xfrm>
              <a:off x="0" y="-66675"/>
              <a:ext cx="67950" cy="148987"/>
            </a:xfrm>
            <a:prstGeom prst="rect">
              <a:avLst/>
            </a:prstGeom>
          </p:spPr>
          <p:txBody>
            <a:bodyPr anchor="ctr" rtlCol="false" tIns="50800" lIns="50800" bIns="50800" rIns="50800"/>
            <a:lstStyle/>
            <a:p>
              <a:pPr algn="ctr" marL="0" indent="0" lvl="0">
                <a:lnSpc>
                  <a:spcPts val="3633"/>
                </a:lnSpc>
              </a:pPr>
            </a:p>
          </p:txBody>
        </p:sp>
      </p:grpSp>
      <p:grpSp>
        <p:nvGrpSpPr>
          <p:cNvPr name="Group 10" id="10"/>
          <p:cNvGrpSpPr/>
          <p:nvPr/>
        </p:nvGrpSpPr>
        <p:grpSpPr>
          <a:xfrm rot="0">
            <a:off x="1028700" y="5671245"/>
            <a:ext cx="420848" cy="509794"/>
            <a:chOff x="0" y="0"/>
            <a:chExt cx="67950" cy="82312"/>
          </a:xfrm>
        </p:grpSpPr>
        <p:sp>
          <p:nvSpPr>
            <p:cNvPr name="Freeform 11" id="11"/>
            <p:cNvSpPr/>
            <p:nvPr/>
          </p:nvSpPr>
          <p:spPr>
            <a:xfrm flipH="false" flipV="false" rot="0">
              <a:off x="0" y="0"/>
              <a:ext cx="67950" cy="82312"/>
            </a:xfrm>
            <a:custGeom>
              <a:avLst/>
              <a:gdLst/>
              <a:ahLst/>
              <a:cxnLst/>
              <a:rect r="r" b="b" t="t" l="l"/>
              <a:pathLst>
                <a:path h="82312" w="67950">
                  <a:moveTo>
                    <a:pt x="33975" y="0"/>
                  </a:moveTo>
                  <a:lnTo>
                    <a:pt x="33975" y="0"/>
                  </a:lnTo>
                  <a:cubicBezTo>
                    <a:pt x="42986" y="0"/>
                    <a:pt x="51628" y="3580"/>
                    <a:pt x="57999" y="9951"/>
                  </a:cubicBezTo>
                  <a:cubicBezTo>
                    <a:pt x="64371" y="16323"/>
                    <a:pt x="67950" y="24964"/>
                    <a:pt x="67950" y="33975"/>
                  </a:cubicBezTo>
                  <a:lnTo>
                    <a:pt x="67950" y="48337"/>
                  </a:lnTo>
                  <a:cubicBezTo>
                    <a:pt x="67950" y="57347"/>
                    <a:pt x="64371" y="65989"/>
                    <a:pt x="57999" y="72361"/>
                  </a:cubicBezTo>
                  <a:cubicBezTo>
                    <a:pt x="51628" y="78732"/>
                    <a:pt x="42986" y="82312"/>
                    <a:pt x="33975" y="82312"/>
                  </a:cubicBezTo>
                  <a:lnTo>
                    <a:pt x="33975" y="82312"/>
                  </a:lnTo>
                  <a:cubicBezTo>
                    <a:pt x="24964" y="82312"/>
                    <a:pt x="16323" y="78732"/>
                    <a:pt x="9951" y="72361"/>
                  </a:cubicBezTo>
                  <a:cubicBezTo>
                    <a:pt x="3580" y="65989"/>
                    <a:pt x="0" y="57347"/>
                    <a:pt x="0" y="48337"/>
                  </a:cubicBezTo>
                  <a:lnTo>
                    <a:pt x="0" y="33975"/>
                  </a:lnTo>
                  <a:cubicBezTo>
                    <a:pt x="0" y="24964"/>
                    <a:pt x="3580" y="16323"/>
                    <a:pt x="9951" y="9951"/>
                  </a:cubicBezTo>
                  <a:cubicBezTo>
                    <a:pt x="16323" y="3580"/>
                    <a:pt x="24964" y="0"/>
                    <a:pt x="33975" y="0"/>
                  </a:cubicBezTo>
                  <a:close/>
                </a:path>
              </a:pathLst>
            </a:custGeom>
            <a:gradFill rotWithShape="true">
              <a:gsLst>
                <a:gs pos="0">
                  <a:srgbClr val="0D1296">
                    <a:alpha val="100000"/>
                  </a:srgbClr>
                </a:gs>
                <a:gs pos="100000">
                  <a:srgbClr val="2B79FF">
                    <a:alpha val="100000"/>
                  </a:srgbClr>
                </a:gs>
              </a:gsLst>
              <a:lin ang="2700000"/>
            </a:gradFill>
          </p:spPr>
        </p:sp>
        <p:sp>
          <p:nvSpPr>
            <p:cNvPr name="TextBox 12" id="12"/>
            <p:cNvSpPr txBox="true"/>
            <p:nvPr/>
          </p:nvSpPr>
          <p:spPr>
            <a:xfrm>
              <a:off x="0" y="-66675"/>
              <a:ext cx="67950" cy="148987"/>
            </a:xfrm>
            <a:prstGeom prst="rect">
              <a:avLst/>
            </a:prstGeom>
          </p:spPr>
          <p:txBody>
            <a:bodyPr anchor="ctr" rtlCol="false" tIns="50800" lIns="50800" bIns="50800" rIns="50800"/>
            <a:lstStyle/>
            <a:p>
              <a:pPr algn="ctr" marL="0" indent="0" lvl="0">
                <a:lnSpc>
                  <a:spcPts val="3633"/>
                </a:lnSpc>
              </a:pPr>
            </a:p>
          </p:txBody>
        </p:sp>
      </p:grpSp>
      <p:sp>
        <p:nvSpPr>
          <p:cNvPr name="TextBox 13" id="13"/>
          <p:cNvSpPr txBox="true"/>
          <p:nvPr/>
        </p:nvSpPr>
        <p:spPr>
          <a:xfrm rot="0">
            <a:off x="1116168" y="2540626"/>
            <a:ext cx="245912" cy="463333"/>
          </a:xfrm>
          <a:prstGeom prst="rect">
            <a:avLst/>
          </a:prstGeom>
        </p:spPr>
        <p:txBody>
          <a:bodyPr anchor="t" rtlCol="false" tIns="0" lIns="0" bIns="0" rIns="0">
            <a:spAutoFit/>
          </a:bodyPr>
          <a:lstStyle/>
          <a:p>
            <a:pPr algn="ctr" marL="0" indent="0" lvl="0">
              <a:lnSpc>
                <a:spcPts val="3559"/>
              </a:lnSpc>
            </a:pPr>
            <a:r>
              <a:rPr lang="en-US" b="true" sz="2542">
                <a:solidFill>
                  <a:srgbClr val="FFFFFF"/>
                </a:solidFill>
                <a:latin typeface="Poppins Bold"/>
                <a:ea typeface="Poppins Bold"/>
                <a:cs typeface="Poppins Bold"/>
                <a:sym typeface="Poppins Bold"/>
              </a:rPr>
              <a:t>1</a:t>
            </a:r>
          </a:p>
        </p:txBody>
      </p:sp>
      <p:sp>
        <p:nvSpPr>
          <p:cNvPr name="TextBox 14" id="14"/>
          <p:cNvSpPr txBox="true"/>
          <p:nvPr/>
        </p:nvSpPr>
        <p:spPr>
          <a:xfrm rot="0">
            <a:off x="1116168" y="5656399"/>
            <a:ext cx="245912" cy="463333"/>
          </a:xfrm>
          <a:prstGeom prst="rect">
            <a:avLst/>
          </a:prstGeom>
        </p:spPr>
        <p:txBody>
          <a:bodyPr anchor="t" rtlCol="false" tIns="0" lIns="0" bIns="0" rIns="0">
            <a:spAutoFit/>
          </a:bodyPr>
          <a:lstStyle/>
          <a:p>
            <a:pPr algn="ctr" marL="0" indent="0" lvl="0">
              <a:lnSpc>
                <a:spcPts val="3559"/>
              </a:lnSpc>
            </a:pPr>
            <a:r>
              <a:rPr lang="en-US" b="true" sz="2542">
                <a:solidFill>
                  <a:srgbClr val="FFFFFF"/>
                </a:solidFill>
                <a:latin typeface="Poppins Bold"/>
                <a:ea typeface="Poppins Bold"/>
                <a:cs typeface="Poppins Bold"/>
                <a:sym typeface="Poppins Bold"/>
              </a:rPr>
              <a:t>2</a:t>
            </a:r>
          </a:p>
        </p:txBody>
      </p:sp>
      <p:sp>
        <p:nvSpPr>
          <p:cNvPr name="TextBox 15" id="15"/>
          <p:cNvSpPr txBox="true"/>
          <p:nvPr/>
        </p:nvSpPr>
        <p:spPr>
          <a:xfrm rot="0">
            <a:off x="1618520" y="2888638"/>
            <a:ext cx="4369672" cy="1920780"/>
          </a:xfrm>
          <a:prstGeom prst="rect">
            <a:avLst/>
          </a:prstGeom>
        </p:spPr>
        <p:txBody>
          <a:bodyPr anchor="t" rtlCol="false" tIns="0" lIns="0" bIns="0" rIns="0">
            <a:spAutoFit/>
          </a:bodyPr>
          <a:lstStyle/>
          <a:p>
            <a:pPr algn="just" marL="0" indent="0" lvl="0">
              <a:lnSpc>
                <a:spcPts val="2529"/>
              </a:lnSpc>
            </a:pPr>
            <a:r>
              <a:rPr lang="en-US" sz="1806">
                <a:solidFill>
                  <a:srgbClr val="181216"/>
                </a:solidFill>
                <a:latin typeface="Poppins"/>
                <a:ea typeface="Poppins"/>
                <a:cs typeface="Poppins"/>
                <a:sym typeface="Poppins"/>
              </a:rPr>
              <a:t>Analyser la qualité des données, leur structure et leurs distributions. Identifier les anomalies, les incohérences et les valeurs aberrantes pour comprendre le jeu de données.</a:t>
            </a:r>
          </a:p>
        </p:txBody>
      </p:sp>
      <p:sp>
        <p:nvSpPr>
          <p:cNvPr name="TextBox 16" id="16"/>
          <p:cNvSpPr txBox="true"/>
          <p:nvPr/>
        </p:nvSpPr>
        <p:spPr>
          <a:xfrm rot="0">
            <a:off x="1618520" y="6004412"/>
            <a:ext cx="4369672" cy="1602527"/>
          </a:xfrm>
          <a:prstGeom prst="rect">
            <a:avLst/>
          </a:prstGeom>
        </p:spPr>
        <p:txBody>
          <a:bodyPr anchor="t" rtlCol="false" tIns="0" lIns="0" bIns="0" rIns="0">
            <a:spAutoFit/>
          </a:bodyPr>
          <a:lstStyle/>
          <a:p>
            <a:pPr algn="just" marL="0" indent="0" lvl="0">
              <a:lnSpc>
                <a:spcPts val="2529"/>
              </a:lnSpc>
            </a:pPr>
            <a:r>
              <a:rPr lang="en-US" sz="1806">
                <a:solidFill>
                  <a:srgbClr val="181216"/>
                </a:solidFill>
                <a:latin typeface="Poppins"/>
                <a:ea typeface="Poppins"/>
                <a:cs typeface="Poppins"/>
                <a:sym typeface="Poppins"/>
              </a:rPr>
              <a:t>Nettoyer les données, gérer les valeurs manquantes, encoder les variables catégorielles et normaliser les variables numériques pour optimiser les modèles.</a:t>
            </a:r>
          </a:p>
        </p:txBody>
      </p:sp>
      <p:sp>
        <p:nvSpPr>
          <p:cNvPr name="TextBox 17" id="17"/>
          <p:cNvSpPr txBox="true"/>
          <p:nvPr/>
        </p:nvSpPr>
        <p:spPr>
          <a:xfrm rot="0">
            <a:off x="1618520" y="2498322"/>
            <a:ext cx="3454267" cy="329513"/>
          </a:xfrm>
          <a:prstGeom prst="rect">
            <a:avLst/>
          </a:prstGeom>
        </p:spPr>
        <p:txBody>
          <a:bodyPr anchor="t" rtlCol="false" tIns="0" lIns="0" bIns="0" rIns="0">
            <a:spAutoFit/>
          </a:bodyPr>
          <a:lstStyle/>
          <a:p>
            <a:pPr algn="just" marL="0" indent="0" lvl="0">
              <a:lnSpc>
                <a:spcPts val="2529"/>
              </a:lnSpc>
            </a:pPr>
            <a:r>
              <a:rPr lang="en-US" b="true" sz="1806">
                <a:solidFill>
                  <a:srgbClr val="1D4ABD"/>
                </a:solidFill>
                <a:latin typeface="Poppins Bold"/>
                <a:ea typeface="Poppins Bold"/>
                <a:cs typeface="Poppins Bold"/>
                <a:sym typeface="Poppins Bold"/>
              </a:rPr>
              <a:t>Exploration des Données</a:t>
            </a:r>
          </a:p>
        </p:txBody>
      </p:sp>
      <p:sp>
        <p:nvSpPr>
          <p:cNvPr name="TextBox 18" id="18"/>
          <p:cNvSpPr txBox="true"/>
          <p:nvPr/>
        </p:nvSpPr>
        <p:spPr>
          <a:xfrm rot="0">
            <a:off x="1618520" y="5614095"/>
            <a:ext cx="3454267" cy="329513"/>
          </a:xfrm>
          <a:prstGeom prst="rect">
            <a:avLst/>
          </a:prstGeom>
        </p:spPr>
        <p:txBody>
          <a:bodyPr anchor="t" rtlCol="false" tIns="0" lIns="0" bIns="0" rIns="0">
            <a:spAutoFit/>
          </a:bodyPr>
          <a:lstStyle/>
          <a:p>
            <a:pPr algn="just" marL="0" indent="0" lvl="0">
              <a:lnSpc>
                <a:spcPts val="2529"/>
              </a:lnSpc>
            </a:pPr>
            <a:r>
              <a:rPr lang="en-US" b="true" sz="1806">
                <a:solidFill>
                  <a:srgbClr val="1D4ABD"/>
                </a:solidFill>
                <a:latin typeface="Poppins Bold"/>
                <a:ea typeface="Poppins Bold"/>
                <a:cs typeface="Poppins Bold"/>
                <a:sym typeface="Poppins Bold"/>
              </a:rPr>
              <a:t>Préparation des Données</a:t>
            </a:r>
          </a:p>
        </p:txBody>
      </p:sp>
      <p:sp>
        <p:nvSpPr>
          <p:cNvPr name="TextBox 19" id="19"/>
          <p:cNvSpPr txBox="true"/>
          <p:nvPr/>
        </p:nvSpPr>
        <p:spPr>
          <a:xfrm rot="0">
            <a:off x="7421903" y="2940596"/>
            <a:ext cx="4250452" cy="1583055"/>
          </a:xfrm>
          <a:prstGeom prst="rect">
            <a:avLst/>
          </a:prstGeom>
        </p:spPr>
        <p:txBody>
          <a:bodyPr anchor="t" rtlCol="false" tIns="0" lIns="0" bIns="0" rIns="0">
            <a:spAutoFit/>
          </a:bodyPr>
          <a:lstStyle/>
          <a:p>
            <a:pPr algn="just" marL="0" indent="0" lvl="0">
              <a:lnSpc>
                <a:spcPts val="2520"/>
              </a:lnSpc>
            </a:pPr>
            <a:r>
              <a:rPr lang="en-US" sz="1800">
                <a:solidFill>
                  <a:srgbClr val="181216"/>
                </a:solidFill>
                <a:latin typeface="Poppins"/>
                <a:ea typeface="Poppins"/>
                <a:cs typeface="Poppins"/>
                <a:sym typeface="Poppins"/>
              </a:rPr>
              <a:t>Réduire la dimensionnalité via l'Analyse en Composantes Principales (ACP) pour simplifier les modèles et améliorer leurs performances.</a:t>
            </a:r>
          </a:p>
        </p:txBody>
      </p:sp>
      <p:sp>
        <p:nvSpPr>
          <p:cNvPr name="TextBox 20" id="20"/>
          <p:cNvSpPr txBox="true"/>
          <p:nvPr/>
        </p:nvSpPr>
        <p:spPr>
          <a:xfrm rot="0">
            <a:off x="7506984" y="6056369"/>
            <a:ext cx="4250452" cy="1583055"/>
          </a:xfrm>
          <a:prstGeom prst="rect">
            <a:avLst/>
          </a:prstGeom>
        </p:spPr>
        <p:txBody>
          <a:bodyPr anchor="t" rtlCol="false" tIns="0" lIns="0" bIns="0" rIns="0">
            <a:spAutoFit/>
          </a:bodyPr>
          <a:lstStyle/>
          <a:p>
            <a:pPr algn="just" marL="0" indent="0" lvl="0">
              <a:lnSpc>
                <a:spcPts val="2520"/>
              </a:lnSpc>
            </a:pPr>
            <a:r>
              <a:rPr lang="en-US" sz="1800">
                <a:solidFill>
                  <a:srgbClr val="181216"/>
                </a:solidFill>
                <a:latin typeface="Poppins"/>
                <a:ea typeface="Poppins"/>
                <a:cs typeface="Poppins"/>
                <a:sym typeface="Poppins"/>
              </a:rPr>
              <a:t>Appliquer des algorithmes de Machine Learning : régression logistique, forêts aléatoires, clustering et régression pour l'analyse comportementale.</a:t>
            </a:r>
          </a:p>
        </p:txBody>
      </p:sp>
      <p:sp>
        <p:nvSpPr>
          <p:cNvPr name="TextBox 21" id="21"/>
          <p:cNvSpPr txBox="true"/>
          <p:nvPr/>
        </p:nvSpPr>
        <p:spPr>
          <a:xfrm rot="0">
            <a:off x="7390973" y="2498322"/>
            <a:ext cx="2542699" cy="325755"/>
          </a:xfrm>
          <a:prstGeom prst="rect">
            <a:avLst/>
          </a:prstGeom>
        </p:spPr>
        <p:txBody>
          <a:bodyPr anchor="t" rtlCol="false" tIns="0" lIns="0" bIns="0" rIns="0">
            <a:spAutoFit/>
          </a:bodyPr>
          <a:lstStyle/>
          <a:p>
            <a:pPr algn="just" marL="0" indent="0" lvl="0">
              <a:lnSpc>
                <a:spcPts val="2520"/>
              </a:lnSpc>
            </a:pPr>
            <a:r>
              <a:rPr lang="en-US" b="true" sz="1800">
                <a:solidFill>
                  <a:srgbClr val="1D4ABD"/>
                </a:solidFill>
                <a:latin typeface="Poppins Bold"/>
                <a:ea typeface="Poppins Bold"/>
                <a:cs typeface="Poppins Bold"/>
                <a:sym typeface="Poppins Bold"/>
              </a:rPr>
              <a:t>Transformation</a:t>
            </a:r>
          </a:p>
        </p:txBody>
      </p:sp>
      <p:sp>
        <p:nvSpPr>
          <p:cNvPr name="TextBox 22" id="22"/>
          <p:cNvSpPr txBox="true"/>
          <p:nvPr/>
        </p:nvSpPr>
        <p:spPr>
          <a:xfrm rot="0">
            <a:off x="7506984" y="5614095"/>
            <a:ext cx="2542699" cy="325755"/>
          </a:xfrm>
          <a:prstGeom prst="rect">
            <a:avLst/>
          </a:prstGeom>
        </p:spPr>
        <p:txBody>
          <a:bodyPr anchor="t" rtlCol="false" tIns="0" lIns="0" bIns="0" rIns="0">
            <a:spAutoFit/>
          </a:bodyPr>
          <a:lstStyle/>
          <a:p>
            <a:pPr algn="just" marL="0" indent="0" lvl="0">
              <a:lnSpc>
                <a:spcPts val="2520"/>
              </a:lnSpc>
            </a:pPr>
            <a:r>
              <a:rPr lang="en-US" b="true" sz="1800">
                <a:solidFill>
                  <a:srgbClr val="1D4ABD"/>
                </a:solidFill>
                <a:latin typeface="Poppins Bold"/>
                <a:ea typeface="Poppins Bold"/>
                <a:cs typeface="Poppins Bold"/>
                <a:sym typeface="Poppins Bold"/>
              </a:rPr>
              <a:t>Modélisation</a:t>
            </a:r>
          </a:p>
        </p:txBody>
      </p:sp>
      <p:grpSp>
        <p:nvGrpSpPr>
          <p:cNvPr name="Group 23" id="23"/>
          <p:cNvGrpSpPr/>
          <p:nvPr/>
        </p:nvGrpSpPr>
        <p:grpSpPr>
          <a:xfrm rot="0">
            <a:off x="6810158" y="2613636"/>
            <a:ext cx="409366" cy="577656"/>
            <a:chOff x="0" y="0"/>
            <a:chExt cx="58332" cy="82312"/>
          </a:xfrm>
        </p:grpSpPr>
        <p:sp>
          <p:nvSpPr>
            <p:cNvPr name="Freeform 24" id="24"/>
            <p:cNvSpPr/>
            <p:nvPr/>
          </p:nvSpPr>
          <p:spPr>
            <a:xfrm flipH="false" flipV="false" rot="0">
              <a:off x="0" y="0"/>
              <a:ext cx="58332" cy="82312"/>
            </a:xfrm>
            <a:custGeom>
              <a:avLst/>
              <a:gdLst/>
              <a:ahLst/>
              <a:cxnLst/>
              <a:rect r="r" b="b" t="t" l="l"/>
              <a:pathLst>
                <a:path h="82312" w="58332">
                  <a:moveTo>
                    <a:pt x="29166" y="0"/>
                  </a:moveTo>
                  <a:lnTo>
                    <a:pt x="29166" y="0"/>
                  </a:lnTo>
                  <a:cubicBezTo>
                    <a:pt x="45274" y="0"/>
                    <a:pt x="58332" y="13058"/>
                    <a:pt x="58332" y="29166"/>
                  </a:cubicBezTo>
                  <a:lnTo>
                    <a:pt x="58332" y="53146"/>
                  </a:lnTo>
                  <a:cubicBezTo>
                    <a:pt x="58332" y="60881"/>
                    <a:pt x="55259" y="68300"/>
                    <a:pt x="49789" y="73769"/>
                  </a:cubicBezTo>
                  <a:cubicBezTo>
                    <a:pt x="44320" y="79239"/>
                    <a:pt x="36901" y="82312"/>
                    <a:pt x="29166" y="82312"/>
                  </a:cubicBezTo>
                  <a:lnTo>
                    <a:pt x="29166" y="82312"/>
                  </a:lnTo>
                  <a:cubicBezTo>
                    <a:pt x="21431" y="82312"/>
                    <a:pt x="14012" y="79239"/>
                    <a:pt x="8542" y="73769"/>
                  </a:cubicBezTo>
                  <a:cubicBezTo>
                    <a:pt x="3073" y="68300"/>
                    <a:pt x="0" y="60881"/>
                    <a:pt x="0" y="53146"/>
                  </a:cubicBezTo>
                  <a:lnTo>
                    <a:pt x="0" y="29166"/>
                  </a:lnTo>
                  <a:cubicBezTo>
                    <a:pt x="0" y="21431"/>
                    <a:pt x="3073" y="14012"/>
                    <a:pt x="8542" y="8542"/>
                  </a:cubicBezTo>
                  <a:cubicBezTo>
                    <a:pt x="14012" y="3073"/>
                    <a:pt x="21431" y="0"/>
                    <a:pt x="29166" y="0"/>
                  </a:cubicBezTo>
                  <a:close/>
                </a:path>
              </a:pathLst>
            </a:custGeom>
            <a:gradFill rotWithShape="true">
              <a:gsLst>
                <a:gs pos="0">
                  <a:srgbClr val="0D1296">
                    <a:alpha val="100000"/>
                  </a:srgbClr>
                </a:gs>
                <a:gs pos="100000">
                  <a:srgbClr val="2B79FF">
                    <a:alpha val="100000"/>
                  </a:srgbClr>
                </a:gs>
              </a:gsLst>
              <a:lin ang="2700000"/>
            </a:gradFill>
          </p:spPr>
        </p:sp>
        <p:sp>
          <p:nvSpPr>
            <p:cNvPr name="TextBox 25" id="25"/>
            <p:cNvSpPr txBox="true"/>
            <p:nvPr/>
          </p:nvSpPr>
          <p:spPr>
            <a:xfrm>
              <a:off x="0" y="-57150"/>
              <a:ext cx="58332" cy="139462"/>
            </a:xfrm>
            <a:prstGeom prst="rect">
              <a:avLst/>
            </a:prstGeom>
          </p:spPr>
          <p:txBody>
            <a:bodyPr anchor="ctr" rtlCol="false" tIns="50800" lIns="50800" bIns="50800" rIns="50800"/>
            <a:lstStyle/>
            <a:p>
              <a:pPr algn="ctr" marL="0" indent="0" lvl="0">
                <a:lnSpc>
                  <a:spcPts val="2520"/>
                </a:lnSpc>
              </a:pPr>
            </a:p>
          </p:txBody>
        </p:sp>
      </p:grpSp>
      <p:grpSp>
        <p:nvGrpSpPr>
          <p:cNvPr name="Group 26" id="26"/>
          <p:cNvGrpSpPr/>
          <p:nvPr/>
        </p:nvGrpSpPr>
        <p:grpSpPr>
          <a:xfrm rot="0">
            <a:off x="6895239" y="5685208"/>
            <a:ext cx="409366" cy="577656"/>
            <a:chOff x="0" y="0"/>
            <a:chExt cx="58332" cy="82312"/>
          </a:xfrm>
        </p:grpSpPr>
        <p:sp>
          <p:nvSpPr>
            <p:cNvPr name="Freeform 27" id="27"/>
            <p:cNvSpPr/>
            <p:nvPr/>
          </p:nvSpPr>
          <p:spPr>
            <a:xfrm flipH="false" flipV="false" rot="0">
              <a:off x="0" y="0"/>
              <a:ext cx="58332" cy="82312"/>
            </a:xfrm>
            <a:custGeom>
              <a:avLst/>
              <a:gdLst/>
              <a:ahLst/>
              <a:cxnLst/>
              <a:rect r="r" b="b" t="t" l="l"/>
              <a:pathLst>
                <a:path h="82312" w="58332">
                  <a:moveTo>
                    <a:pt x="29166" y="0"/>
                  </a:moveTo>
                  <a:lnTo>
                    <a:pt x="29166" y="0"/>
                  </a:lnTo>
                  <a:cubicBezTo>
                    <a:pt x="45274" y="0"/>
                    <a:pt x="58332" y="13058"/>
                    <a:pt x="58332" y="29166"/>
                  </a:cubicBezTo>
                  <a:lnTo>
                    <a:pt x="58332" y="53146"/>
                  </a:lnTo>
                  <a:cubicBezTo>
                    <a:pt x="58332" y="60881"/>
                    <a:pt x="55259" y="68300"/>
                    <a:pt x="49789" y="73769"/>
                  </a:cubicBezTo>
                  <a:cubicBezTo>
                    <a:pt x="44320" y="79239"/>
                    <a:pt x="36901" y="82312"/>
                    <a:pt x="29166" y="82312"/>
                  </a:cubicBezTo>
                  <a:lnTo>
                    <a:pt x="29166" y="82312"/>
                  </a:lnTo>
                  <a:cubicBezTo>
                    <a:pt x="21431" y="82312"/>
                    <a:pt x="14012" y="79239"/>
                    <a:pt x="8542" y="73769"/>
                  </a:cubicBezTo>
                  <a:cubicBezTo>
                    <a:pt x="3073" y="68300"/>
                    <a:pt x="0" y="60881"/>
                    <a:pt x="0" y="53146"/>
                  </a:cubicBezTo>
                  <a:lnTo>
                    <a:pt x="0" y="29166"/>
                  </a:lnTo>
                  <a:cubicBezTo>
                    <a:pt x="0" y="21431"/>
                    <a:pt x="3073" y="14012"/>
                    <a:pt x="8542" y="8542"/>
                  </a:cubicBezTo>
                  <a:cubicBezTo>
                    <a:pt x="14012" y="3073"/>
                    <a:pt x="21431" y="0"/>
                    <a:pt x="29166" y="0"/>
                  </a:cubicBezTo>
                  <a:close/>
                </a:path>
              </a:pathLst>
            </a:custGeom>
            <a:gradFill rotWithShape="true">
              <a:gsLst>
                <a:gs pos="0">
                  <a:srgbClr val="0D1296">
                    <a:alpha val="100000"/>
                  </a:srgbClr>
                </a:gs>
                <a:gs pos="100000">
                  <a:srgbClr val="2B79FF">
                    <a:alpha val="100000"/>
                  </a:srgbClr>
                </a:gs>
              </a:gsLst>
              <a:lin ang="2700000"/>
            </a:gradFill>
          </p:spPr>
        </p:sp>
        <p:sp>
          <p:nvSpPr>
            <p:cNvPr name="TextBox 28" id="28"/>
            <p:cNvSpPr txBox="true"/>
            <p:nvPr/>
          </p:nvSpPr>
          <p:spPr>
            <a:xfrm>
              <a:off x="0" y="-57150"/>
              <a:ext cx="58332" cy="139462"/>
            </a:xfrm>
            <a:prstGeom prst="rect">
              <a:avLst/>
            </a:prstGeom>
          </p:spPr>
          <p:txBody>
            <a:bodyPr anchor="ctr" rtlCol="false" tIns="50800" lIns="50800" bIns="50800" rIns="50800"/>
            <a:lstStyle/>
            <a:p>
              <a:pPr algn="ctr" marL="0" indent="0" lvl="0">
                <a:lnSpc>
                  <a:spcPts val="2520"/>
                </a:lnSpc>
              </a:pPr>
            </a:p>
          </p:txBody>
        </p:sp>
      </p:grpSp>
      <p:sp>
        <p:nvSpPr>
          <p:cNvPr name="TextBox 29" id="29"/>
          <p:cNvSpPr txBox="true"/>
          <p:nvPr/>
        </p:nvSpPr>
        <p:spPr>
          <a:xfrm rot="0">
            <a:off x="6895239" y="2626007"/>
            <a:ext cx="239202" cy="325755"/>
          </a:xfrm>
          <a:prstGeom prst="rect">
            <a:avLst/>
          </a:prstGeom>
        </p:spPr>
        <p:txBody>
          <a:bodyPr anchor="t" rtlCol="false" tIns="0" lIns="0" bIns="0" rIns="0">
            <a:spAutoFit/>
          </a:bodyPr>
          <a:lstStyle/>
          <a:p>
            <a:pPr algn="ctr" marL="0" indent="0" lvl="0">
              <a:lnSpc>
                <a:spcPts val="2520"/>
              </a:lnSpc>
            </a:pPr>
            <a:r>
              <a:rPr lang="en-US" b="true" sz="1800">
                <a:solidFill>
                  <a:srgbClr val="FFFFFF"/>
                </a:solidFill>
                <a:latin typeface="Poppins Bold"/>
                <a:ea typeface="Poppins Bold"/>
                <a:cs typeface="Poppins Bold"/>
                <a:sym typeface="Poppins Bold"/>
              </a:rPr>
              <a:t>3</a:t>
            </a:r>
          </a:p>
        </p:txBody>
      </p:sp>
      <p:sp>
        <p:nvSpPr>
          <p:cNvPr name="TextBox 30" id="30"/>
          <p:cNvSpPr txBox="true"/>
          <p:nvPr/>
        </p:nvSpPr>
        <p:spPr>
          <a:xfrm rot="0">
            <a:off x="6980321" y="5697578"/>
            <a:ext cx="239202" cy="325755"/>
          </a:xfrm>
          <a:prstGeom prst="rect">
            <a:avLst/>
          </a:prstGeom>
        </p:spPr>
        <p:txBody>
          <a:bodyPr anchor="t" rtlCol="false" tIns="0" lIns="0" bIns="0" rIns="0">
            <a:spAutoFit/>
          </a:bodyPr>
          <a:lstStyle/>
          <a:p>
            <a:pPr algn="ctr" marL="0" indent="0" lvl="0">
              <a:lnSpc>
                <a:spcPts val="2520"/>
              </a:lnSpc>
            </a:pPr>
            <a:r>
              <a:rPr lang="en-US" b="true" sz="1800">
                <a:solidFill>
                  <a:srgbClr val="FFFFFF"/>
                </a:solidFill>
                <a:latin typeface="Poppins Bold"/>
                <a:ea typeface="Poppins Bold"/>
                <a:cs typeface="Poppins Bold"/>
                <a:sym typeface="Poppins Bold"/>
              </a:rPr>
              <a:t>4</a:t>
            </a:r>
          </a:p>
        </p:txBody>
      </p:sp>
      <p:grpSp>
        <p:nvGrpSpPr>
          <p:cNvPr name="Group 31" id="31"/>
          <p:cNvGrpSpPr/>
          <p:nvPr/>
        </p:nvGrpSpPr>
        <p:grpSpPr>
          <a:xfrm rot="0">
            <a:off x="12350528" y="2613636"/>
            <a:ext cx="369010" cy="481515"/>
            <a:chOff x="0" y="0"/>
            <a:chExt cx="63080" cy="82312"/>
          </a:xfrm>
        </p:grpSpPr>
        <p:sp>
          <p:nvSpPr>
            <p:cNvPr name="Freeform 32" id="32"/>
            <p:cNvSpPr/>
            <p:nvPr/>
          </p:nvSpPr>
          <p:spPr>
            <a:xfrm flipH="false" flipV="false" rot="0">
              <a:off x="0" y="0"/>
              <a:ext cx="63080" cy="82312"/>
            </a:xfrm>
            <a:custGeom>
              <a:avLst/>
              <a:gdLst/>
              <a:ahLst/>
              <a:cxnLst/>
              <a:rect r="r" b="b" t="t" l="l"/>
              <a:pathLst>
                <a:path h="82312" w="63080">
                  <a:moveTo>
                    <a:pt x="31540" y="0"/>
                  </a:moveTo>
                  <a:lnTo>
                    <a:pt x="31540" y="0"/>
                  </a:lnTo>
                  <a:cubicBezTo>
                    <a:pt x="48959" y="0"/>
                    <a:pt x="63080" y="14121"/>
                    <a:pt x="63080" y="31540"/>
                  </a:cubicBezTo>
                  <a:lnTo>
                    <a:pt x="63080" y="50772"/>
                  </a:lnTo>
                  <a:cubicBezTo>
                    <a:pt x="63080" y="59137"/>
                    <a:pt x="59757" y="67159"/>
                    <a:pt x="53842" y="73074"/>
                  </a:cubicBezTo>
                  <a:cubicBezTo>
                    <a:pt x="47927" y="78989"/>
                    <a:pt x="39905" y="82312"/>
                    <a:pt x="31540" y="82312"/>
                  </a:cubicBezTo>
                  <a:lnTo>
                    <a:pt x="31540" y="82312"/>
                  </a:lnTo>
                  <a:cubicBezTo>
                    <a:pt x="23175" y="82312"/>
                    <a:pt x="15153" y="78989"/>
                    <a:pt x="9238" y="73074"/>
                  </a:cubicBezTo>
                  <a:cubicBezTo>
                    <a:pt x="3323" y="67159"/>
                    <a:pt x="0" y="59137"/>
                    <a:pt x="0" y="50772"/>
                  </a:cubicBezTo>
                  <a:lnTo>
                    <a:pt x="0" y="31540"/>
                  </a:lnTo>
                  <a:cubicBezTo>
                    <a:pt x="0" y="23175"/>
                    <a:pt x="3323" y="15153"/>
                    <a:pt x="9238" y="9238"/>
                  </a:cubicBezTo>
                  <a:cubicBezTo>
                    <a:pt x="15153" y="3323"/>
                    <a:pt x="23175" y="0"/>
                    <a:pt x="31540" y="0"/>
                  </a:cubicBezTo>
                  <a:close/>
                </a:path>
              </a:pathLst>
            </a:custGeom>
            <a:gradFill rotWithShape="true">
              <a:gsLst>
                <a:gs pos="0">
                  <a:srgbClr val="0D1296">
                    <a:alpha val="100000"/>
                  </a:srgbClr>
                </a:gs>
                <a:gs pos="100000">
                  <a:srgbClr val="2B79FF">
                    <a:alpha val="100000"/>
                  </a:srgbClr>
                </a:gs>
              </a:gsLst>
              <a:lin ang="2700000"/>
            </a:gradFill>
          </p:spPr>
        </p:sp>
        <p:sp>
          <p:nvSpPr>
            <p:cNvPr name="TextBox 33" id="33"/>
            <p:cNvSpPr txBox="true"/>
            <p:nvPr/>
          </p:nvSpPr>
          <p:spPr>
            <a:xfrm>
              <a:off x="0" y="-57150"/>
              <a:ext cx="63080" cy="139462"/>
            </a:xfrm>
            <a:prstGeom prst="rect">
              <a:avLst/>
            </a:prstGeom>
          </p:spPr>
          <p:txBody>
            <a:bodyPr anchor="ctr" rtlCol="false" tIns="50800" lIns="50800" bIns="50800" rIns="50800"/>
            <a:lstStyle/>
            <a:p>
              <a:pPr algn="ctr" marL="0" indent="0" lvl="0">
                <a:lnSpc>
                  <a:spcPts val="2520"/>
                </a:lnSpc>
              </a:pPr>
            </a:p>
          </p:txBody>
        </p:sp>
      </p:grpSp>
      <p:grpSp>
        <p:nvGrpSpPr>
          <p:cNvPr name="Group 34" id="34"/>
          <p:cNvGrpSpPr/>
          <p:nvPr/>
        </p:nvGrpSpPr>
        <p:grpSpPr>
          <a:xfrm rot="0">
            <a:off x="12350528" y="5671245"/>
            <a:ext cx="369010" cy="481515"/>
            <a:chOff x="0" y="0"/>
            <a:chExt cx="63080" cy="82312"/>
          </a:xfrm>
        </p:grpSpPr>
        <p:sp>
          <p:nvSpPr>
            <p:cNvPr name="Freeform 35" id="35"/>
            <p:cNvSpPr/>
            <p:nvPr/>
          </p:nvSpPr>
          <p:spPr>
            <a:xfrm flipH="false" flipV="false" rot="0">
              <a:off x="0" y="0"/>
              <a:ext cx="63080" cy="82312"/>
            </a:xfrm>
            <a:custGeom>
              <a:avLst/>
              <a:gdLst/>
              <a:ahLst/>
              <a:cxnLst/>
              <a:rect r="r" b="b" t="t" l="l"/>
              <a:pathLst>
                <a:path h="82312" w="63080">
                  <a:moveTo>
                    <a:pt x="31540" y="0"/>
                  </a:moveTo>
                  <a:lnTo>
                    <a:pt x="31540" y="0"/>
                  </a:lnTo>
                  <a:cubicBezTo>
                    <a:pt x="48959" y="0"/>
                    <a:pt x="63080" y="14121"/>
                    <a:pt x="63080" y="31540"/>
                  </a:cubicBezTo>
                  <a:lnTo>
                    <a:pt x="63080" y="50772"/>
                  </a:lnTo>
                  <a:cubicBezTo>
                    <a:pt x="63080" y="59137"/>
                    <a:pt x="59757" y="67159"/>
                    <a:pt x="53842" y="73074"/>
                  </a:cubicBezTo>
                  <a:cubicBezTo>
                    <a:pt x="47927" y="78989"/>
                    <a:pt x="39905" y="82312"/>
                    <a:pt x="31540" y="82312"/>
                  </a:cubicBezTo>
                  <a:lnTo>
                    <a:pt x="31540" y="82312"/>
                  </a:lnTo>
                  <a:cubicBezTo>
                    <a:pt x="23175" y="82312"/>
                    <a:pt x="15153" y="78989"/>
                    <a:pt x="9238" y="73074"/>
                  </a:cubicBezTo>
                  <a:cubicBezTo>
                    <a:pt x="3323" y="67159"/>
                    <a:pt x="0" y="59137"/>
                    <a:pt x="0" y="50772"/>
                  </a:cubicBezTo>
                  <a:lnTo>
                    <a:pt x="0" y="31540"/>
                  </a:lnTo>
                  <a:cubicBezTo>
                    <a:pt x="0" y="23175"/>
                    <a:pt x="3323" y="15153"/>
                    <a:pt x="9238" y="9238"/>
                  </a:cubicBezTo>
                  <a:cubicBezTo>
                    <a:pt x="15153" y="3323"/>
                    <a:pt x="23175" y="0"/>
                    <a:pt x="31540" y="0"/>
                  </a:cubicBezTo>
                  <a:close/>
                </a:path>
              </a:pathLst>
            </a:custGeom>
            <a:gradFill rotWithShape="true">
              <a:gsLst>
                <a:gs pos="0">
                  <a:srgbClr val="0D1296">
                    <a:alpha val="100000"/>
                  </a:srgbClr>
                </a:gs>
                <a:gs pos="100000">
                  <a:srgbClr val="2B79FF">
                    <a:alpha val="100000"/>
                  </a:srgbClr>
                </a:gs>
              </a:gsLst>
              <a:lin ang="2700000"/>
            </a:gradFill>
          </p:spPr>
        </p:sp>
        <p:sp>
          <p:nvSpPr>
            <p:cNvPr name="TextBox 36" id="36"/>
            <p:cNvSpPr txBox="true"/>
            <p:nvPr/>
          </p:nvSpPr>
          <p:spPr>
            <a:xfrm>
              <a:off x="0" y="-57150"/>
              <a:ext cx="63080" cy="139462"/>
            </a:xfrm>
            <a:prstGeom prst="rect">
              <a:avLst/>
            </a:prstGeom>
          </p:spPr>
          <p:txBody>
            <a:bodyPr anchor="ctr" rtlCol="false" tIns="50800" lIns="50800" bIns="50800" rIns="50800"/>
            <a:lstStyle/>
            <a:p>
              <a:pPr algn="ctr" marL="0" indent="0" lvl="0">
                <a:lnSpc>
                  <a:spcPts val="2520"/>
                </a:lnSpc>
              </a:pPr>
            </a:p>
          </p:txBody>
        </p:sp>
      </p:grpSp>
      <p:sp>
        <p:nvSpPr>
          <p:cNvPr name="TextBox 37" id="37"/>
          <p:cNvSpPr txBox="true"/>
          <p:nvPr/>
        </p:nvSpPr>
        <p:spPr>
          <a:xfrm rot="0">
            <a:off x="12954428" y="5982760"/>
            <a:ext cx="3831439" cy="1897380"/>
          </a:xfrm>
          <a:prstGeom prst="rect">
            <a:avLst/>
          </a:prstGeom>
        </p:spPr>
        <p:txBody>
          <a:bodyPr anchor="t" rtlCol="false" tIns="0" lIns="0" bIns="0" rIns="0">
            <a:spAutoFit/>
          </a:bodyPr>
          <a:lstStyle/>
          <a:p>
            <a:pPr algn="just" marL="0" indent="0" lvl="0">
              <a:lnSpc>
                <a:spcPts val="2520"/>
              </a:lnSpc>
            </a:pPr>
            <a:r>
              <a:rPr lang="en-US" sz="1800">
                <a:solidFill>
                  <a:srgbClr val="181216"/>
                </a:solidFill>
                <a:latin typeface="Poppins"/>
                <a:ea typeface="Poppins"/>
                <a:cs typeface="Poppins"/>
                <a:sym typeface="Poppins"/>
              </a:rPr>
              <a:t>Développer une interface utilisateur avec Flask pour permettre l'utilisation opérationnelle du modèle. Rendre la solution accessible aux utilisateurs métier.</a:t>
            </a:r>
          </a:p>
        </p:txBody>
      </p:sp>
      <p:sp>
        <p:nvSpPr>
          <p:cNvPr name="TextBox 38" id="38"/>
          <p:cNvSpPr txBox="true"/>
          <p:nvPr/>
        </p:nvSpPr>
        <p:spPr>
          <a:xfrm rot="0">
            <a:off x="12427222" y="2614436"/>
            <a:ext cx="215622" cy="325755"/>
          </a:xfrm>
          <a:prstGeom prst="rect">
            <a:avLst/>
          </a:prstGeom>
        </p:spPr>
        <p:txBody>
          <a:bodyPr anchor="t" rtlCol="false" tIns="0" lIns="0" bIns="0" rIns="0">
            <a:spAutoFit/>
          </a:bodyPr>
          <a:lstStyle/>
          <a:p>
            <a:pPr algn="ctr" marL="0" indent="0" lvl="0">
              <a:lnSpc>
                <a:spcPts val="2520"/>
              </a:lnSpc>
            </a:pPr>
            <a:r>
              <a:rPr lang="en-US" b="true" sz="1800">
                <a:solidFill>
                  <a:srgbClr val="FFFFFF"/>
                </a:solidFill>
                <a:latin typeface="Poppins Bold"/>
                <a:ea typeface="Poppins Bold"/>
                <a:cs typeface="Poppins Bold"/>
                <a:sym typeface="Poppins Bold"/>
              </a:rPr>
              <a:t>5</a:t>
            </a:r>
          </a:p>
        </p:txBody>
      </p:sp>
      <p:sp>
        <p:nvSpPr>
          <p:cNvPr name="TextBox 39" id="39"/>
          <p:cNvSpPr txBox="true"/>
          <p:nvPr/>
        </p:nvSpPr>
        <p:spPr>
          <a:xfrm rot="0">
            <a:off x="12427222" y="5672045"/>
            <a:ext cx="215622" cy="325755"/>
          </a:xfrm>
          <a:prstGeom prst="rect">
            <a:avLst/>
          </a:prstGeom>
        </p:spPr>
        <p:txBody>
          <a:bodyPr anchor="t" rtlCol="false" tIns="0" lIns="0" bIns="0" rIns="0">
            <a:spAutoFit/>
          </a:bodyPr>
          <a:lstStyle/>
          <a:p>
            <a:pPr algn="ctr" marL="0" indent="0" lvl="0">
              <a:lnSpc>
                <a:spcPts val="2520"/>
              </a:lnSpc>
            </a:pPr>
            <a:r>
              <a:rPr lang="en-US" b="true" sz="1800">
                <a:solidFill>
                  <a:srgbClr val="FFFFFF"/>
                </a:solidFill>
                <a:latin typeface="Poppins Bold"/>
                <a:ea typeface="Poppins Bold"/>
                <a:cs typeface="Poppins Bold"/>
                <a:sym typeface="Poppins Bold"/>
              </a:rPr>
              <a:t>6</a:t>
            </a:r>
          </a:p>
        </p:txBody>
      </p:sp>
      <p:sp>
        <p:nvSpPr>
          <p:cNvPr name="TextBox 40" id="40"/>
          <p:cNvSpPr txBox="true"/>
          <p:nvPr/>
        </p:nvSpPr>
        <p:spPr>
          <a:xfrm rot="0">
            <a:off x="12954428" y="2925151"/>
            <a:ext cx="3831439" cy="1897380"/>
          </a:xfrm>
          <a:prstGeom prst="rect">
            <a:avLst/>
          </a:prstGeom>
        </p:spPr>
        <p:txBody>
          <a:bodyPr anchor="t" rtlCol="false" tIns="0" lIns="0" bIns="0" rIns="0">
            <a:spAutoFit/>
          </a:bodyPr>
          <a:lstStyle/>
          <a:p>
            <a:pPr algn="just" marL="0" indent="0" lvl="0">
              <a:lnSpc>
                <a:spcPts val="2520"/>
              </a:lnSpc>
            </a:pPr>
            <a:r>
              <a:rPr lang="en-US" sz="1800">
                <a:solidFill>
                  <a:srgbClr val="181216"/>
                </a:solidFill>
                <a:latin typeface="Poppins"/>
                <a:ea typeface="Poppins"/>
                <a:cs typeface="Poppins"/>
                <a:sym typeface="Poppins"/>
              </a:rPr>
              <a:t>Interpréter les résultats avec des métriques appropriées : Accuracy, Precision, Recall, F1-score et ROC-AUC. Formuler des recommandations basées sur l'analyse des performances.</a:t>
            </a:r>
          </a:p>
        </p:txBody>
      </p:sp>
      <p:sp>
        <p:nvSpPr>
          <p:cNvPr name="TextBox 41" id="41"/>
          <p:cNvSpPr txBox="true"/>
          <p:nvPr/>
        </p:nvSpPr>
        <p:spPr>
          <a:xfrm rot="0">
            <a:off x="12954428" y="2556486"/>
            <a:ext cx="3512313" cy="325755"/>
          </a:xfrm>
          <a:prstGeom prst="rect">
            <a:avLst/>
          </a:prstGeom>
        </p:spPr>
        <p:txBody>
          <a:bodyPr anchor="t" rtlCol="false" tIns="0" lIns="0" bIns="0" rIns="0">
            <a:spAutoFit/>
          </a:bodyPr>
          <a:lstStyle/>
          <a:p>
            <a:pPr algn="just" marL="0" indent="0" lvl="0">
              <a:lnSpc>
                <a:spcPts val="2520"/>
              </a:lnSpc>
            </a:pPr>
            <a:r>
              <a:rPr lang="en-US" b="true" sz="1800">
                <a:solidFill>
                  <a:srgbClr val="1D4ABD"/>
                </a:solidFill>
                <a:latin typeface="Poppins Bold"/>
                <a:ea typeface="Poppins Bold"/>
                <a:cs typeface="Poppins Bold"/>
                <a:sym typeface="Poppins Bold"/>
              </a:rPr>
              <a:t>Évaluation des Modèles</a:t>
            </a:r>
          </a:p>
        </p:txBody>
      </p:sp>
      <p:sp>
        <p:nvSpPr>
          <p:cNvPr name="TextBox 42" id="42"/>
          <p:cNvSpPr txBox="true"/>
          <p:nvPr/>
        </p:nvSpPr>
        <p:spPr>
          <a:xfrm rot="0">
            <a:off x="12954428" y="5614095"/>
            <a:ext cx="3831439" cy="325755"/>
          </a:xfrm>
          <a:prstGeom prst="rect">
            <a:avLst/>
          </a:prstGeom>
        </p:spPr>
        <p:txBody>
          <a:bodyPr anchor="t" rtlCol="false" tIns="0" lIns="0" bIns="0" rIns="0">
            <a:spAutoFit/>
          </a:bodyPr>
          <a:lstStyle/>
          <a:p>
            <a:pPr algn="just" marL="0" indent="0" lvl="0">
              <a:lnSpc>
                <a:spcPts val="2520"/>
              </a:lnSpc>
            </a:pPr>
            <a:r>
              <a:rPr lang="en-US" b="true" sz="1800">
                <a:solidFill>
                  <a:srgbClr val="1D4ABD"/>
                </a:solidFill>
                <a:latin typeface="Poppins Bold"/>
                <a:ea typeface="Poppins Bold"/>
                <a:cs typeface="Poppins Bold"/>
                <a:sym typeface="Poppins Bold"/>
              </a:rPr>
              <a:t>Déploiement Opérationnel</a:t>
            </a:r>
          </a:p>
        </p:txBody>
      </p:sp>
      <p:sp>
        <p:nvSpPr>
          <p:cNvPr name="TextBox 43" id="43"/>
          <p:cNvSpPr txBox="true"/>
          <p:nvPr/>
        </p:nvSpPr>
        <p:spPr>
          <a:xfrm rot="0">
            <a:off x="17259300" y="9429750"/>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76919" y="1401247"/>
            <a:ext cx="9264190" cy="1538489"/>
          </a:xfrm>
          <a:prstGeom prst="rect">
            <a:avLst/>
          </a:prstGeom>
        </p:spPr>
        <p:txBody>
          <a:bodyPr anchor="t" rtlCol="false" tIns="0" lIns="0" bIns="0" rIns="0">
            <a:spAutoFit/>
          </a:bodyPr>
          <a:lstStyle/>
          <a:p>
            <a:pPr algn="l" marL="0" indent="0" lvl="0">
              <a:lnSpc>
                <a:spcPts val="5801"/>
              </a:lnSpc>
            </a:pPr>
            <a:r>
              <a:rPr lang="en-US" b="true" sz="5274">
                <a:solidFill>
                  <a:srgbClr val="1D4ABD"/>
                </a:solidFill>
                <a:latin typeface="Poppins Bold"/>
                <a:ea typeface="Poppins Bold"/>
                <a:cs typeface="Poppins Bold"/>
                <a:sym typeface="Poppins Bold"/>
              </a:rPr>
              <a:t>Configuration de l'Environnement de Travail</a:t>
            </a:r>
          </a:p>
        </p:txBody>
      </p:sp>
      <p:sp>
        <p:nvSpPr>
          <p:cNvPr name="TextBox 3" id="3"/>
          <p:cNvSpPr txBox="true"/>
          <p:nvPr/>
        </p:nvSpPr>
        <p:spPr>
          <a:xfrm rot="0">
            <a:off x="1576919" y="4585459"/>
            <a:ext cx="5930475" cy="4939811"/>
          </a:xfrm>
          <a:prstGeom prst="rect">
            <a:avLst/>
          </a:prstGeom>
        </p:spPr>
        <p:txBody>
          <a:bodyPr anchor="t" rtlCol="false" tIns="0" lIns="0" bIns="0" rIns="0">
            <a:spAutoFit/>
          </a:bodyPr>
          <a:lstStyle/>
          <a:p>
            <a:pPr algn="just" marL="0" indent="0" lvl="0">
              <a:lnSpc>
                <a:spcPts val="3589"/>
              </a:lnSpc>
            </a:pPr>
            <a:r>
              <a:rPr lang="en-US" sz="2564">
                <a:solidFill>
                  <a:srgbClr val="181216"/>
                </a:solidFill>
                <a:latin typeface="Poppins"/>
                <a:ea typeface="Poppins"/>
                <a:cs typeface="Poppins"/>
                <a:sym typeface="Poppins"/>
              </a:rPr>
              <a:t>• Visual Studio Code (VS Code) : éditeur de code puissant et extensible</a:t>
            </a:r>
          </a:p>
          <a:p>
            <a:pPr algn="just" marL="0" indent="0" lvl="0">
              <a:lnSpc>
                <a:spcPts val="3589"/>
              </a:lnSpc>
            </a:pPr>
            <a:r>
              <a:rPr lang="en-US" sz="2564">
                <a:solidFill>
                  <a:srgbClr val="181216"/>
                </a:solidFill>
                <a:latin typeface="Poppins"/>
                <a:ea typeface="Poppins"/>
                <a:cs typeface="Poppins"/>
                <a:sym typeface="Poppins"/>
              </a:rPr>
              <a:t>• Git / GitHub : contrôle de version et collaboration</a:t>
            </a:r>
          </a:p>
          <a:p>
            <a:pPr algn="just" marL="0" indent="0" lvl="0">
              <a:lnSpc>
                <a:spcPts val="3589"/>
              </a:lnSpc>
            </a:pPr>
            <a:r>
              <a:rPr lang="en-US" sz="2564">
                <a:solidFill>
                  <a:srgbClr val="181216"/>
                </a:solidFill>
                <a:latin typeface="Poppins"/>
                <a:ea typeface="Poppins"/>
                <a:cs typeface="Poppins"/>
                <a:sym typeface="Poppins"/>
              </a:rPr>
              <a:t>• Reproductibilité des expériences garantie</a:t>
            </a:r>
          </a:p>
          <a:p>
            <a:pPr algn="just" marL="0" indent="0" lvl="0">
              <a:lnSpc>
                <a:spcPts val="3589"/>
              </a:lnSpc>
            </a:pPr>
            <a:r>
              <a:rPr lang="en-US" sz="2564">
                <a:solidFill>
                  <a:srgbClr val="181216"/>
                </a:solidFill>
                <a:latin typeface="Poppins"/>
                <a:ea typeface="Poppins"/>
                <a:cs typeface="Poppins"/>
                <a:sym typeface="Poppins"/>
              </a:rPr>
              <a:t>• Traçabilité complète des modifications</a:t>
            </a:r>
          </a:p>
          <a:p>
            <a:pPr algn="just" marL="0" indent="0" lvl="0">
              <a:lnSpc>
                <a:spcPts val="3589"/>
              </a:lnSpc>
            </a:pPr>
            <a:r>
              <a:rPr lang="en-US" sz="2564">
                <a:solidFill>
                  <a:srgbClr val="181216"/>
                </a:solidFill>
                <a:latin typeface="Poppins"/>
                <a:ea typeface="Poppins"/>
                <a:cs typeface="Poppins"/>
                <a:sym typeface="Poppins"/>
              </a:rPr>
              <a:t>• Collaboration facilitée entre membres de l'équipe</a:t>
            </a:r>
          </a:p>
        </p:txBody>
      </p:sp>
      <p:sp>
        <p:nvSpPr>
          <p:cNvPr name="TextBox 4" id="4"/>
          <p:cNvSpPr txBox="true"/>
          <p:nvPr/>
        </p:nvSpPr>
        <p:spPr>
          <a:xfrm rot="0">
            <a:off x="1576919" y="3152689"/>
            <a:ext cx="5384254" cy="689463"/>
          </a:xfrm>
          <a:prstGeom prst="rect">
            <a:avLst/>
          </a:prstGeom>
        </p:spPr>
        <p:txBody>
          <a:bodyPr anchor="t" rtlCol="false" tIns="0" lIns="0" bIns="0" rIns="0">
            <a:spAutoFit/>
          </a:bodyPr>
          <a:lstStyle/>
          <a:p>
            <a:pPr algn="just" marL="0" indent="0" lvl="0">
              <a:lnSpc>
                <a:spcPts val="5324"/>
              </a:lnSpc>
            </a:pPr>
            <a:r>
              <a:rPr lang="en-US" b="true" sz="3803">
                <a:solidFill>
                  <a:srgbClr val="1D4ABD"/>
                </a:solidFill>
                <a:latin typeface="Poppins Bold"/>
                <a:ea typeface="Poppins Bold"/>
                <a:cs typeface="Poppins Bold"/>
                <a:sym typeface="Poppins Bold"/>
              </a:rPr>
              <a:t>Outils et Objectifs</a:t>
            </a:r>
          </a:p>
        </p:txBody>
      </p:sp>
      <p:grpSp>
        <p:nvGrpSpPr>
          <p:cNvPr name="Group 5" id="5"/>
          <p:cNvGrpSpPr/>
          <p:nvPr/>
        </p:nvGrpSpPr>
        <p:grpSpPr>
          <a:xfrm rot="7082712">
            <a:off x="13833336" y="3897795"/>
            <a:ext cx="12213453" cy="12081047"/>
            <a:chOff x="0" y="0"/>
            <a:chExt cx="1881515" cy="1861118"/>
          </a:xfrm>
        </p:grpSpPr>
        <p:sp>
          <p:nvSpPr>
            <p:cNvPr name="Freeform 6" id="6"/>
            <p:cNvSpPr/>
            <p:nvPr/>
          </p:nvSpPr>
          <p:spPr>
            <a:xfrm flipH="false" flipV="false" rot="0">
              <a:off x="3926" y="0"/>
              <a:ext cx="1873662" cy="1861118"/>
            </a:xfrm>
            <a:custGeom>
              <a:avLst/>
              <a:gdLst/>
              <a:ahLst/>
              <a:cxnLst/>
              <a:rect r="r" b="b" t="t" l="l"/>
              <a:pathLst>
                <a:path h="1861118" w="1873662">
                  <a:moveTo>
                    <a:pt x="237307" y="0"/>
                  </a:moveTo>
                  <a:lnTo>
                    <a:pt x="1839556" y="0"/>
                  </a:lnTo>
                  <a:cubicBezTo>
                    <a:pt x="1849246" y="0"/>
                    <a:pt x="1858479" y="4122"/>
                    <a:pt x="1864948" y="11336"/>
                  </a:cubicBezTo>
                  <a:cubicBezTo>
                    <a:pt x="1871417" y="18550"/>
                    <a:pt x="1874513" y="28176"/>
                    <a:pt x="1873461" y="37808"/>
                  </a:cubicBezTo>
                  <a:lnTo>
                    <a:pt x="1678517" y="1823309"/>
                  </a:lnTo>
                  <a:cubicBezTo>
                    <a:pt x="1676168" y="1844823"/>
                    <a:pt x="1657998" y="1861118"/>
                    <a:pt x="1636356" y="1861118"/>
                  </a:cubicBezTo>
                  <a:lnTo>
                    <a:pt x="34107" y="1861118"/>
                  </a:lnTo>
                  <a:cubicBezTo>
                    <a:pt x="24417" y="1861118"/>
                    <a:pt x="15184" y="1856996"/>
                    <a:pt x="8715" y="1849782"/>
                  </a:cubicBezTo>
                  <a:cubicBezTo>
                    <a:pt x="2246" y="1842568"/>
                    <a:pt x="-850" y="1832942"/>
                    <a:pt x="202" y="1823309"/>
                  </a:cubicBezTo>
                  <a:lnTo>
                    <a:pt x="195146" y="37808"/>
                  </a:lnTo>
                  <a:cubicBezTo>
                    <a:pt x="197495" y="16295"/>
                    <a:pt x="215665" y="0"/>
                    <a:pt x="237307" y="0"/>
                  </a:cubicBezTo>
                  <a:close/>
                </a:path>
              </a:pathLst>
            </a:custGeom>
            <a:gradFill rotWithShape="true">
              <a:gsLst>
                <a:gs pos="0">
                  <a:srgbClr val="2B79FF">
                    <a:alpha val="100000"/>
                  </a:srgbClr>
                </a:gs>
                <a:gs pos="100000">
                  <a:srgbClr val="0D1296">
                    <a:alpha val="100000"/>
                  </a:srgbClr>
                </a:gs>
              </a:gsLst>
              <a:lin ang="0"/>
            </a:gradFill>
          </p:spPr>
        </p:sp>
        <p:sp>
          <p:nvSpPr>
            <p:cNvPr name="TextBox 7" id="7"/>
            <p:cNvSpPr txBox="true"/>
            <p:nvPr/>
          </p:nvSpPr>
          <p:spPr>
            <a:xfrm>
              <a:off x="101600" y="-38100"/>
              <a:ext cx="1678315" cy="189921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7082712">
            <a:off x="5630921" y="6700602"/>
            <a:ext cx="12213453" cy="3244599"/>
            <a:chOff x="0" y="0"/>
            <a:chExt cx="1881515" cy="499839"/>
          </a:xfrm>
        </p:grpSpPr>
        <p:sp>
          <p:nvSpPr>
            <p:cNvPr name="Freeform 9" id="9"/>
            <p:cNvSpPr/>
            <p:nvPr/>
          </p:nvSpPr>
          <p:spPr>
            <a:xfrm flipH="false" flipV="false" rot="0">
              <a:off x="12439" y="0"/>
              <a:ext cx="1856637" cy="499839"/>
            </a:xfrm>
            <a:custGeom>
              <a:avLst/>
              <a:gdLst/>
              <a:ahLst/>
              <a:cxnLst/>
              <a:rect r="r" b="b" t="t" l="l"/>
              <a:pathLst>
                <a:path h="499839" w="1856637">
                  <a:moveTo>
                    <a:pt x="228794" y="0"/>
                  </a:moveTo>
                  <a:lnTo>
                    <a:pt x="1831043" y="0"/>
                  </a:lnTo>
                  <a:cubicBezTo>
                    <a:pt x="1839561" y="0"/>
                    <a:pt x="1847521" y="4238"/>
                    <a:pt x="1852277" y="11305"/>
                  </a:cubicBezTo>
                  <a:cubicBezTo>
                    <a:pt x="1857033" y="18372"/>
                    <a:pt x="1857961" y="27342"/>
                    <a:pt x="1854753" y="35233"/>
                  </a:cubicBezTo>
                  <a:lnTo>
                    <a:pt x="1680199" y="464606"/>
                  </a:lnTo>
                  <a:cubicBezTo>
                    <a:pt x="1671540" y="485908"/>
                    <a:pt x="1650837" y="499839"/>
                    <a:pt x="1627843" y="499839"/>
                  </a:cubicBezTo>
                  <a:lnTo>
                    <a:pt x="25594" y="499839"/>
                  </a:lnTo>
                  <a:cubicBezTo>
                    <a:pt x="17076" y="499839"/>
                    <a:pt x="9116" y="495601"/>
                    <a:pt x="4360" y="488534"/>
                  </a:cubicBezTo>
                  <a:cubicBezTo>
                    <a:pt x="-396" y="481467"/>
                    <a:pt x="-1324" y="472497"/>
                    <a:pt x="1884" y="464606"/>
                  </a:cubicBezTo>
                  <a:lnTo>
                    <a:pt x="176438" y="35233"/>
                  </a:lnTo>
                  <a:cubicBezTo>
                    <a:pt x="185097" y="13931"/>
                    <a:pt x="205800" y="0"/>
                    <a:pt x="228794" y="0"/>
                  </a:cubicBezTo>
                  <a:close/>
                </a:path>
              </a:pathLst>
            </a:custGeom>
            <a:gradFill rotWithShape="true">
              <a:gsLst>
                <a:gs pos="0">
                  <a:srgbClr val="2B79FF">
                    <a:alpha val="100000"/>
                  </a:srgbClr>
                </a:gs>
                <a:gs pos="100000">
                  <a:srgbClr val="0D1296">
                    <a:alpha val="100000"/>
                  </a:srgbClr>
                </a:gs>
              </a:gsLst>
              <a:lin ang="0"/>
            </a:gradFill>
          </p:spPr>
        </p:sp>
        <p:sp>
          <p:nvSpPr>
            <p:cNvPr name="TextBox 10" id="10"/>
            <p:cNvSpPr txBox="true"/>
            <p:nvPr/>
          </p:nvSpPr>
          <p:spPr>
            <a:xfrm>
              <a:off x="101600" y="-38100"/>
              <a:ext cx="1678315" cy="53793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2098867"/>
            <a:ext cx="10343095" cy="7729911"/>
          </a:xfrm>
          <a:custGeom>
            <a:avLst/>
            <a:gdLst/>
            <a:ahLst/>
            <a:cxnLst/>
            <a:rect r="r" b="b" t="t" l="l"/>
            <a:pathLst>
              <a:path h="7729911" w="10343095">
                <a:moveTo>
                  <a:pt x="0" y="0"/>
                </a:moveTo>
                <a:lnTo>
                  <a:pt x="10343095" y="0"/>
                </a:lnTo>
                <a:lnTo>
                  <a:pt x="10343095" y="7729910"/>
                </a:lnTo>
                <a:lnTo>
                  <a:pt x="0" y="7729910"/>
                </a:lnTo>
                <a:lnTo>
                  <a:pt x="0" y="0"/>
                </a:lnTo>
                <a:close/>
              </a:path>
            </a:pathLst>
          </a:custGeom>
          <a:blipFill>
            <a:blip r:embed="rId3"/>
            <a:stretch>
              <a:fillRect l="0" t="0" r="0" b="0"/>
            </a:stretch>
          </a:blipFill>
        </p:spPr>
      </p:sp>
      <p:sp>
        <p:nvSpPr>
          <p:cNvPr name="TextBox 3" id="3"/>
          <p:cNvSpPr txBox="true"/>
          <p:nvPr/>
        </p:nvSpPr>
        <p:spPr>
          <a:xfrm rot="0">
            <a:off x="15034325" y="965066"/>
            <a:ext cx="2224975" cy="400056"/>
          </a:xfrm>
          <a:prstGeom prst="rect">
            <a:avLst/>
          </a:prstGeom>
        </p:spPr>
        <p:txBody>
          <a:bodyPr anchor="t" rtlCol="false" tIns="0" lIns="0" bIns="0" rIns="0">
            <a:spAutoFit/>
          </a:bodyPr>
          <a:lstStyle/>
          <a:p>
            <a:pPr algn="r" marL="0" indent="0" lvl="0">
              <a:lnSpc>
                <a:spcPts val="3149"/>
              </a:lnSpc>
              <a:spcBef>
                <a:spcPct val="0"/>
              </a:spcBef>
            </a:pPr>
            <a:r>
              <a:rPr lang="en-US" sz="2249">
                <a:solidFill>
                  <a:srgbClr val="FFFFFF"/>
                </a:solidFill>
                <a:latin typeface="Poppins"/>
                <a:ea typeface="Poppins"/>
                <a:cs typeface="Poppins"/>
                <a:sym typeface="Poppins"/>
              </a:rPr>
              <a:t>Conclusion</a:t>
            </a:r>
          </a:p>
        </p:txBody>
      </p:sp>
      <p:sp>
        <p:nvSpPr>
          <p:cNvPr name="TextBox 4" id="4"/>
          <p:cNvSpPr txBox="true"/>
          <p:nvPr/>
        </p:nvSpPr>
        <p:spPr>
          <a:xfrm rot="0">
            <a:off x="1028700" y="940241"/>
            <a:ext cx="8417276" cy="859287"/>
          </a:xfrm>
          <a:prstGeom prst="rect">
            <a:avLst/>
          </a:prstGeom>
        </p:spPr>
        <p:txBody>
          <a:bodyPr anchor="t" rtlCol="false" tIns="0" lIns="0" bIns="0" rIns="0">
            <a:spAutoFit/>
          </a:bodyPr>
          <a:lstStyle/>
          <a:p>
            <a:pPr algn="l" marL="0" indent="0" lvl="0">
              <a:lnSpc>
                <a:spcPts val="6219"/>
              </a:lnSpc>
            </a:pPr>
            <a:r>
              <a:rPr lang="en-US" b="true" sz="5758">
                <a:solidFill>
                  <a:srgbClr val="1D4ABD"/>
                </a:solidFill>
                <a:latin typeface="Poppins Bold"/>
                <a:ea typeface="Poppins Bold"/>
                <a:cs typeface="Poppins Bold"/>
                <a:sym typeface="Poppins Bold"/>
              </a:rPr>
              <a:t>Structure du Projet</a:t>
            </a:r>
          </a:p>
        </p:txBody>
      </p:sp>
      <p:sp>
        <p:nvSpPr>
          <p:cNvPr name="TextBox 5" id="5"/>
          <p:cNvSpPr txBox="true"/>
          <p:nvPr/>
        </p:nvSpPr>
        <p:spPr>
          <a:xfrm rot="0">
            <a:off x="17259300" y="9363075"/>
            <a:ext cx="152400" cy="200025"/>
          </a:xfrm>
          <a:prstGeom prst="rect">
            <a:avLst/>
          </a:prstGeom>
        </p:spPr>
        <p:txBody>
          <a:bodyPr anchor="t" rtlCol="false" tIns="0" lIns="0" bIns="0" rIns="0" wrap="none">
            <a:spAutoFit/>
          </a:bodyPr>
          <a:lstStyle/>
          <a:p>
            <a:pPr algn="ctr">
              <a:lnSpc>
                <a:spcPts val="3219"/>
              </a:lnSpc>
              <a:spcBef>
                <a:spcPct val="0"/>
              </a:spcBef>
            </a:pPr>
            <a:r>
              <a:rPr lang="en-US" sz="2299">
                <a:solidFill>
                  <a:srgbClr val="000000"/>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240322" y="9305108"/>
            <a:ext cx="19007579" cy="4876938"/>
            <a:chOff x="0" y="0"/>
            <a:chExt cx="2375880" cy="609600"/>
          </a:xfrm>
        </p:grpSpPr>
        <p:sp>
          <p:nvSpPr>
            <p:cNvPr name="Freeform 3" id="3"/>
            <p:cNvSpPr/>
            <p:nvPr/>
          </p:nvSpPr>
          <p:spPr>
            <a:xfrm flipH="false" flipV="false" rot="0">
              <a:off x="6824" y="0"/>
              <a:ext cx="2362232" cy="609600"/>
            </a:xfrm>
            <a:custGeom>
              <a:avLst/>
              <a:gdLst/>
              <a:ahLst/>
              <a:cxnLst/>
              <a:rect r="r" b="b" t="t" l="l"/>
              <a:pathLst>
                <a:path h="609600" w="2362232">
                  <a:moveTo>
                    <a:pt x="220814" y="0"/>
                  </a:moveTo>
                  <a:lnTo>
                    <a:pt x="2344618" y="0"/>
                  </a:lnTo>
                  <a:cubicBezTo>
                    <a:pt x="2350280" y="0"/>
                    <a:pt x="2355596" y="2722"/>
                    <a:pt x="2358907" y="7315"/>
                  </a:cubicBezTo>
                  <a:cubicBezTo>
                    <a:pt x="2362218" y="11908"/>
                    <a:pt x="2363118" y="17813"/>
                    <a:pt x="2361328" y="23184"/>
                  </a:cubicBezTo>
                  <a:lnTo>
                    <a:pt x="2173584" y="586416"/>
                  </a:lnTo>
                  <a:cubicBezTo>
                    <a:pt x="2168969" y="600261"/>
                    <a:pt x="2156012" y="609600"/>
                    <a:pt x="2141418" y="609600"/>
                  </a:cubicBezTo>
                  <a:lnTo>
                    <a:pt x="17614" y="609600"/>
                  </a:lnTo>
                  <a:cubicBezTo>
                    <a:pt x="11952" y="609600"/>
                    <a:pt x="6636" y="606878"/>
                    <a:pt x="3325" y="602285"/>
                  </a:cubicBezTo>
                  <a:cubicBezTo>
                    <a:pt x="14" y="597692"/>
                    <a:pt x="-886" y="591787"/>
                    <a:pt x="904" y="586416"/>
                  </a:cubicBezTo>
                  <a:lnTo>
                    <a:pt x="188648" y="23184"/>
                  </a:lnTo>
                  <a:cubicBezTo>
                    <a:pt x="193263" y="9339"/>
                    <a:pt x="206220" y="0"/>
                    <a:pt x="220814" y="0"/>
                  </a:cubicBezTo>
                  <a:close/>
                </a:path>
              </a:pathLst>
            </a:custGeom>
            <a:gradFill rotWithShape="true">
              <a:gsLst>
                <a:gs pos="0">
                  <a:srgbClr val="2B79FF">
                    <a:alpha val="100000"/>
                  </a:srgbClr>
                </a:gs>
                <a:gs pos="100000">
                  <a:srgbClr val="0D1296">
                    <a:alpha val="100000"/>
                  </a:srgbClr>
                </a:gs>
              </a:gsLst>
              <a:lin ang="0"/>
            </a:gradFill>
          </p:spPr>
        </p:sp>
        <p:sp>
          <p:nvSpPr>
            <p:cNvPr name="TextBox 4" id="4"/>
            <p:cNvSpPr txBox="true"/>
            <p:nvPr/>
          </p:nvSpPr>
          <p:spPr>
            <a:xfrm>
              <a:off x="101600" y="-38100"/>
              <a:ext cx="2172680" cy="6477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41904" y="8677819"/>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41904" y="9049294"/>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041904" y="9453154"/>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28700" y="4699934"/>
            <a:ext cx="10296319" cy="3140576"/>
          </a:xfrm>
          <a:custGeom>
            <a:avLst/>
            <a:gdLst/>
            <a:ahLst/>
            <a:cxnLst/>
            <a:rect r="r" b="b" t="t" l="l"/>
            <a:pathLst>
              <a:path h="3140576" w="10296319">
                <a:moveTo>
                  <a:pt x="0" y="0"/>
                </a:moveTo>
                <a:lnTo>
                  <a:pt x="10296319" y="0"/>
                </a:lnTo>
                <a:lnTo>
                  <a:pt x="10296319" y="3140576"/>
                </a:lnTo>
                <a:lnTo>
                  <a:pt x="0" y="3140576"/>
                </a:lnTo>
                <a:lnTo>
                  <a:pt x="0" y="0"/>
                </a:lnTo>
                <a:close/>
              </a:path>
            </a:pathLst>
          </a:custGeom>
          <a:blipFill>
            <a:blip r:embed="rId5"/>
            <a:stretch>
              <a:fillRect l="0" t="0" r="0" b="0"/>
            </a:stretch>
          </a:blipFill>
        </p:spPr>
      </p:sp>
      <p:sp>
        <p:nvSpPr>
          <p:cNvPr name="TextBox 9" id="9"/>
          <p:cNvSpPr txBox="true"/>
          <p:nvPr/>
        </p:nvSpPr>
        <p:spPr>
          <a:xfrm rot="0">
            <a:off x="1028700" y="1085850"/>
            <a:ext cx="8652383" cy="1405693"/>
          </a:xfrm>
          <a:prstGeom prst="rect">
            <a:avLst/>
          </a:prstGeom>
        </p:spPr>
        <p:txBody>
          <a:bodyPr anchor="t" rtlCol="false" tIns="0" lIns="0" bIns="0" rIns="0">
            <a:spAutoFit/>
          </a:bodyPr>
          <a:lstStyle/>
          <a:p>
            <a:pPr algn="l" marL="0" indent="0" lvl="0">
              <a:lnSpc>
                <a:spcPts val="5439"/>
              </a:lnSpc>
              <a:spcBef>
                <a:spcPct val="0"/>
              </a:spcBef>
            </a:pPr>
            <a:r>
              <a:rPr lang="en-US" b="true" sz="5131">
                <a:solidFill>
                  <a:srgbClr val="004CCF"/>
                </a:solidFill>
                <a:latin typeface="Aileron Ultra-Bold"/>
                <a:ea typeface="Aileron Ultra-Bold"/>
                <a:cs typeface="Aileron Ultra-Bold"/>
                <a:sym typeface="Aileron Ultra-Bold"/>
              </a:rPr>
              <a:t>Environnement Virtuel Python</a:t>
            </a:r>
          </a:p>
        </p:txBody>
      </p:sp>
      <p:sp>
        <p:nvSpPr>
          <p:cNvPr name="TextBox 10" id="10"/>
          <p:cNvSpPr txBox="true"/>
          <p:nvPr/>
        </p:nvSpPr>
        <p:spPr>
          <a:xfrm rot="0">
            <a:off x="1028700" y="2896945"/>
            <a:ext cx="12661720" cy="1336264"/>
          </a:xfrm>
          <a:prstGeom prst="rect">
            <a:avLst/>
          </a:prstGeom>
        </p:spPr>
        <p:txBody>
          <a:bodyPr anchor="t" rtlCol="false" tIns="0" lIns="0" bIns="0" rIns="0">
            <a:spAutoFit/>
          </a:bodyPr>
          <a:lstStyle/>
          <a:p>
            <a:pPr algn="just" marL="0" indent="0" lvl="0">
              <a:lnSpc>
                <a:spcPts val="3592"/>
              </a:lnSpc>
            </a:pPr>
            <a:r>
              <a:rPr lang="en-US" sz="2566">
                <a:solidFill>
                  <a:srgbClr val="181216"/>
                </a:solidFill>
                <a:latin typeface="Public Sans"/>
                <a:ea typeface="Public Sans"/>
                <a:cs typeface="Public Sans"/>
                <a:sym typeface="Public Sans"/>
              </a:rPr>
              <a:t>L'environnement virtuel Python permet d'isoler les dépendances de chaque projet et de garantir une reproductibilité exacte entre différentes machines. C'est une pratique essentielle pour tout projet de Machine Learning.</a:t>
            </a:r>
          </a:p>
        </p:txBody>
      </p:sp>
      <p:sp>
        <p:nvSpPr>
          <p:cNvPr name="TextBox 11" id="11"/>
          <p:cNvSpPr txBox="true"/>
          <p:nvPr/>
        </p:nvSpPr>
        <p:spPr>
          <a:xfrm rot="0">
            <a:off x="1386196" y="8600415"/>
            <a:ext cx="8881764" cy="324261"/>
          </a:xfrm>
          <a:prstGeom prst="rect">
            <a:avLst/>
          </a:prstGeom>
        </p:spPr>
        <p:txBody>
          <a:bodyPr anchor="t" rtlCol="false" tIns="0" lIns="0" bIns="0" rIns="0">
            <a:spAutoFit/>
          </a:bodyPr>
          <a:lstStyle/>
          <a:p>
            <a:pPr algn="just" marL="0" indent="0" lvl="0">
              <a:lnSpc>
                <a:spcPts val="2602"/>
              </a:lnSpc>
            </a:pPr>
            <a:r>
              <a:rPr lang="en-US" sz="1858">
                <a:solidFill>
                  <a:srgbClr val="181216"/>
                </a:solidFill>
                <a:latin typeface="Public Sans"/>
                <a:ea typeface="Public Sans"/>
                <a:cs typeface="Public Sans"/>
                <a:sym typeface="Public Sans"/>
              </a:rPr>
              <a:t>Isolation complète des dépendances par projet.</a:t>
            </a:r>
          </a:p>
        </p:txBody>
      </p:sp>
      <p:sp>
        <p:nvSpPr>
          <p:cNvPr name="TextBox 12" id="12"/>
          <p:cNvSpPr txBox="true"/>
          <p:nvPr/>
        </p:nvSpPr>
        <p:spPr>
          <a:xfrm rot="0">
            <a:off x="1386196" y="8971890"/>
            <a:ext cx="8881764" cy="324261"/>
          </a:xfrm>
          <a:prstGeom prst="rect">
            <a:avLst/>
          </a:prstGeom>
        </p:spPr>
        <p:txBody>
          <a:bodyPr anchor="t" rtlCol="false" tIns="0" lIns="0" bIns="0" rIns="0">
            <a:spAutoFit/>
          </a:bodyPr>
          <a:lstStyle/>
          <a:p>
            <a:pPr algn="just" marL="0" indent="0" lvl="0">
              <a:lnSpc>
                <a:spcPts val="2602"/>
              </a:lnSpc>
            </a:pPr>
            <a:r>
              <a:rPr lang="en-US" sz="1858">
                <a:solidFill>
                  <a:srgbClr val="181216"/>
                </a:solidFill>
                <a:latin typeface="Public Sans"/>
                <a:ea typeface="Public Sans"/>
                <a:cs typeface="Public Sans"/>
                <a:sym typeface="Public Sans"/>
              </a:rPr>
              <a:t>Reproductibilité garantie sur toutes les machines.</a:t>
            </a:r>
          </a:p>
        </p:txBody>
      </p:sp>
      <p:sp>
        <p:nvSpPr>
          <p:cNvPr name="TextBox 13" id="13"/>
          <p:cNvSpPr txBox="true"/>
          <p:nvPr/>
        </p:nvSpPr>
        <p:spPr>
          <a:xfrm rot="0">
            <a:off x="1386196" y="9375750"/>
            <a:ext cx="8881764" cy="324261"/>
          </a:xfrm>
          <a:prstGeom prst="rect">
            <a:avLst/>
          </a:prstGeom>
        </p:spPr>
        <p:txBody>
          <a:bodyPr anchor="t" rtlCol="false" tIns="0" lIns="0" bIns="0" rIns="0">
            <a:spAutoFit/>
          </a:bodyPr>
          <a:lstStyle/>
          <a:p>
            <a:pPr algn="just" marL="0" indent="0" lvl="0">
              <a:lnSpc>
                <a:spcPts val="2602"/>
              </a:lnSpc>
            </a:pPr>
            <a:r>
              <a:rPr lang="en-US" sz="1858">
                <a:solidFill>
                  <a:srgbClr val="181216"/>
                </a:solidFill>
                <a:latin typeface="Public Sans"/>
                <a:ea typeface="Public Sans"/>
                <a:cs typeface="Public Sans"/>
                <a:sym typeface="Public Sans"/>
              </a:rPr>
              <a:t>Évite les conflits de versions entre bibliothèques.</a:t>
            </a:r>
          </a:p>
        </p:txBody>
      </p:sp>
      <p:sp>
        <p:nvSpPr>
          <p:cNvPr name="TextBox 14" id="14"/>
          <p:cNvSpPr txBox="true"/>
          <p:nvPr/>
        </p:nvSpPr>
        <p:spPr>
          <a:xfrm rot="0">
            <a:off x="1028700" y="8053809"/>
            <a:ext cx="8881764" cy="507414"/>
          </a:xfrm>
          <a:prstGeom prst="rect">
            <a:avLst/>
          </a:prstGeom>
        </p:spPr>
        <p:txBody>
          <a:bodyPr anchor="t" rtlCol="false" tIns="0" lIns="0" bIns="0" rIns="0">
            <a:spAutoFit/>
          </a:bodyPr>
          <a:lstStyle/>
          <a:p>
            <a:pPr algn="just" marL="0" indent="0" lvl="0">
              <a:lnSpc>
                <a:spcPts val="4057"/>
              </a:lnSpc>
            </a:pPr>
            <a:r>
              <a:rPr lang="en-US" b="true" sz="2898">
                <a:solidFill>
                  <a:srgbClr val="004CCF"/>
                </a:solidFill>
                <a:latin typeface="Public Sans Bold"/>
                <a:ea typeface="Public Sans Bold"/>
                <a:cs typeface="Public Sans Bold"/>
                <a:sym typeface="Public Sans Bold"/>
              </a:rPr>
              <a:t>Avantages clés:</a:t>
            </a:r>
          </a:p>
        </p:txBody>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09992" y="8932504"/>
            <a:ext cx="18953602" cy="6042735"/>
            <a:chOff x="0" y="0"/>
            <a:chExt cx="2531226" cy="806999"/>
          </a:xfrm>
        </p:grpSpPr>
        <p:sp>
          <p:nvSpPr>
            <p:cNvPr name="Freeform 3" id="3"/>
            <p:cNvSpPr/>
            <p:nvPr/>
          </p:nvSpPr>
          <p:spPr>
            <a:xfrm flipH="false" flipV="false" rot="0">
              <a:off x="5406" y="0"/>
              <a:ext cx="2520415" cy="806999"/>
            </a:xfrm>
            <a:custGeom>
              <a:avLst/>
              <a:gdLst/>
              <a:ahLst/>
              <a:cxnLst/>
              <a:rect r="r" b="b" t="t" l="l"/>
              <a:pathLst>
                <a:path h="806999" w="2520415">
                  <a:moveTo>
                    <a:pt x="222302" y="0"/>
                  </a:moveTo>
                  <a:lnTo>
                    <a:pt x="2501313" y="0"/>
                  </a:lnTo>
                  <a:cubicBezTo>
                    <a:pt x="2507200" y="0"/>
                    <a:pt x="2512759" y="2715"/>
                    <a:pt x="2516379" y="7359"/>
                  </a:cubicBezTo>
                  <a:cubicBezTo>
                    <a:pt x="2519998" y="12003"/>
                    <a:pt x="2521274" y="18057"/>
                    <a:pt x="2519836" y="23766"/>
                  </a:cubicBezTo>
                  <a:lnTo>
                    <a:pt x="2328605" y="783232"/>
                  </a:lnTo>
                  <a:cubicBezTo>
                    <a:pt x="2325086" y="797205"/>
                    <a:pt x="2312521" y="806999"/>
                    <a:pt x="2298113" y="806999"/>
                  </a:cubicBezTo>
                  <a:lnTo>
                    <a:pt x="19102" y="806999"/>
                  </a:lnTo>
                  <a:cubicBezTo>
                    <a:pt x="13214" y="806999"/>
                    <a:pt x="7655" y="804283"/>
                    <a:pt x="4036" y="799640"/>
                  </a:cubicBezTo>
                  <a:cubicBezTo>
                    <a:pt x="416" y="794996"/>
                    <a:pt x="-859" y="788942"/>
                    <a:pt x="578" y="783232"/>
                  </a:cubicBezTo>
                  <a:lnTo>
                    <a:pt x="191810" y="23766"/>
                  </a:lnTo>
                  <a:cubicBezTo>
                    <a:pt x="195328" y="9793"/>
                    <a:pt x="207893" y="0"/>
                    <a:pt x="222302" y="0"/>
                  </a:cubicBezTo>
                  <a:close/>
                </a:path>
              </a:pathLst>
            </a:custGeom>
            <a:gradFill rotWithShape="true">
              <a:gsLst>
                <a:gs pos="0">
                  <a:srgbClr val="0D1296">
                    <a:alpha val="100000"/>
                  </a:srgbClr>
                </a:gs>
                <a:gs pos="100000">
                  <a:srgbClr val="2B79FF">
                    <a:alpha val="100000"/>
                  </a:srgbClr>
                </a:gs>
              </a:gsLst>
              <a:lin ang="2700000"/>
            </a:gradFill>
          </p:spPr>
        </p:sp>
        <p:sp>
          <p:nvSpPr>
            <p:cNvPr name="TextBox 4" id="4"/>
            <p:cNvSpPr txBox="true"/>
            <p:nvPr/>
          </p:nvSpPr>
          <p:spPr>
            <a:xfrm>
              <a:off x="101600" y="-66675"/>
              <a:ext cx="2328026" cy="873674"/>
            </a:xfrm>
            <a:prstGeom prst="rect">
              <a:avLst/>
            </a:prstGeom>
          </p:spPr>
          <p:txBody>
            <a:bodyPr anchor="ctr" rtlCol="false" tIns="50800" lIns="50800" bIns="50800" rIns="50800"/>
            <a:lstStyle/>
            <a:p>
              <a:pPr algn="ctr" marL="0" indent="0" lvl="0">
                <a:lnSpc>
                  <a:spcPts val="3151"/>
                </a:lnSpc>
              </a:pPr>
            </a:p>
          </p:txBody>
        </p:sp>
      </p:grpSp>
      <p:sp>
        <p:nvSpPr>
          <p:cNvPr name="Freeform 5" id="5"/>
          <p:cNvSpPr/>
          <p:nvPr/>
        </p:nvSpPr>
        <p:spPr>
          <a:xfrm flipH="false" flipV="false" rot="0">
            <a:off x="617761" y="4246278"/>
            <a:ext cx="5912176" cy="2237297"/>
          </a:xfrm>
          <a:custGeom>
            <a:avLst/>
            <a:gdLst/>
            <a:ahLst/>
            <a:cxnLst/>
            <a:rect r="r" b="b" t="t" l="l"/>
            <a:pathLst>
              <a:path h="2237297" w="5912176">
                <a:moveTo>
                  <a:pt x="0" y="0"/>
                </a:moveTo>
                <a:lnTo>
                  <a:pt x="5912176" y="0"/>
                </a:lnTo>
                <a:lnTo>
                  <a:pt x="5912176" y="2237297"/>
                </a:lnTo>
                <a:lnTo>
                  <a:pt x="0" y="2237297"/>
                </a:lnTo>
                <a:lnTo>
                  <a:pt x="0" y="0"/>
                </a:lnTo>
                <a:close/>
              </a:path>
            </a:pathLst>
          </a:custGeom>
          <a:blipFill>
            <a:blip r:embed="rId3"/>
            <a:stretch>
              <a:fillRect l="0" t="0" r="0" b="0"/>
            </a:stretch>
          </a:blipFill>
        </p:spPr>
      </p:sp>
      <p:sp>
        <p:nvSpPr>
          <p:cNvPr name="Freeform 6" id="6"/>
          <p:cNvSpPr/>
          <p:nvPr/>
        </p:nvSpPr>
        <p:spPr>
          <a:xfrm flipH="false" flipV="false" rot="0">
            <a:off x="6529937" y="2240489"/>
            <a:ext cx="11301259" cy="5806022"/>
          </a:xfrm>
          <a:custGeom>
            <a:avLst/>
            <a:gdLst/>
            <a:ahLst/>
            <a:cxnLst/>
            <a:rect r="r" b="b" t="t" l="l"/>
            <a:pathLst>
              <a:path h="5806022" w="11301259">
                <a:moveTo>
                  <a:pt x="0" y="0"/>
                </a:moveTo>
                <a:lnTo>
                  <a:pt x="11301259" y="0"/>
                </a:lnTo>
                <a:lnTo>
                  <a:pt x="11301259" y="5806022"/>
                </a:lnTo>
                <a:lnTo>
                  <a:pt x="0" y="5806022"/>
                </a:lnTo>
                <a:lnTo>
                  <a:pt x="0" y="0"/>
                </a:lnTo>
                <a:close/>
              </a:path>
            </a:pathLst>
          </a:custGeom>
          <a:blipFill>
            <a:blip r:embed="rId4"/>
            <a:stretch>
              <a:fillRect l="0" t="0" r="0" b="0"/>
            </a:stretch>
          </a:blipFill>
        </p:spPr>
      </p:sp>
      <p:sp>
        <p:nvSpPr>
          <p:cNvPr name="TextBox 7" id="7"/>
          <p:cNvSpPr txBox="true"/>
          <p:nvPr/>
        </p:nvSpPr>
        <p:spPr>
          <a:xfrm rot="0">
            <a:off x="538538" y="690851"/>
            <a:ext cx="10348079" cy="719893"/>
          </a:xfrm>
          <a:prstGeom prst="rect">
            <a:avLst/>
          </a:prstGeom>
        </p:spPr>
        <p:txBody>
          <a:bodyPr anchor="t" rtlCol="false" tIns="0" lIns="0" bIns="0" rIns="0">
            <a:spAutoFit/>
          </a:bodyPr>
          <a:lstStyle/>
          <a:p>
            <a:pPr algn="l" marL="0" indent="0" lvl="0">
              <a:lnSpc>
                <a:spcPts val="5439"/>
              </a:lnSpc>
              <a:spcBef>
                <a:spcPct val="0"/>
              </a:spcBef>
            </a:pPr>
            <a:r>
              <a:rPr lang="en-US" b="true" sz="5131">
                <a:solidFill>
                  <a:srgbClr val="004CCF"/>
                </a:solidFill>
                <a:latin typeface="Aileron Ultra-Bold"/>
                <a:ea typeface="Aileron Ultra-Bold"/>
                <a:cs typeface="Aileron Ultra-Bold"/>
                <a:sym typeface="Aileron Ultra-Bold"/>
              </a:rPr>
              <a:t>Gestion des Dépendances</a:t>
            </a:r>
          </a:p>
        </p:txBody>
      </p:sp>
      <p:sp>
        <p:nvSpPr>
          <p:cNvPr name="TextBox 8" id="8"/>
          <p:cNvSpPr txBox="true"/>
          <p:nvPr/>
        </p:nvSpPr>
        <p:spPr>
          <a:xfrm rot="0">
            <a:off x="840628" y="2596011"/>
            <a:ext cx="5039100" cy="1235676"/>
          </a:xfrm>
          <a:prstGeom prst="rect">
            <a:avLst/>
          </a:prstGeom>
        </p:spPr>
        <p:txBody>
          <a:bodyPr anchor="t" rtlCol="false" tIns="0" lIns="0" bIns="0" rIns="0">
            <a:spAutoFit/>
          </a:bodyPr>
          <a:lstStyle/>
          <a:p>
            <a:pPr algn="l">
              <a:lnSpc>
                <a:spcPts val="3291"/>
              </a:lnSpc>
              <a:spcBef>
                <a:spcPct val="0"/>
              </a:spcBef>
            </a:pPr>
            <a:r>
              <a:rPr lang="en-US" sz="2351">
                <a:solidFill>
                  <a:srgbClr val="181216"/>
                </a:solidFill>
                <a:latin typeface="Poppins"/>
                <a:ea typeface="Poppins"/>
                <a:cs typeface="Poppins"/>
                <a:sym typeface="Poppins"/>
              </a:rPr>
              <a:t>Les dépendances du projet sont centralisées dans le fichier requirements.txt.</a:t>
            </a:r>
          </a:p>
        </p:txBody>
      </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grpSp>
        <p:nvGrpSpPr>
          <p:cNvPr name="Group 2" id="2"/>
          <p:cNvGrpSpPr/>
          <p:nvPr/>
        </p:nvGrpSpPr>
        <p:grpSpPr>
          <a:xfrm rot="0">
            <a:off x="6722841" y="9335439"/>
            <a:ext cx="13443024" cy="6549655"/>
            <a:chOff x="0" y="0"/>
            <a:chExt cx="1680330" cy="818684"/>
          </a:xfrm>
        </p:grpSpPr>
        <p:sp>
          <p:nvSpPr>
            <p:cNvPr name="Freeform 3" id="3"/>
            <p:cNvSpPr/>
            <p:nvPr/>
          </p:nvSpPr>
          <p:spPr>
            <a:xfrm flipH="false" flipV="false" rot="0">
              <a:off x="7528" y="0"/>
              <a:ext cx="1665275" cy="818684"/>
            </a:xfrm>
            <a:custGeom>
              <a:avLst/>
              <a:gdLst/>
              <a:ahLst/>
              <a:cxnLst/>
              <a:rect r="r" b="b" t="t" l="l"/>
              <a:pathLst>
                <a:path h="818684" w="1665275">
                  <a:moveTo>
                    <a:pt x="230226" y="0"/>
                  </a:moveTo>
                  <a:lnTo>
                    <a:pt x="1638248" y="0"/>
                  </a:lnTo>
                  <a:cubicBezTo>
                    <a:pt x="1646562" y="0"/>
                    <a:pt x="1654414" y="3827"/>
                    <a:pt x="1659536" y="10376"/>
                  </a:cubicBezTo>
                  <a:cubicBezTo>
                    <a:pt x="1664658" y="16925"/>
                    <a:pt x="1666481" y="25467"/>
                    <a:pt x="1664478" y="33537"/>
                  </a:cubicBezTo>
                  <a:lnTo>
                    <a:pt x="1477926" y="785147"/>
                  </a:lnTo>
                  <a:cubicBezTo>
                    <a:pt x="1473036" y="804849"/>
                    <a:pt x="1455348" y="818684"/>
                    <a:pt x="1435048" y="818684"/>
                  </a:cubicBezTo>
                  <a:lnTo>
                    <a:pt x="27026" y="818684"/>
                  </a:lnTo>
                  <a:cubicBezTo>
                    <a:pt x="18712" y="818684"/>
                    <a:pt x="10860" y="814857"/>
                    <a:pt x="5738" y="808308"/>
                  </a:cubicBezTo>
                  <a:cubicBezTo>
                    <a:pt x="616" y="801759"/>
                    <a:pt x="-1207" y="793216"/>
                    <a:pt x="796" y="785147"/>
                  </a:cubicBezTo>
                  <a:lnTo>
                    <a:pt x="187348" y="33537"/>
                  </a:lnTo>
                  <a:cubicBezTo>
                    <a:pt x="192238" y="13834"/>
                    <a:pt x="209926" y="0"/>
                    <a:pt x="230226" y="0"/>
                  </a:cubicBezTo>
                  <a:close/>
                </a:path>
              </a:pathLst>
            </a:custGeom>
            <a:gradFill rotWithShape="true">
              <a:gsLst>
                <a:gs pos="0">
                  <a:srgbClr val="2B79FF">
                    <a:alpha val="100000"/>
                  </a:srgbClr>
                </a:gs>
                <a:gs pos="100000">
                  <a:srgbClr val="0D1296">
                    <a:alpha val="100000"/>
                  </a:srgbClr>
                </a:gs>
              </a:gsLst>
              <a:lin ang="0"/>
            </a:gradFill>
          </p:spPr>
        </p:sp>
        <p:sp>
          <p:nvSpPr>
            <p:cNvPr name="TextBox 4" id="4"/>
            <p:cNvSpPr txBox="true"/>
            <p:nvPr/>
          </p:nvSpPr>
          <p:spPr>
            <a:xfrm>
              <a:off x="101600" y="-38100"/>
              <a:ext cx="1477130" cy="85678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7825019" y="1580211"/>
            <a:ext cx="10078694" cy="7126578"/>
            <a:chOff x="0" y="0"/>
            <a:chExt cx="2993957" cy="2117007"/>
          </a:xfrm>
        </p:grpSpPr>
        <p:sp>
          <p:nvSpPr>
            <p:cNvPr name="Freeform 6" id="6"/>
            <p:cNvSpPr/>
            <p:nvPr/>
          </p:nvSpPr>
          <p:spPr>
            <a:xfrm flipH="false" flipV="false" rot="0">
              <a:off x="0" y="0"/>
              <a:ext cx="2993957" cy="2117007"/>
            </a:xfrm>
            <a:custGeom>
              <a:avLst/>
              <a:gdLst/>
              <a:ahLst/>
              <a:cxnLst/>
              <a:rect r="r" b="b" t="t" l="l"/>
              <a:pathLst>
                <a:path h="2117007" w="2993957">
                  <a:moveTo>
                    <a:pt x="30726" y="0"/>
                  </a:moveTo>
                  <a:lnTo>
                    <a:pt x="2963231" y="0"/>
                  </a:lnTo>
                  <a:cubicBezTo>
                    <a:pt x="2971380" y="0"/>
                    <a:pt x="2979195" y="3237"/>
                    <a:pt x="2984958" y="8999"/>
                  </a:cubicBezTo>
                  <a:cubicBezTo>
                    <a:pt x="2990720" y="14762"/>
                    <a:pt x="2993957" y="22577"/>
                    <a:pt x="2993957" y="30726"/>
                  </a:cubicBezTo>
                  <a:lnTo>
                    <a:pt x="2993957" y="2086281"/>
                  </a:lnTo>
                  <a:cubicBezTo>
                    <a:pt x="2993957" y="2103251"/>
                    <a:pt x="2980200" y="2117007"/>
                    <a:pt x="2963231" y="2117007"/>
                  </a:cubicBezTo>
                  <a:lnTo>
                    <a:pt x="30726" y="2117007"/>
                  </a:lnTo>
                  <a:cubicBezTo>
                    <a:pt x="13756" y="2117007"/>
                    <a:pt x="0" y="2103251"/>
                    <a:pt x="0" y="2086281"/>
                  </a:cubicBezTo>
                  <a:lnTo>
                    <a:pt x="0" y="30726"/>
                  </a:lnTo>
                  <a:cubicBezTo>
                    <a:pt x="0" y="13756"/>
                    <a:pt x="13756" y="0"/>
                    <a:pt x="30726" y="0"/>
                  </a:cubicBezTo>
                  <a:close/>
                </a:path>
              </a:pathLst>
            </a:custGeom>
            <a:solidFill>
              <a:srgbClr val="F2F2F2"/>
            </a:solidFill>
          </p:spPr>
        </p:sp>
        <p:sp>
          <p:nvSpPr>
            <p:cNvPr name="TextBox 7" id="7"/>
            <p:cNvSpPr txBox="true"/>
            <p:nvPr/>
          </p:nvSpPr>
          <p:spPr>
            <a:xfrm>
              <a:off x="0" y="-47625"/>
              <a:ext cx="2993957" cy="2164632"/>
            </a:xfrm>
            <a:prstGeom prst="rect">
              <a:avLst/>
            </a:prstGeom>
          </p:spPr>
          <p:txBody>
            <a:bodyPr anchor="ctr" rtlCol="false" tIns="35098" lIns="35098" bIns="35098" rIns="35098"/>
            <a:lstStyle/>
            <a:p>
              <a:pPr algn="ctr" marL="0" indent="0" lvl="0">
                <a:lnSpc>
                  <a:spcPts val="3257"/>
                </a:lnSpc>
              </a:pPr>
            </a:p>
          </p:txBody>
        </p:sp>
      </p:grpSp>
      <p:sp>
        <p:nvSpPr>
          <p:cNvPr name="Freeform 8" id="8"/>
          <p:cNvSpPr/>
          <p:nvPr/>
        </p:nvSpPr>
        <p:spPr>
          <a:xfrm flipH="false" flipV="false" rot="0">
            <a:off x="8815009" y="2159564"/>
            <a:ext cx="871971" cy="1083785"/>
          </a:xfrm>
          <a:custGeom>
            <a:avLst/>
            <a:gdLst/>
            <a:ahLst/>
            <a:cxnLst/>
            <a:rect r="r" b="b" t="t" l="l"/>
            <a:pathLst>
              <a:path h="1083785" w="871971">
                <a:moveTo>
                  <a:pt x="0" y="0"/>
                </a:moveTo>
                <a:lnTo>
                  <a:pt x="871971" y="0"/>
                </a:lnTo>
                <a:lnTo>
                  <a:pt x="871971" y="1083785"/>
                </a:lnTo>
                <a:lnTo>
                  <a:pt x="0" y="1083785"/>
                </a:lnTo>
                <a:lnTo>
                  <a:pt x="0" y="0"/>
                </a:lnTo>
                <a:close/>
              </a:path>
            </a:pathLst>
          </a:custGeom>
          <a:blipFill>
            <a:blip r:embed="rId3"/>
            <a:stretch>
              <a:fillRect l="0" t="0" r="0" b="0"/>
            </a:stretch>
          </a:blipFill>
        </p:spPr>
      </p:sp>
      <p:sp>
        <p:nvSpPr>
          <p:cNvPr name="Freeform 9" id="9"/>
          <p:cNvSpPr/>
          <p:nvPr/>
        </p:nvSpPr>
        <p:spPr>
          <a:xfrm flipH="false" flipV="false" rot="0">
            <a:off x="8584854" y="3555397"/>
            <a:ext cx="1197673" cy="1194562"/>
          </a:xfrm>
          <a:custGeom>
            <a:avLst/>
            <a:gdLst/>
            <a:ahLst/>
            <a:cxnLst/>
            <a:rect r="r" b="b" t="t" l="l"/>
            <a:pathLst>
              <a:path h="1194562" w="1197673">
                <a:moveTo>
                  <a:pt x="0" y="0"/>
                </a:moveTo>
                <a:lnTo>
                  <a:pt x="1197673" y="0"/>
                </a:lnTo>
                <a:lnTo>
                  <a:pt x="1197673" y="1194562"/>
                </a:lnTo>
                <a:lnTo>
                  <a:pt x="0" y="1194562"/>
                </a:lnTo>
                <a:lnTo>
                  <a:pt x="0" y="0"/>
                </a:lnTo>
                <a:close/>
              </a:path>
            </a:pathLst>
          </a:custGeom>
          <a:blipFill>
            <a:blip r:embed="rId4"/>
            <a:stretch>
              <a:fillRect l="0" t="0" r="0" b="0"/>
            </a:stretch>
          </a:blipFill>
        </p:spPr>
      </p:sp>
      <p:sp>
        <p:nvSpPr>
          <p:cNvPr name="Freeform 10" id="10"/>
          <p:cNvSpPr/>
          <p:nvPr/>
        </p:nvSpPr>
        <p:spPr>
          <a:xfrm flipH="false" flipV="false" rot="0">
            <a:off x="8481815" y="7109953"/>
            <a:ext cx="1251810" cy="963127"/>
          </a:xfrm>
          <a:custGeom>
            <a:avLst/>
            <a:gdLst/>
            <a:ahLst/>
            <a:cxnLst/>
            <a:rect r="r" b="b" t="t" l="l"/>
            <a:pathLst>
              <a:path h="963127" w="1251810">
                <a:moveTo>
                  <a:pt x="0" y="0"/>
                </a:moveTo>
                <a:lnTo>
                  <a:pt x="1251810" y="0"/>
                </a:lnTo>
                <a:lnTo>
                  <a:pt x="1251810" y="963127"/>
                </a:lnTo>
                <a:lnTo>
                  <a:pt x="0" y="963127"/>
                </a:lnTo>
                <a:lnTo>
                  <a:pt x="0" y="0"/>
                </a:lnTo>
                <a:close/>
              </a:path>
            </a:pathLst>
          </a:custGeom>
          <a:blipFill>
            <a:blip r:embed="rId5"/>
            <a:stretch>
              <a:fillRect l="0" t="0" r="0" b="0"/>
            </a:stretch>
          </a:blipFill>
          <a:ln cap="sq">
            <a:noFill/>
            <a:prstDash val="solid"/>
            <a:miter/>
          </a:ln>
        </p:spPr>
      </p:sp>
      <p:sp>
        <p:nvSpPr>
          <p:cNvPr name="Freeform 11" id="11"/>
          <p:cNvSpPr/>
          <p:nvPr/>
        </p:nvSpPr>
        <p:spPr>
          <a:xfrm flipH="false" flipV="false" rot="0">
            <a:off x="8417035" y="5278754"/>
            <a:ext cx="1192999" cy="1669523"/>
          </a:xfrm>
          <a:custGeom>
            <a:avLst/>
            <a:gdLst/>
            <a:ahLst/>
            <a:cxnLst/>
            <a:rect r="r" b="b" t="t" l="l"/>
            <a:pathLst>
              <a:path h="1669523" w="1192999">
                <a:moveTo>
                  <a:pt x="0" y="0"/>
                </a:moveTo>
                <a:lnTo>
                  <a:pt x="1192999" y="0"/>
                </a:lnTo>
                <a:lnTo>
                  <a:pt x="1192999" y="1669523"/>
                </a:lnTo>
                <a:lnTo>
                  <a:pt x="0" y="1669523"/>
                </a:lnTo>
                <a:lnTo>
                  <a:pt x="0" y="0"/>
                </a:lnTo>
                <a:close/>
              </a:path>
            </a:pathLst>
          </a:custGeom>
          <a:blipFill>
            <a:blip r:embed="rId6"/>
            <a:stretch>
              <a:fillRect l="0" t="0" r="0" b="0"/>
            </a:stretch>
          </a:blipFill>
          <a:ln cap="sq">
            <a:noFill/>
            <a:prstDash val="solid"/>
            <a:miter/>
          </a:ln>
        </p:spPr>
      </p:sp>
      <p:sp>
        <p:nvSpPr>
          <p:cNvPr name="TextBox 12" id="12"/>
          <p:cNvSpPr txBox="true"/>
          <p:nvPr/>
        </p:nvSpPr>
        <p:spPr>
          <a:xfrm rot="0">
            <a:off x="10389788" y="1904545"/>
            <a:ext cx="6960775" cy="468475"/>
          </a:xfrm>
          <a:prstGeom prst="rect">
            <a:avLst/>
          </a:prstGeom>
        </p:spPr>
        <p:txBody>
          <a:bodyPr anchor="t" rtlCol="false" tIns="0" lIns="0" bIns="0" rIns="0">
            <a:spAutoFit/>
          </a:bodyPr>
          <a:lstStyle/>
          <a:p>
            <a:pPr algn="just" marL="0" indent="0" lvl="0">
              <a:lnSpc>
                <a:spcPts val="3778"/>
              </a:lnSpc>
            </a:pPr>
            <a:r>
              <a:rPr lang="en-US" b="true" sz="2699">
                <a:solidFill>
                  <a:srgbClr val="004CCF"/>
                </a:solidFill>
                <a:latin typeface="Public Sans Bold"/>
                <a:ea typeface="Public Sans Bold"/>
                <a:cs typeface="Public Sans Bold"/>
                <a:sym typeface="Public Sans Bold"/>
              </a:rPr>
              <a:t>README.md</a:t>
            </a:r>
          </a:p>
        </p:txBody>
      </p:sp>
      <p:sp>
        <p:nvSpPr>
          <p:cNvPr name="TextBox 13" id="13"/>
          <p:cNvSpPr txBox="true"/>
          <p:nvPr/>
        </p:nvSpPr>
        <p:spPr>
          <a:xfrm rot="0">
            <a:off x="10389788" y="3582696"/>
            <a:ext cx="6039726" cy="468475"/>
          </a:xfrm>
          <a:prstGeom prst="rect">
            <a:avLst/>
          </a:prstGeom>
        </p:spPr>
        <p:txBody>
          <a:bodyPr anchor="t" rtlCol="false" tIns="0" lIns="0" bIns="0" rIns="0">
            <a:spAutoFit/>
          </a:bodyPr>
          <a:lstStyle/>
          <a:p>
            <a:pPr algn="just" marL="0" indent="0" lvl="0">
              <a:lnSpc>
                <a:spcPts val="3778"/>
              </a:lnSpc>
            </a:pPr>
            <a:r>
              <a:rPr lang="en-US" b="true" sz="2699">
                <a:solidFill>
                  <a:srgbClr val="004CCF"/>
                </a:solidFill>
                <a:latin typeface="Public Sans Bold"/>
                <a:ea typeface="Public Sans Bold"/>
                <a:cs typeface="Public Sans Bold"/>
                <a:sym typeface="Public Sans Bold"/>
              </a:rPr>
              <a:t>Guide Pipeline ML</a:t>
            </a:r>
          </a:p>
        </p:txBody>
      </p:sp>
      <p:sp>
        <p:nvSpPr>
          <p:cNvPr name="TextBox 14" id="14"/>
          <p:cNvSpPr txBox="true"/>
          <p:nvPr/>
        </p:nvSpPr>
        <p:spPr>
          <a:xfrm rot="0">
            <a:off x="10389788" y="2396086"/>
            <a:ext cx="6039726" cy="672889"/>
          </a:xfrm>
          <a:prstGeom prst="rect">
            <a:avLst/>
          </a:prstGeom>
        </p:spPr>
        <p:txBody>
          <a:bodyPr anchor="t" rtlCol="false" tIns="0" lIns="0" bIns="0" rIns="0">
            <a:spAutoFit/>
          </a:bodyPr>
          <a:lstStyle/>
          <a:p>
            <a:pPr algn="l" marL="0" indent="0" lvl="0">
              <a:lnSpc>
                <a:spcPts val="2709"/>
              </a:lnSpc>
            </a:pPr>
            <a:r>
              <a:rPr lang="en-US" sz="1935">
                <a:solidFill>
                  <a:srgbClr val="181216"/>
                </a:solidFill>
                <a:latin typeface="Public Sans"/>
                <a:ea typeface="Public Sans"/>
                <a:cs typeface="Public Sans"/>
                <a:sym typeface="Public Sans"/>
              </a:rPr>
              <a:t>Titre, description, objectif général (prédiction du churn), structure du projet, instructions d'installation.</a:t>
            </a:r>
          </a:p>
        </p:txBody>
      </p:sp>
      <p:sp>
        <p:nvSpPr>
          <p:cNvPr name="TextBox 15" id="15"/>
          <p:cNvSpPr txBox="true"/>
          <p:nvPr/>
        </p:nvSpPr>
        <p:spPr>
          <a:xfrm rot="0">
            <a:off x="10389788" y="4074237"/>
            <a:ext cx="6039726" cy="672889"/>
          </a:xfrm>
          <a:prstGeom prst="rect">
            <a:avLst/>
          </a:prstGeom>
        </p:spPr>
        <p:txBody>
          <a:bodyPr anchor="t" rtlCol="false" tIns="0" lIns="0" bIns="0" rIns="0">
            <a:spAutoFit/>
          </a:bodyPr>
          <a:lstStyle/>
          <a:p>
            <a:pPr algn="l" marL="0" indent="0" lvl="0">
              <a:lnSpc>
                <a:spcPts val="2709"/>
              </a:lnSpc>
            </a:pPr>
            <a:r>
              <a:rPr lang="en-US" sz="1935">
                <a:solidFill>
                  <a:srgbClr val="181216"/>
                </a:solidFill>
                <a:latin typeface="Public Sans"/>
                <a:ea typeface="Public Sans"/>
                <a:cs typeface="Public Sans"/>
                <a:sym typeface="Public Sans"/>
              </a:rPr>
              <a:t>Guide d'utilisation en 3 étapes avec tableau des dépendances et versions minimales.</a:t>
            </a:r>
          </a:p>
        </p:txBody>
      </p:sp>
      <p:sp>
        <p:nvSpPr>
          <p:cNvPr name="TextBox 16" id="16"/>
          <p:cNvSpPr txBox="true"/>
          <p:nvPr/>
        </p:nvSpPr>
        <p:spPr>
          <a:xfrm rot="0">
            <a:off x="10389788" y="5255695"/>
            <a:ext cx="6039726" cy="468475"/>
          </a:xfrm>
          <a:prstGeom prst="rect">
            <a:avLst/>
          </a:prstGeom>
        </p:spPr>
        <p:txBody>
          <a:bodyPr anchor="t" rtlCol="false" tIns="0" lIns="0" bIns="0" rIns="0">
            <a:spAutoFit/>
          </a:bodyPr>
          <a:lstStyle/>
          <a:p>
            <a:pPr algn="just" marL="0" indent="0" lvl="0">
              <a:lnSpc>
                <a:spcPts val="3778"/>
              </a:lnSpc>
            </a:pPr>
            <a:r>
              <a:rPr lang="en-US" b="true" sz="2699">
                <a:solidFill>
                  <a:srgbClr val="004CCF"/>
                </a:solidFill>
                <a:latin typeface="Public Sans Bold"/>
                <a:ea typeface="Public Sans Bold"/>
                <a:cs typeface="Public Sans Bold"/>
                <a:sym typeface="Public Sans Bold"/>
              </a:rPr>
              <a:t>Initialisation Git</a:t>
            </a:r>
          </a:p>
        </p:txBody>
      </p:sp>
      <p:sp>
        <p:nvSpPr>
          <p:cNvPr name="TextBox 17" id="17"/>
          <p:cNvSpPr txBox="true"/>
          <p:nvPr/>
        </p:nvSpPr>
        <p:spPr>
          <a:xfrm rot="0">
            <a:off x="10389788" y="5747236"/>
            <a:ext cx="6039726" cy="672889"/>
          </a:xfrm>
          <a:prstGeom prst="rect">
            <a:avLst/>
          </a:prstGeom>
        </p:spPr>
        <p:txBody>
          <a:bodyPr anchor="t" rtlCol="false" tIns="0" lIns="0" bIns="0" rIns="0">
            <a:spAutoFit/>
          </a:bodyPr>
          <a:lstStyle/>
          <a:p>
            <a:pPr algn="l" marL="0" indent="0" lvl="0">
              <a:lnSpc>
                <a:spcPts val="2709"/>
              </a:lnSpc>
            </a:pPr>
            <a:r>
              <a:rPr lang="en-US" sz="1935">
                <a:solidFill>
                  <a:srgbClr val="181216"/>
                </a:solidFill>
                <a:latin typeface="Public Sans"/>
                <a:ea typeface="Public Sans"/>
                <a:cs typeface="Public Sans"/>
                <a:sym typeface="Public Sans"/>
              </a:rPr>
              <a:t>git init → git add . → git commit -m "Initial commit" → git branch -M main</a:t>
            </a:r>
          </a:p>
        </p:txBody>
      </p:sp>
      <p:sp>
        <p:nvSpPr>
          <p:cNvPr name="TextBox 18" id="18"/>
          <p:cNvSpPr txBox="true"/>
          <p:nvPr/>
        </p:nvSpPr>
        <p:spPr>
          <a:xfrm rot="0">
            <a:off x="10389788" y="6928694"/>
            <a:ext cx="6039726" cy="468475"/>
          </a:xfrm>
          <a:prstGeom prst="rect">
            <a:avLst/>
          </a:prstGeom>
        </p:spPr>
        <p:txBody>
          <a:bodyPr anchor="t" rtlCol="false" tIns="0" lIns="0" bIns="0" rIns="0">
            <a:spAutoFit/>
          </a:bodyPr>
          <a:lstStyle/>
          <a:p>
            <a:pPr algn="just" marL="0" indent="0" lvl="0">
              <a:lnSpc>
                <a:spcPts val="3778"/>
              </a:lnSpc>
            </a:pPr>
            <a:r>
              <a:rPr lang="en-US" b="true" sz="2699">
                <a:solidFill>
                  <a:srgbClr val="004CCF"/>
                </a:solidFill>
                <a:latin typeface="Public Sans Bold"/>
                <a:ea typeface="Public Sans Bold"/>
                <a:cs typeface="Public Sans Bold"/>
                <a:sym typeface="Public Sans Bold"/>
              </a:rPr>
              <a:t>Publication GitHub</a:t>
            </a:r>
          </a:p>
        </p:txBody>
      </p:sp>
      <p:sp>
        <p:nvSpPr>
          <p:cNvPr name="TextBox 19" id="19"/>
          <p:cNvSpPr txBox="true"/>
          <p:nvPr/>
        </p:nvSpPr>
        <p:spPr>
          <a:xfrm rot="0">
            <a:off x="10389788" y="7420236"/>
            <a:ext cx="6039726" cy="672889"/>
          </a:xfrm>
          <a:prstGeom prst="rect">
            <a:avLst/>
          </a:prstGeom>
        </p:spPr>
        <p:txBody>
          <a:bodyPr anchor="t" rtlCol="false" tIns="0" lIns="0" bIns="0" rIns="0">
            <a:spAutoFit/>
          </a:bodyPr>
          <a:lstStyle/>
          <a:p>
            <a:pPr algn="l" marL="0" indent="0" lvl="0">
              <a:lnSpc>
                <a:spcPts val="2709"/>
              </a:lnSpc>
            </a:pPr>
            <a:r>
              <a:rPr lang="en-US" sz="1935">
                <a:solidFill>
                  <a:srgbClr val="181216"/>
                </a:solidFill>
                <a:latin typeface="Public Sans"/>
                <a:ea typeface="Public Sans"/>
                <a:cs typeface="Public Sans"/>
                <a:sym typeface="Public Sans"/>
              </a:rPr>
              <a:t>git remote add origin  → git push -u origin main pour le versionnement et la collaboration.</a:t>
            </a:r>
          </a:p>
        </p:txBody>
      </p:sp>
      <p:sp>
        <p:nvSpPr>
          <p:cNvPr name="TextBox 20" id="20"/>
          <p:cNvSpPr txBox="true"/>
          <p:nvPr/>
        </p:nvSpPr>
        <p:spPr>
          <a:xfrm rot="0">
            <a:off x="883879" y="1486280"/>
            <a:ext cx="8084297" cy="1423226"/>
          </a:xfrm>
          <a:prstGeom prst="rect">
            <a:avLst/>
          </a:prstGeom>
        </p:spPr>
        <p:txBody>
          <a:bodyPr anchor="t" rtlCol="false" tIns="0" lIns="0" bIns="0" rIns="0">
            <a:spAutoFit/>
          </a:bodyPr>
          <a:lstStyle/>
          <a:p>
            <a:pPr algn="l" marL="0" indent="0" lvl="0">
              <a:lnSpc>
                <a:spcPts val="5504"/>
              </a:lnSpc>
              <a:spcBef>
                <a:spcPct val="0"/>
              </a:spcBef>
            </a:pPr>
            <a:r>
              <a:rPr lang="en-US" b="true" sz="5193">
                <a:solidFill>
                  <a:srgbClr val="004CCF"/>
                </a:solidFill>
                <a:latin typeface="Aileron Ultra-Bold"/>
                <a:ea typeface="Aileron Ultra-Bold"/>
                <a:cs typeface="Aileron Ultra-Bold"/>
                <a:sym typeface="Aileron Ultra-Bold"/>
              </a:rPr>
              <a:t>Documentation et Versionnement</a:t>
            </a:r>
          </a:p>
        </p:txBody>
      </p:sp>
      <p:sp>
        <p:nvSpPr>
          <p:cNvPr name="TextBox 21" id="21"/>
          <p:cNvSpPr txBox="true"/>
          <p:nvPr/>
        </p:nvSpPr>
        <p:spPr>
          <a:xfrm rot="0">
            <a:off x="1148618" y="4076275"/>
            <a:ext cx="4930082" cy="3391586"/>
          </a:xfrm>
          <a:prstGeom prst="rect">
            <a:avLst/>
          </a:prstGeom>
        </p:spPr>
        <p:txBody>
          <a:bodyPr anchor="t" rtlCol="false" tIns="0" lIns="0" bIns="0" rIns="0">
            <a:spAutoFit/>
          </a:bodyPr>
          <a:lstStyle/>
          <a:p>
            <a:pPr algn="just" marL="0" indent="0" lvl="0">
              <a:lnSpc>
                <a:spcPts val="4603"/>
              </a:lnSpc>
            </a:pPr>
            <a:r>
              <a:rPr lang="en-US" sz="3287">
                <a:solidFill>
                  <a:srgbClr val="181216"/>
                </a:solidFill>
                <a:latin typeface="Public Sans"/>
                <a:ea typeface="Public Sans"/>
                <a:cs typeface="Public Sans"/>
                <a:sym typeface="Public Sans"/>
              </a:rPr>
              <a:t>Essentiels pour la documentation du projet et le contrôle de version afin de garantir la reproductibilité et la collaboration :</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68411" y="9258300"/>
            <a:ext cx="12412267" cy="2602925"/>
            <a:chOff x="0" y="0"/>
            <a:chExt cx="1657640" cy="347617"/>
          </a:xfrm>
        </p:grpSpPr>
        <p:sp>
          <p:nvSpPr>
            <p:cNvPr name="Freeform 3" id="3"/>
            <p:cNvSpPr/>
            <p:nvPr/>
          </p:nvSpPr>
          <p:spPr>
            <a:xfrm flipH="false" flipV="false" rot="0">
              <a:off x="15951" y="0"/>
              <a:ext cx="1625738" cy="347617"/>
            </a:xfrm>
            <a:custGeom>
              <a:avLst/>
              <a:gdLst/>
              <a:ahLst/>
              <a:cxnLst/>
              <a:rect r="r" b="b" t="t" l="l"/>
              <a:pathLst>
                <a:path h="347617" w="1625738">
                  <a:moveTo>
                    <a:pt x="224673" y="0"/>
                  </a:moveTo>
                  <a:lnTo>
                    <a:pt x="1604266" y="0"/>
                  </a:lnTo>
                  <a:cubicBezTo>
                    <a:pt x="1611958" y="0"/>
                    <a:pt x="1619062" y="4115"/>
                    <a:pt x="1622890" y="10786"/>
                  </a:cubicBezTo>
                  <a:cubicBezTo>
                    <a:pt x="1626718" y="17458"/>
                    <a:pt x="1626685" y="25668"/>
                    <a:pt x="1622803" y="32309"/>
                  </a:cubicBezTo>
                  <a:lnTo>
                    <a:pt x="1457376" y="315308"/>
                  </a:lnTo>
                  <a:cubicBezTo>
                    <a:pt x="1445679" y="335318"/>
                    <a:pt x="1424243" y="347617"/>
                    <a:pt x="1401066" y="347617"/>
                  </a:cubicBezTo>
                  <a:lnTo>
                    <a:pt x="21473" y="347617"/>
                  </a:lnTo>
                  <a:cubicBezTo>
                    <a:pt x="13781" y="347617"/>
                    <a:pt x="6676" y="343502"/>
                    <a:pt x="2848" y="336831"/>
                  </a:cubicBezTo>
                  <a:cubicBezTo>
                    <a:pt x="-980" y="330159"/>
                    <a:pt x="-947" y="321949"/>
                    <a:pt x="2935" y="315308"/>
                  </a:cubicBezTo>
                  <a:lnTo>
                    <a:pt x="168363" y="32309"/>
                  </a:lnTo>
                  <a:cubicBezTo>
                    <a:pt x="180059" y="12299"/>
                    <a:pt x="201496" y="0"/>
                    <a:pt x="224673" y="0"/>
                  </a:cubicBezTo>
                  <a:close/>
                </a:path>
              </a:pathLst>
            </a:custGeom>
            <a:gradFill rotWithShape="true">
              <a:gsLst>
                <a:gs pos="0">
                  <a:srgbClr val="0D1296">
                    <a:alpha val="100000"/>
                  </a:srgbClr>
                </a:gs>
                <a:gs pos="100000">
                  <a:srgbClr val="2B79FF">
                    <a:alpha val="100000"/>
                  </a:srgbClr>
                </a:gs>
              </a:gsLst>
              <a:lin ang="2700000"/>
            </a:gradFill>
          </p:spPr>
        </p:sp>
        <p:sp>
          <p:nvSpPr>
            <p:cNvPr name="TextBox 4" id="4"/>
            <p:cNvSpPr txBox="true"/>
            <p:nvPr/>
          </p:nvSpPr>
          <p:spPr>
            <a:xfrm>
              <a:off x="101600" y="-66675"/>
              <a:ext cx="1454440" cy="414292"/>
            </a:xfrm>
            <a:prstGeom prst="rect">
              <a:avLst/>
            </a:prstGeom>
          </p:spPr>
          <p:txBody>
            <a:bodyPr anchor="ctr" rtlCol="false" tIns="50800" lIns="50800" bIns="50800" rIns="50800"/>
            <a:lstStyle/>
            <a:p>
              <a:pPr algn="ctr" marL="0" indent="0" lvl="0">
                <a:lnSpc>
                  <a:spcPts val="3151"/>
                </a:lnSpc>
              </a:pPr>
            </a:p>
          </p:txBody>
        </p:sp>
      </p:grpSp>
      <p:sp>
        <p:nvSpPr>
          <p:cNvPr name="TextBox 5" id="5"/>
          <p:cNvSpPr txBox="true"/>
          <p:nvPr/>
        </p:nvSpPr>
        <p:spPr>
          <a:xfrm rot="0">
            <a:off x="1028700" y="834065"/>
            <a:ext cx="15072292" cy="797300"/>
          </a:xfrm>
          <a:prstGeom prst="rect">
            <a:avLst/>
          </a:prstGeom>
        </p:spPr>
        <p:txBody>
          <a:bodyPr anchor="t" rtlCol="false" tIns="0" lIns="0" bIns="0" rIns="0">
            <a:spAutoFit/>
          </a:bodyPr>
          <a:lstStyle/>
          <a:p>
            <a:pPr algn="l" marL="0" indent="0" lvl="0">
              <a:lnSpc>
                <a:spcPts val="6079"/>
              </a:lnSpc>
              <a:spcBef>
                <a:spcPct val="0"/>
              </a:spcBef>
            </a:pPr>
            <a:r>
              <a:rPr lang="en-US" b="true" sz="5735">
                <a:solidFill>
                  <a:srgbClr val="004CCF"/>
                </a:solidFill>
                <a:latin typeface="Aileron Ultra-Bold"/>
                <a:ea typeface="Aileron Ultra-Bold"/>
                <a:cs typeface="Aileron Ultra-Bold"/>
                <a:sym typeface="Aileron Ultra-Bold"/>
              </a:rPr>
              <a:t>Vue d'Ensemble du Dataset</a:t>
            </a:r>
          </a:p>
        </p:txBody>
      </p:sp>
      <p:sp>
        <p:nvSpPr>
          <p:cNvPr name="TextBox 6" id="6"/>
          <p:cNvSpPr txBox="true"/>
          <p:nvPr/>
        </p:nvSpPr>
        <p:spPr>
          <a:xfrm rot="0">
            <a:off x="1028700" y="1905426"/>
            <a:ext cx="15072292" cy="1893608"/>
          </a:xfrm>
          <a:prstGeom prst="rect">
            <a:avLst/>
          </a:prstGeom>
        </p:spPr>
        <p:txBody>
          <a:bodyPr anchor="t" rtlCol="false" tIns="0" lIns="0" bIns="0" rIns="0">
            <a:spAutoFit/>
          </a:bodyPr>
          <a:lstStyle/>
          <a:p>
            <a:pPr algn="just" marL="0" indent="0" lvl="0">
              <a:lnSpc>
                <a:spcPts val="3777"/>
              </a:lnSpc>
            </a:pPr>
            <a:r>
              <a:rPr lang="en-US" sz="2698">
                <a:solidFill>
                  <a:srgbClr val="181216"/>
                </a:solidFill>
                <a:latin typeface="Public Sans"/>
                <a:ea typeface="Public Sans"/>
                <a:cs typeface="Public Sans"/>
                <a:sym typeface="Public Sans"/>
              </a:rPr>
              <a:t>Le dataset utilisé pour cet atelier Machine Learning provient d'une plateforme de ventes de cadeaux en ligne. Il comprend 52 variables décrivant le comportement transactionnel, démographique et relationnel des clients. La variable cible est Churn (feature #34), une variable binaire où 1 = client parti et 0 = client actif.</a:t>
            </a:r>
          </a:p>
        </p:txBody>
      </p:sp>
      <p:sp>
        <p:nvSpPr>
          <p:cNvPr name="TextBox 7" id="7"/>
          <p:cNvSpPr txBox="true"/>
          <p:nvPr/>
        </p:nvSpPr>
        <p:spPr>
          <a:xfrm rot="0">
            <a:off x="1028700" y="5047495"/>
            <a:ext cx="15072292" cy="869984"/>
          </a:xfrm>
          <a:prstGeom prst="rect">
            <a:avLst/>
          </a:prstGeom>
        </p:spPr>
        <p:txBody>
          <a:bodyPr anchor="t" rtlCol="false" tIns="0" lIns="0" bIns="0" rIns="0">
            <a:spAutoFit/>
          </a:bodyPr>
          <a:lstStyle/>
          <a:p>
            <a:pPr algn="just" marL="0" indent="0" lvl="0">
              <a:lnSpc>
                <a:spcPts val="3498"/>
              </a:lnSpc>
            </a:pPr>
            <a:r>
              <a:rPr lang="en-US" sz="2498">
                <a:solidFill>
                  <a:srgbClr val="181216"/>
                </a:solidFill>
                <a:latin typeface="Public Sans"/>
                <a:ea typeface="Public Sans"/>
                <a:cs typeface="Public Sans"/>
                <a:sym typeface="Public Sans"/>
              </a:rPr>
              <a:t>Variables numériques décrivant le comportement d'achat fondamental par client : données brutes de transactions, montants, fréquences et récence des achats.</a:t>
            </a:r>
          </a:p>
        </p:txBody>
      </p:sp>
      <p:sp>
        <p:nvSpPr>
          <p:cNvPr name="TextBox 8" id="8"/>
          <p:cNvSpPr txBox="true"/>
          <p:nvPr/>
        </p:nvSpPr>
        <p:spPr>
          <a:xfrm rot="0">
            <a:off x="1028700" y="4432309"/>
            <a:ext cx="11882500" cy="539741"/>
          </a:xfrm>
          <a:prstGeom prst="rect">
            <a:avLst/>
          </a:prstGeom>
        </p:spPr>
        <p:txBody>
          <a:bodyPr anchor="t" rtlCol="false" tIns="0" lIns="0" bIns="0" rIns="0">
            <a:spAutoFit/>
          </a:bodyPr>
          <a:lstStyle/>
          <a:p>
            <a:pPr algn="just" marL="0" indent="0" lvl="0">
              <a:lnSpc>
                <a:spcPts val="4375"/>
              </a:lnSpc>
            </a:pPr>
            <a:r>
              <a:rPr lang="en-US" b="true" sz="3125">
                <a:solidFill>
                  <a:srgbClr val="004CCF"/>
                </a:solidFill>
                <a:latin typeface="Public Sans Bold"/>
                <a:ea typeface="Public Sans Bold"/>
                <a:cs typeface="Public Sans Bold"/>
                <a:sym typeface="Public Sans Bold"/>
              </a:rPr>
              <a:t>Features Transactionnelles (1-17)</a:t>
            </a:r>
          </a:p>
        </p:txBody>
      </p:sp>
      <p:sp>
        <p:nvSpPr>
          <p:cNvPr name="TextBox 9" id="9"/>
          <p:cNvSpPr txBox="true"/>
          <p:nvPr/>
        </p:nvSpPr>
        <p:spPr>
          <a:xfrm rot="0">
            <a:off x="1028700" y="6561670"/>
            <a:ext cx="15072292" cy="869984"/>
          </a:xfrm>
          <a:prstGeom prst="rect">
            <a:avLst/>
          </a:prstGeom>
        </p:spPr>
        <p:txBody>
          <a:bodyPr anchor="t" rtlCol="false" tIns="0" lIns="0" bIns="0" rIns="0">
            <a:spAutoFit/>
          </a:bodyPr>
          <a:lstStyle/>
          <a:p>
            <a:pPr algn="just" marL="0" indent="0" lvl="0">
              <a:lnSpc>
                <a:spcPts val="3498"/>
              </a:lnSpc>
            </a:pPr>
            <a:r>
              <a:rPr lang="en-US" sz="2498">
                <a:solidFill>
                  <a:srgbClr val="181216"/>
                </a:solidFill>
                <a:latin typeface="Public Sans"/>
                <a:ea typeface="Public Sans"/>
                <a:cs typeface="Public Sans"/>
                <a:sym typeface="Public Sans"/>
              </a:rPr>
              <a:t>Variables numériques représentant les dimensions comportementales qualitatives, calculées ou dérivées des transactions brutes avec une nature plus analytique.</a:t>
            </a:r>
          </a:p>
        </p:txBody>
      </p:sp>
      <p:sp>
        <p:nvSpPr>
          <p:cNvPr name="TextBox 10" id="10"/>
          <p:cNvSpPr txBox="true"/>
          <p:nvPr/>
        </p:nvSpPr>
        <p:spPr>
          <a:xfrm rot="0">
            <a:off x="1028700" y="5983400"/>
            <a:ext cx="11882500" cy="539741"/>
          </a:xfrm>
          <a:prstGeom prst="rect">
            <a:avLst/>
          </a:prstGeom>
        </p:spPr>
        <p:txBody>
          <a:bodyPr anchor="t" rtlCol="false" tIns="0" lIns="0" bIns="0" rIns="0">
            <a:spAutoFit/>
          </a:bodyPr>
          <a:lstStyle/>
          <a:p>
            <a:pPr algn="just" marL="0" indent="0" lvl="0">
              <a:lnSpc>
                <a:spcPts val="4375"/>
              </a:lnSpc>
            </a:pPr>
            <a:r>
              <a:rPr lang="en-US" b="true" sz="3125">
                <a:solidFill>
                  <a:srgbClr val="004CCF"/>
                </a:solidFill>
                <a:latin typeface="Public Sans Bold"/>
                <a:ea typeface="Public Sans Bold"/>
                <a:cs typeface="Public Sans Bold"/>
                <a:sym typeface="Public Sans Bold"/>
              </a:rPr>
              <a:t>Features Comportementales (18-34)</a:t>
            </a:r>
          </a:p>
        </p:txBody>
      </p:sp>
      <p:sp>
        <p:nvSpPr>
          <p:cNvPr name="TextBox 11" id="11"/>
          <p:cNvSpPr txBox="true"/>
          <p:nvPr/>
        </p:nvSpPr>
        <p:spPr>
          <a:xfrm rot="0">
            <a:off x="1028700" y="8081852"/>
            <a:ext cx="15072292" cy="869984"/>
          </a:xfrm>
          <a:prstGeom prst="rect">
            <a:avLst/>
          </a:prstGeom>
        </p:spPr>
        <p:txBody>
          <a:bodyPr anchor="t" rtlCol="false" tIns="0" lIns="0" bIns="0" rIns="0">
            <a:spAutoFit/>
          </a:bodyPr>
          <a:lstStyle/>
          <a:p>
            <a:pPr algn="just" marL="0" indent="0" lvl="0">
              <a:lnSpc>
                <a:spcPts val="3498"/>
              </a:lnSpc>
            </a:pPr>
            <a:r>
              <a:rPr lang="en-US" sz="2498">
                <a:solidFill>
                  <a:srgbClr val="181216"/>
                </a:solidFill>
                <a:latin typeface="Public Sans"/>
                <a:ea typeface="Public Sans"/>
                <a:cs typeface="Public Sans"/>
                <a:sym typeface="Public Sans"/>
              </a:rPr>
              <a:t>Variables textuelles et catégories incluant le segment RFM, le genre, le pays et autres attributs descriptifs des clients.</a:t>
            </a:r>
          </a:p>
        </p:txBody>
      </p:sp>
      <p:sp>
        <p:nvSpPr>
          <p:cNvPr name="TextBox 12" id="12"/>
          <p:cNvSpPr txBox="true"/>
          <p:nvPr/>
        </p:nvSpPr>
        <p:spPr>
          <a:xfrm rot="0">
            <a:off x="1028700" y="7479280"/>
            <a:ext cx="11882500" cy="539741"/>
          </a:xfrm>
          <a:prstGeom prst="rect">
            <a:avLst/>
          </a:prstGeom>
        </p:spPr>
        <p:txBody>
          <a:bodyPr anchor="t" rtlCol="false" tIns="0" lIns="0" bIns="0" rIns="0">
            <a:spAutoFit/>
          </a:bodyPr>
          <a:lstStyle/>
          <a:p>
            <a:pPr algn="just" marL="0" indent="0" lvl="0">
              <a:lnSpc>
                <a:spcPts val="4375"/>
              </a:lnSpc>
            </a:pPr>
            <a:r>
              <a:rPr lang="en-US" b="true" sz="3125">
                <a:solidFill>
                  <a:srgbClr val="004CCF"/>
                </a:solidFill>
                <a:latin typeface="Public Sans Bold"/>
                <a:ea typeface="Public Sans Bold"/>
                <a:cs typeface="Public Sans Bold"/>
                <a:sym typeface="Public Sans Bold"/>
              </a:rPr>
              <a:t>Features Catégorielles</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8</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1849" y="0"/>
            <a:ext cx="18449849" cy="376261"/>
            <a:chOff x="0" y="0"/>
            <a:chExt cx="4859220" cy="99098"/>
          </a:xfrm>
        </p:grpSpPr>
        <p:sp>
          <p:nvSpPr>
            <p:cNvPr name="Freeform 3" id="3"/>
            <p:cNvSpPr/>
            <p:nvPr/>
          </p:nvSpPr>
          <p:spPr>
            <a:xfrm flipH="false" flipV="false" rot="0">
              <a:off x="0" y="0"/>
              <a:ext cx="4859220" cy="99098"/>
            </a:xfrm>
            <a:custGeom>
              <a:avLst/>
              <a:gdLst/>
              <a:ahLst/>
              <a:cxnLst/>
              <a:rect r="r" b="b" t="t" l="l"/>
              <a:pathLst>
                <a:path h="99098" w="4859220">
                  <a:moveTo>
                    <a:pt x="0" y="0"/>
                  </a:moveTo>
                  <a:lnTo>
                    <a:pt x="4859220" y="0"/>
                  </a:lnTo>
                  <a:lnTo>
                    <a:pt x="4859220" y="99098"/>
                  </a:lnTo>
                  <a:lnTo>
                    <a:pt x="0" y="99098"/>
                  </a:lnTo>
                  <a:close/>
                </a:path>
              </a:pathLst>
            </a:custGeom>
            <a:solidFill>
              <a:srgbClr val="0E62F2"/>
            </a:solidFill>
          </p:spPr>
        </p:sp>
        <p:sp>
          <p:nvSpPr>
            <p:cNvPr name="TextBox 4" id="4"/>
            <p:cNvSpPr txBox="true"/>
            <p:nvPr/>
          </p:nvSpPr>
          <p:spPr>
            <a:xfrm>
              <a:off x="0" y="-47625"/>
              <a:ext cx="4859220" cy="146723"/>
            </a:xfrm>
            <a:prstGeom prst="rect">
              <a:avLst/>
            </a:prstGeom>
          </p:spPr>
          <p:txBody>
            <a:bodyPr anchor="ctr" rtlCol="false" tIns="50800" lIns="50800" bIns="50800" rIns="50800"/>
            <a:lstStyle/>
            <a:p>
              <a:pPr algn="ctr" marL="0" indent="0" lvl="0">
                <a:lnSpc>
                  <a:spcPts val="2886"/>
                </a:lnSpc>
              </a:pPr>
            </a:p>
          </p:txBody>
        </p:sp>
      </p:grpSp>
      <p:grpSp>
        <p:nvGrpSpPr>
          <p:cNvPr name="Group 5" id="5"/>
          <p:cNvGrpSpPr/>
          <p:nvPr/>
        </p:nvGrpSpPr>
        <p:grpSpPr>
          <a:xfrm rot="0">
            <a:off x="-161849" y="9910739"/>
            <a:ext cx="18449849" cy="376261"/>
            <a:chOff x="0" y="0"/>
            <a:chExt cx="4859220" cy="99098"/>
          </a:xfrm>
        </p:grpSpPr>
        <p:sp>
          <p:nvSpPr>
            <p:cNvPr name="Freeform 6" id="6"/>
            <p:cNvSpPr/>
            <p:nvPr/>
          </p:nvSpPr>
          <p:spPr>
            <a:xfrm flipH="false" flipV="false" rot="0">
              <a:off x="0" y="0"/>
              <a:ext cx="4859220" cy="99098"/>
            </a:xfrm>
            <a:custGeom>
              <a:avLst/>
              <a:gdLst/>
              <a:ahLst/>
              <a:cxnLst/>
              <a:rect r="r" b="b" t="t" l="l"/>
              <a:pathLst>
                <a:path h="99098" w="4859220">
                  <a:moveTo>
                    <a:pt x="0" y="0"/>
                  </a:moveTo>
                  <a:lnTo>
                    <a:pt x="4859220" y="0"/>
                  </a:lnTo>
                  <a:lnTo>
                    <a:pt x="4859220" y="99098"/>
                  </a:lnTo>
                  <a:lnTo>
                    <a:pt x="0" y="99098"/>
                  </a:lnTo>
                  <a:close/>
                </a:path>
              </a:pathLst>
            </a:custGeom>
            <a:solidFill>
              <a:srgbClr val="0E62F2"/>
            </a:solidFill>
          </p:spPr>
        </p:sp>
        <p:sp>
          <p:nvSpPr>
            <p:cNvPr name="TextBox 7" id="7"/>
            <p:cNvSpPr txBox="true"/>
            <p:nvPr/>
          </p:nvSpPr>
          <p:spPr>
            <a:xfrm>
              <a:off x="0" y="-47625"/>
              <a:ext cx="4859220" cy="146723"/>
            </a:xfrm>
            <a:prstGeom prst="rect">
              <a:avLst/>
            </a:prstGeom>
          </p:spPr>
          <p:txBody>
            <a:bodyPr anchor="ctr" rtlCol="false" tIns="50800" lIns="50800" bIns="50800" rIns="50800"/>
            <a:lstStyle/>
            <a:p>
              <a:pPr algn="ctr" marL="0" indent="0" lvl="0">
                <a:lnSpc>
                  <a:spcPts val="2886"/>
                </a:lnSpc>
              </a:pPr>
            </a:p>
          </p:txBody>
        </p:sp>
      </p:grpSp>
      <p:sp>
        <p:nvSpPr>
          <p:cNvPr name="TextBox 8" id="8"/>
          <p:cNvSpPr txBox="true"/>
          <p:nvPr/>
        </p:nvSpPr>
        <p:spPr>
          <a:xfrm rot="0">
            <a:off x="2181547" y="1671661"/>
            <a:ext cx="13924905" cy="830460"/>
          </a:xfrm>
          <a:prstGeom prst="rect">
            <a:avLst/>
          </a:prstGeom>
        </p:spPr>
        <p:txBody>
          <a:bodyPr anchor="t" rtlCol="false" tIns="0" lIns="0" bIns="0" rIns="0">
            <a:spAutoFit/>
          </a:bodyPr>
          <a:lstStyle/>
          <a:p>
            <a:pPr algn="ctr" marL="0" indent="0" lvl="0">
              <a:lnSpc>
                <a:spcPts val="6352"/>
              </a:lnSpc>
              <a:spcBef>
                <a:spcPct val="0"/>
              </a:spcBef>
            </a:pPr>
            <a:r>
              <a:rPr lang="en-US" b="true" sz="5993">
                <a:solidFill>
                  <a:srgbClr val="004CCF"/>
                </a:solidFill>
                <a:latin typeface="Aileron Ultra-Bold"/>
                <a:ea typeface="Aileron Ultra-Bold"/>
                <a:cs typeface="Aileron Ultra-Bold"/>
                <a:sym typeface="Aileron Ultra-Bold"/>
              </a:rPr>
              <a:t>Exploration des Données (EDA)</a:t>
            </a:r>
          </a:p>
        </p:txBody>
      </p:sp>
      <p:sp>
        <p:nvSpPr>
          <p:cNvPr name="TextBox 9" id="9"/>
          <p:cNvSpPr txBox="true"/>
          <p:nvPr/>
        </p:nvSpPr>
        <p:spPr>
          <a:xfrm rot="0">
            <a:off x="804544" y="3103572"/>
            <a:ext cx="16678913" cy="1829444"/>
          </a:xfrm>
          <a:prstGeom prst="rect">
            <a:avLst/>
          </a:prstGeom>
        </p:spPr>
        <p:txBody>
          <a:bodyPr anchor="t" rtlCol="false" tIns="0" lIns="0" bIns="0" rIns="0">
            <a:spAutoFit/>
          </a:bodyPr>
          <a:lstStyle/>
          <a:p>
            <a:pPr algn="just" marL="0" indent="0" lvl="0">
              <a:lnSpc>
                <a:spcPts val="3639"/>
              </a:lnSpc>
            </a:pPr>
            <a:r>
              <a:rPr lang="en-US" sz="2599">
                <a:solidFill>
                  <a:srgbClr val="000000"/>
                </a:solidFill>
                <a:latin typeface="Public Sans"/>
                <a:ea typeface="Public Sans"/>
                <a:cs typeface="Public Sans"/>
                <a:sym typeface="Public Sans"/>
              </a:rPr>
              <a:t>L'exploration des données constitue une étape fondamentale du pipeline Machine Learning. Elle permet de comprendre la structure du dataset, d'identifier les anomalies et de préparer les données pour la modélisation. Cette phase diagnostique révèle les incohérences de typage, les valeurs manquantes et les problèmes de formatage qui nécessiteront un traitement spécifique avant l'entraînement des modèles.</a:t>
            </a:r>
          </a:p>
        </p:txBody>
      </p:sp>
      <p:grpSp>
        <p:nvGrpSpPr>
          <p:cNvPr name="Group 10" id="10"/>
          <p:cNvGrpSpPr/>
          <p:nvPr/>
        </p:nvGrpSpPr>
        <p:grpSpPr>
          <a:xfrm rot="0">
            <a:off x="1028700" y="5886892"/>
            <a:ext cx="7836705" cy="3236281"/>
            <a:chOff x="0" y="0"/>
            <a:chExt cx="2535475" cy="1047061"/>
          </a:xfrm>
        </p:grpSpPr>
        <p:sp>
          <p:nvSpPr>
            <p:cNvPr name="Freeform 11" id="11"/>
            <p:cNvSpPr/>
            <p:nvPr/>
          </p:nvSpPr>
          <p:spPr>
            <a:xfrm flipH="false" flipV="false" rot="0">
              <a:off x="0" y="0"/>
              <a:ext cx="2535475" cy="1047061"/>
            </a:xfrm>
            <a:custGeom>
              <a:avLst/>
              <a:gdLst/>
              <a:ahLst/>
              <a:cxnLst/>
              <a:rect r="r" b="b" t="t" l="l"/>
              <a:pathLst>
                <a:path h="1047061" w="2535475">
                  <a:moveTo>
                    <a:pt x="39516" y="0"/>
                  </a:moveTo>
                  <a:lnTo>
                    <a:pt x="2495959" y="0"/>
                  </a:lnTo>
                  <a:cubicBezTo>
                    <a:pt x="2506439" y="0"/>
                    <a:pt x="2516490" y="4163"/>
                    <a:pt x="2523901" y="11574"/>
                  </a:cubicBezTo>
                  <a:cubicBezTo>
                    <a:pt x="2531312" y="18985"/>
                    <a:pt x="2535475" y="29036"/>
                    <a:pt x="2535475" y="39516"/>
                  </a:cubicBezTo>
                  <a:lnTo>
                    <a:pt x="2535475" y="1007545"/>
                  </a:lnTo>
                  <a:cubicBezTo>
                    <a:pt x="2535475" y="1018025"/>
                    <a:pt x="2531312" y="1028076"/>
                    <a:pt x="2523901" y="1035487"/>
                  </a:cubicBezTo>
                  <a:cubicBezTo>
                    <a:pt x="2516490" y="1042898"/>
                    <a:pt x="2506439" y="1047061"/>
                    <a:pt x="2495959" y="1047061"/>
                  </a:cubicBezTo>
                  <a:lnTo>
                    <a:pt x="39516" y="1047061"/>
                  </a:lnTo>
                  <a:cubicBezTo>
                    <a:pt x="29036" y="1047061"/>
                    <a:pt x="18985" y="1042898"/>
                    <a:pt x="11574" y="1035487"/>
                  </a:cubicBezTo>
                  <a:cubicBezTo>
                    <a:pt x="4163" y="1028076"/>
                    <a:pt x="0" y="1018025"/>
                    <a:pt x="0" y="1007545"/>
                  </a:cubicBezTo>
                  <a:lnTo>
                    <a:pt x="0" y="39516"/>
                  </a:lnTo>
                  <a:cubicBezTo>
                    <a:pt x="0" y="29036"/>
                    <a:pt x="4163" y="18985"/>
                    <a:pt x="11574" y="11574"/>
                  </a:cubicBezTo>
                  <a:cubicBezTo>
                    <a:pt x="18985" y="4163"/>
                    <a:pt x="29036" y="0"/>
                    <a:pt x="39516" y="0"/>
                  </a:cubicBezTo>
                  <a:close/>
                </a:path>
              </a:pathLst>
            </a:custGeom>
            <a:solidFill>
              <a:srgbClr val="F2F2F2"/>
            </a:solidFill>
          </p:spPr>
        </p:sp>
        <p:sp>
          <p:nvSpPr>
            <p:cNvPr name="TextBox 12" id="12"/>
            <p:cNvSpPr txBox="true"/>
            <p:nvPr/>
          </p:nvSpPr>
          <p:spPr>
            <a:xfrm>
              <a:off x="0" y="-47625"/>
              <a:ext cx="2535475" cy="1094686"/>
            </a:xfrm>
            <a:prstGeom prst="rect">
              <a:avLst/>
            </a:prstGeom>
          </p:spPr>
          <p:txBody>
            <a:bodyPr anchor="ctr" rtlCol="false" tIns="33429" lIns="33429" bIns="33429" rIns="33429"/>
            <a:lstStyle/>
            <a:p>
              <a:pPr algn="ctr" marL="0" indent="0" lvl="0">
                <a:lnSpc>
                  <a:spcPts val="3257"/>
                </a:lnSpc>
              </a:pPr>
            </a:p>
          </p:txBody>
        </p:sp>
      </p:grpSp>
      <p:sp>
        <p:nvSpPr>
          <p:cNvPr name="TextBox 13" id="13"/>
          <p:cNvSpPr txBox="true"/>
          <p:nvPr/>
        </p:nvSpPr>
        <p:spPr>
          <a:xfrm rot="0">
            <a:off x="1571152" y="6830302"/>
            <a:ext cx="7005846" cy="2040078"/>
          </a:xfrm>
          <a:prstGeom prst="rect">
            <a:avLst/>
          </a:prstGeom>
        </p:spPr>
        <p:txBody>
          <a:bodyPr anchor="t" rtlCol="false" tIns="0" lIns="0" bIns="0" rIns="0">
            <a:spAutoFit/>
          </a:bodyPr>
          <a:lstStyle/>
          <a:p>
            <a:pPr algn="just" marL="0" indent="0" lvl="0">
              <a:lnSpc>
                <a:spcPts val="3289"/>
              </a:lnSpc>
              <a:spcBef>
                <a:spcPct val="0"/>
              </a:spcBef>
            </a:pPr>
            <a:r>
              <a:rPr lang="en-US" sz="2349">
                <a:solidFill>
                  <a:srgbClr val="000000"/>
                </a:solidFill>
                <a:latin typeface="Public Sans"/>
                <a:ea typeface="Public Sans"/>
                <a:cs typeface="Public Sans"/>
                <a:sym typeface="Public Sans"/>
              </a:rPr>
              <a:t>• Chargement du dataset complet  df = load_data().</a:t>
            </a:r>
          </a:p>
          <a:p>
            <a:pPr algn="just" marL="0" indent="0" lvl="0">
              <a:lnSpc>
                <a:spcPts val="3289"/>
              </a:lnSpc>
              <a:spcBef>
                <a:spcPct val="0"/>
              </a:spcBef>
            </a:pPr>
            <a:r>
              <a:rPr lang="en-US" sz="2349">
                <a:solidFill>
                  <a:srgbClr val="000000"/>
                </a:solidFill>
                <a:latin typeface="Public Sans"/>
                <a:ea typeface="Public Sans"/>
                <a:cs typeface="Public Sans"/>
                <a:sym typeface="Public Sans"/>
              </a:rPr>
              <a:t>• Détection automatique des types de variables</a:t>
            </a:r>
          </a:p>
          <a:p>
            <a:pPr algn="just" marL="0" indent="0" lvl="0">
              <a:lnSpc>
                <a:spcPts val="3289"/>
              </a:lnSpc>
              <a:spcBef>
                <a:spcPct val="0"/>
              </a:spcBef>
            </a:pPr>
            <a:r>
              <a:rPr lang="en-US" sz="2349">
                <a:solidFill>
                  <a:srgbClr val="000000"/>
                </a:solidFill>
                <a:latin typeface="Public Sans"/>
                <a:ea typeface="Public Sans"/>
                <a:cs typeface="Public Sans"/>
                <a:sym typeface="Public Sans"/>
              </a:rPr>
              <a:t>• Pipelines séparés pour features numériques et catégorielles</a:t>
            </a:r>
          </a:p>
          <a:p>
            <a:pPr algn="just" marL="0" indent="0" lvl="0">
              <a:lnSpc>
                <a:spcPts val="3289"/>
              </a:lnSpc>
              <a:spcBef>
                <a:spcPct val="0"/>
              </a:spcBef>
            </a:pPr>
            <a:r>
              <a:rPr lang="en-US" sz="2349">
                <a:solidFill>
                  <a:srgbClr val="000000"/>
                </a:solidFill>
                <a:latin typeface="Public Sans"/>
                <a:ea typeface="Public Sans"/>
                <a:cs typeface="Public Sans"/>
                <a:sym typeface="Public Sans"/>
              </a:rPr>
              <a:t>• Préparation pour l'analyse exploratoire</a:t>
            </a:r>
          </a:p>
        </p:txBody>
      </p:sp>
      <p:sp>
        <p:nvSpPr>
          <p:cNvPr name="TextBox 14" id="14"/>
          <p:cNvSpPr txBox="true"/>
          <p:nvPr/>
        </p:nvSpPr>
        <p:spPr>
          <a:xfrm rot="0">
            <a:off x="1527518" y="6076016"/>
            <a:ext cx="5325417" cy="588880"/>
          </a:xfrm>
          <a:prstGeom prst="rect">
            <a:avLst/>
          </a:prstGeom>
        </p:spPr>
        <p:txBody>
          <a:bodyPr anchor="t" rtlCol="false" tIns="0" lIns="0" bIns="0" rIns="0">
            <a:spAutoFit/>
          </a:bodyPr>
          <a:lstStyle/>
          <a:p>
            <a:pPr algn="just" marL="0" indent="0" lvl="0">
              <a:lnSpc>
                <a:spcPts val="4743"/>
              </a:lnSpc>
            </a:pPr>
            <a:r>
              <a:rPr lang="en-US" b="true" sz="3388">
                <a:solidFill>
                  <a:srgbClr val="004CCF"/>
                </a:solidFill>
                <a:latin typeface="Public Sans Bold"/>
                <a:ea typeface="Public Sans Bold"/>
                <a:cs typeface="Public Sans Bold"/>
                <a:sym typeface="Public Sans Bold"/>
              </a:rPr>
              <a:t>Chargement des Données</a:t>
            </a:r>
          </a:p>
        </p:txBody>
      </p:sp>
      <p:grpSp>
        <p:nvGrpSpPr>
          <p:cNvPr name="Group 15" id="15"/>
          <p:cNvGrpSpPr/>
          <p:nvPr/>
        </p:nvGrpSpPr>
        <p:grpSpPr>
          <a:xfrm rot="0">
            <a:off x="9422595" y="5886892"/>
            <a:ext cx="7836705" cy="3236281"/>
            <a:chOff x="0" y="0"/>
            <a:chExt cx="2535475" cy="1047061"/>
          </a:xfrm>
        </p:grpSpPr>
        <p:sp>
          <p:nvSpPr>
            <p:cNvPr name="Freeform 16" id="16"/>
            <p:cNvSpPr/>
            <p:nvPr/>
          </p:nvSpPr>
          <p:spPr>
            <a:xfrm flipH="false" flipV="false" rot="0">
              <a:off x="0" y="0"/>
              <a:ext cx="2535475" cy="1047061"/>
            </a:xfrm>
            <a:custGeom>
              <a:avLst/>
              <a:gdLst/>
              <a:ahLst/>
              <a:cxnLst/>
              <a:rect r="r" b="b" t="t" l="l"/>
              <a:pathLst>
                <a:path h="1047061" w="2535475">
                  <a:moveTo>
                    <a:pt x="39516" y="0"/>
                  </a:moveTo>
                  <a:lnTo>
                    <a:pt x="2495959" y="0"/>
                  </a:lnTo>
                  <a:cubicBezTo>
                    <a:pt x="2506439" y="0"/>
                    <a:pt x="2516490" y="4163"/>
                    <a:pt x="2523901" y="11574"/>
                  </a:cubicBezTo>
                  <a:cubicBezTo>
                    <a:pt x="2531312" y="18985"/>
                    <a:pt x="2535475" y="29036"/>
                    <a:pt x="2535475" y="39516"/>
                  </a:cubicBezTo>
                  <a:lnTo>
                    <a:pt x="2535475" y="1007545"/>
                  </a:lnTo>
                  <a:cubicBezTo>
                    <a:pt x="2535475" y="1018025"/>
                    <a:pt x="2531312" y="1028076"/>
                    <a:pt x="2523901" y="1035487"/>
                  </a:cubicBezTo>
                  <a:cubicBezTo>
                    <a:pt x="2516490" y="1042898"/>
                    <a:pt x="2506439" y="1047061"/>
                    <a:pt x="2495959" y="1047061"/>
                  </a:cubicBezTo>
                  <a:lnTo>
                    <a:pt x="39516" y="1047061"/>
                  </a:lnTo>
                  <a:cubicBezTo>
                    <a:pt x="29036" y="1047061"/>
                    <a:pt x="18985" y="1042898"/>
                    <a:pt x="11574" y="1035487"/>
                  </a:cubicBezTo>
                  <a:cubicBezTo>
                    <a:pt x="4163" y="1028076"/>
                    <a:pt x="0" y="1018025"/>
                    <a:pt x="0" y="1007545"/>
                  </a:cubicBezTo>
                  <a:lnTo>
                    <a:pt x="0" y="39516"/>
                  </a:lnTo>
                  <a:cubicBezTo>
                    <a:pt x="0" y="29036"/>
                    <a:pt x="4163" y="18985"/>
                    <a:pt x="11574" y="11574"/>
                  </a:cubicBezTo>
                  <a:cubicBezTo>
                    <a:pt x="18985" y="4163"/>
                    <a:pt x="29036" y="0"/>
                    <a:pt x="39516" y="0"/>
                  </a:cubicBezTo>
                  <a:close/>
                </a:path>
              </a:pathLst>
            </a:custGeom>
            <a:solidFill>
              <a:srgbClr val="F2F2F2"/>
            </a:solidFill>
          </p:spPr>
        </p:sp>
        <p:sp>
          <p:nvSpPr>
            <p:cNvPr name="TextBox 17" id="17"/>
            <p:cNvSpPr txBox="true"/>
            <p:nvPr/>
          </p:nvSpPr>
          <p:spPr>
            <a:xfrm>
              <a:off x="0" y="-47625"/>
              <a:ext cx="2535475" cy="1094686"/>
            </a:xfrm>
            <a:prstGeom prst="rect">
              <a:avLst/>
            </a:prstGeom>
          </p:spPr>
          <p:txBody>
            <a:bodyPr anchor="ctr" rtlCol="false" tIns="33429" lIns="33429" bIns="33429" rIns="33429"/>
            <a:lstStyle/>
            <a:p>
              <a:pPr algn="ctr" marL="0" indent="0" lvl="0">
                <a:lnSpc>
                  <a:spcPts val="3257"/>
                </a:lnSpc>
              </a:pPr>
            </a:p>
          </p:txBody>
        </p:sp>
      </p:grpSp>
      <p:sp>
        <p:nvSpPr>
          <p:cNvPr name="TextBox 18" id="18"/>
          <p:cNvSpPr txBox="true"/>
          <p:nvPr/>
        </p:nvSpPr>
        <p:spPr>
          <a:xfrm rot="0">
            <a:off x="9895325" y="6820777"/>
            <a:ext cx="6456042" cy="2013488"/>
          </a:xfrm>
          <a:prstGeom prst="rect">
            <a:avLst/>
          </a:prstGeom>
        </p:spPr>
        <p:txBody>
          <a:bodyPr anchor="t" rtlCol="false" tIns="0" lIns="0" bIns="0" rIns="0">
            <a:spAutoFit/>
          </a:bodyPr>
          <a:lstStyle/>
          <a:p>
            <a:pPr algn="just" marL="0" indent="0" lvl="0">
              <a:lnSpc>
                <a:spcPts val="3230"/>
              </a:lnSpc>
              <a:spcBef>
                <a:spcPct val="0"/>
              </a:spcBef>
            </a:pPr>
            <a:r>
              <a:rPr lang="en-US" sz="2307">
                <a:solidFill>
                  <a:srgbClr val="000000"/>
                </a:solidFill>
                <a:latin typeface="Public Sans"/>
                <a:ea typeface="Public Sans"/>
                <a:cs typeface="Public Sans"/>
                <a:sym typeface="Public Sans"/>
              </a:rPr>
              <a:t>• Outil diagnostique pour inspection initiale</a:t>
            </a:r>
          </a:p>
          <a:p>
            <a:pPr algn="just" marL="0" indent="0" lvl="0">
              <a:lnSpc>
                <a:spcPts val="3230"/>
              </a:lnSpc>
              <a:spcBef>
                <a:spcPct val="0"/>
              </a:spcBef>
            </a:pPr>
            <a:r>
              <a:rPr lang="en-US" sz="2307">
                <a:solidFill>
                  <a:srgbClr val="000000"/>
                </a:solidFill>
                <a:latin typeface="Public Sans"/>
                <a:ea typeface="Public Sans"/>
                <a:cs typeface="Public Sans"/>
                <a:sym typeface="Public Sans"/>
              </a:rPr>
              <a:t>• Détection des types de données incorrects</a:t>
            </a:r>
          </a:p>
          <a:p>
            <a:pPr algn="just" marL="0" indent="0" lvl="0">
              <a:lnSpc>
                <a:spcPts val="3230"/>
              </a:lnSpc>
              <a:spcBef>
                <a:spcPct val="0"/>
              </a:spcBef>
            </a:pPr>
            <a:r>
              <a:rPr lang="en-US" sz="2307">
                <a:solidFill>
                  <a:srgbClr val="000000"/>
                </a:solidFill>
                <a:latin typeface="Public Sans"/>
                <a:ea typeface="Public Sans"/>
                <a:cs typeface="Public Sans"/>
                <a:sym typeface="Public Sans"/>
              </a:rPr>
              <a:t>• Variables numériques stockées en texte</a:t>
            </a:r>
          </a:p>
          <a:p>
            <a:pPr algn="just" marL="0" indent="0" lvl="0">
              <a:lnSpc>
                <a:spcPts val="3230"/>
              </a:lnSpc>
              <a:spcBef>
                <a:spcPct val="0"/>
              </a:spcBef>
            </a:pPr>
            <a:r>
              <a:rPr lang="en-US" sz="2307">
                <a:solidFill>
                  <a:srgbClr val="000000"/>
                </a:solidFill>
                <a:latin typeface="Public Sans"/>
                <a:ea typeface="Public Sans"/>
                <a:cs typeface="Public Sans"/>
                <a:sym typeface="Public Sans"/>
              </a:rPr>
              <a:t>• Formats mixtes et valeurs parasites</a:t>
            </a:r>
          </a:p>
          <a:p>
            <a:pPr algn="just" marL="0" indent="0" lvl="0">
              <a:lnSpc>
                <a:spcPts val="3230"/>
              </a:lnSpc>
              <a:spcBef>
                <a:spcPct val="0"/>
              </a:spcBef>
            </a:pPr>
            <a:r>
              <a:rPr lang="en-US" sz="2307">
                <a:solidFill>
                  <a:srgbClr val="000000"/>
                </a:solidFill>
                <a:latin typeface="Public Sans"/>
                <a:ea typeface="Public Sans"/>
                <a:cs typeface="Public Sans"/>
                <a:sym typeface="Public Sans"/>
              </a:rPr>
              <a:t>• Valeurs manquantes significatives (âge client)</a:t>
            </a:r>
          </a:p>
        </p:txBody>
      </p:sp>
      <p:sp>
        <p:nvSpPr>
          <p:cNvPr name="TextBox 19" id="19"/>
          <p:cNvSpPr txBox="true"/>
          <p:nvPr/>
        </p:nvSpPr>
        <p:spPr>
          <a:xfrm rot="0">
            <a:off x="9895325" y="6076016"/>
            <a:ext cx="5754514" cy="588880"/>
          </a:xfrm>
          <a:prstGeom prst="rect">
            <a:avLst/>
          </a:prstGeom>
        </p:spPr>
        <p:txBody>
          <a:bodyPr anchor="t" rtlCol="false" tIns="0" lIns="0" bIns="0" rIns="0">
            <a:spAutoFit/>
          </a:bodyPr>
          <a:lstStyle/>
          <a:p>
            <a:pPr algn="r" marL="0" indent="0" lvl="0">
              <a:lnSpc>
                <a:spcPts val="4743"/>
              </a:lnSpc>
            </a:pPr>
            <a:r>
              <a:rPr lang="en-US" b="true" sz="3388">
                <a:solidFill>
                  <a:srgbClr val="004CCF"/>
                </a:solidFill>
                <a:latin typeface="Public Sans Bold"/>
                <a:ea typeface="Public Sans Bold"/>
                <a:cs typeface="Public Sans Bold"/>
                <a:sym typeface="Public Sans Bold"/>
              </a:rPr>
              <a:t>Structure Globale (df.info())</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42116" y="1375603"/>
            <a:ext cx="6464727" cy="1500168"/>
            <a:chOff x="0" y="0"/>
            <a:chExt cx="2137744" cy="496073"/>
          </a:xfrm>
        </p:grpSpPr>
        <p:sp>
          <p:nvSpPr>
            <p:cNvPr name="Freeform 3" id="3"/>
            <p:cNvSpPr/>
            <p:nvPr/>
          </p:nvSpPr>
          <p:spPr>
            <a:xfrm flipH="false" flipV="false" rot="0">
              <a:off x="0" y="0"/>
              <a:ext cx="2137744" cy="496073"/>
            </a:xfrm>
            <a:custGeom>
              <a:avLst/>
              <a:gdLst/>
              <a:ahLst/>
              <a:cxnLst/>
              <a:rect r="r" b="b" t="t" l="l"/>
              <a:pathLst>
                <a:path h="496073" w="2137744">
                  <a:moveTo>
                    <a:pt x="119756" y="0"/>
                  </a:moveTo>
                  <a:lnTo>
                    <a:pt x="2017988" y="0"/>
                  </a:lnTo>
                  <a:cubicBezTo>
                    <a:pt x="2084128" y="0"/>
                    <a:pt x="2137744" y="53617"/>
                    <a:pt x="2137744" y="119756"/>
                  </a:cubicBezTo>
                  <a:lnTo>
                    <a:pt x="2137744" y="376316"/>
                  </a:lnTo>
                  <a:cubicBezTo>
                    <a:pt x="2137744" y="442456"/>
                    <a:pt x="2084128" y="496073"/>
                    <a:pt x="2017988" y="496073"/>
                  </a:cubicBezTo>
                  <a:lnTo>
                    <a:pt x="119756" y="496073"/>
                  </a:lnTo>
                  <a:cubicBezTo>
                    <a:pt x="53617" y="496073"/>
                    <a:pt x="0" y="442456"/>
                    <a:pt x="0" y="376316"/>
                  </a:cubicBezTo>
                  <a:lnTo>
                    <a:pt x="0" y="119756"/>
                  </a:lnTo>
                  <a:cubicBezTo>
                    <a:pt x="0" y="53617"/>
                    <a:pt x="53617" y="0"/>
                    <a:pt x="119756" y="0"/>
                  </a:cubicBezTo>
                  <a:close/>
                </a:path>
              </a:pathLst>
            </a:custGeom>
            <a:ln w="66675" cap="rnd">
              <a:solidFill>
                <a:srgbClr val="004CCF"/>
              </a:solidFill>
              <a:prstDash val="solid"/>
              <a:round/>
            </a:ln>
          </p:spPr>
        </p:sp>
        <p:sp>
          <p:nvSpPr>
            <p:cNvPr name="TextBox 4" id="4"/>
            <p:cNvSpPr txBox="true"/>
            <p:nvPr/>
          </p:nvSpPr>
          <p:spPr>
            <a:xfrm>
              <a:off x="0" y="-47625"/>
              <a:ext cx="2137744" cy="543698"/>
            </a:xfrm>
            <a:prstGeom prst="rect">
              <a:avLst/>
            </a:prstGeom>
          </p:spPr>
          <p:txBody>
            <a:bodyPr anchor="ctr" rtlCol="false" tIns="50800" lIns="50800" bIns="50800" rIns="50800"/>
            <a:lstStyle/>
            <a:p>
              <a:pPr algn="ctr" marL="0" indent="0" lvl="0">
                <a:lnSpc>
                  <a:spcPts val="3258"/>
                </a:lnSpc>
              </a:pPr>
            </a:p>
          </p:txBody>
        </p:sp>
      </p:grpSp>
      <p:sp>
        <p:nvSpPr>
          <p:cNvPr name="TextBox 5" id="5"/>
          <p:cNvSpPr txBox="true"/>
          <p:nvPr/>
        </p:nvSpPr>
        <p:spPr>
          <a:xfrm rot="0">
            <a:off x="1946300" y="1631794"/>
            <a:ext cx="6056358" cy="1026044"/>
          </a:xfrm>
          <a:prstGeom prst="rect">
            <a:avLst/>
          </a:prstGeom>
        </p:spPr>
        <p:txBody>
          <a:bodyPr anchor="t" rtlCol="false" tIns="0" lIns="0" bIns="0" rIns="0">
            <a:spAutoFit/>
          </a:bodyPr>
          <a:lstStyle/>
          <a:p>
            <a:pPr algn="ctr" marL="0" indent="0" lvl="0">
              <a:lnSpc>
                <a:spcPts val="4003"/>
              </a:lnSpc>
            </a:pPr>
            <a:r>
              <a:rPr lang="en-US" b="true" sz="3639">
                <a:solidFill>
                  <a:srgbClr val="004CCF"/>
                </a:solidFill>
                <a:latin typeface="Aileron Ultra-Bold"/>
                <a:ea typeface="Aileron Ultra-Bold"/>
                <a:cs typeface="Aileron Ultra-Bold"/>
                <a:sym typeface="Aileron Ultra-Bold"/>
              </a:rPr>
              <a:t>Interprétation des Types de Données</a:t>
            </a:r>
          </a:p>
        </p:txBody>
      </p:sp>
      <p:sp>
        <p:nvSpPr>
          <p:cNvPr name="TextBox 6" id="6"/>
          <p:cNvSpPr txBox="true"/>
          <p:nvPr/>
        </p:nvSpPr>
        <p:spPr>
          <a:xfrm rot="0">
            <a:off x="1378976" y="4440122"/>
            <a:ext cx="8052370" cy="772135"/>
          </a:xfrm>
          <a:prstGeom prst="rect">
            <a:avLst/>
          </a:prstGeom>
        </p:spPr>
        <p:txBody>
          <a:bodyPr anchor="t" rtlCol="false" tIns="0" lIns="0" bIns="0" rIns="0">
            <a:spAutoFit/>
          </a:bodyPr>
          <a:lstStyle/>
          <a:p>
            <a:pPr algn="l" marL="0" indent="0" lvl="0">
              <a:lnSpc>
                <a:spcPts val="3116"/>
              </a:lnSpc>
              <a:spcBef>
                <a:spcPct val="0"/>
              </a:spcBef>
            </a:pPr>
            <a:r>
              <a:rPr lang="en-US" sz="2225">
                <a:solidFill>
                  <a:srgbClr val="000000"/>
                </a:solidFill>
                <a:latin typeface="Public Sans"/>
                <a:ea typeface="Public Sans"/>
                <a:cs typeface="Public Sans"/>
                <a:sym typeface="Public Sans"/>
              </a:rPr>
              <a:t>Variables numériques entières comme Recency, Frequency, TotalQuantity. Idéal pour les comptages et indices temporels.</a:t>
            </a:r>
          </a:p>
        </p:txBody>
      </p:sp>
      <p:sp>
        <p:nvSpPr>
          <p:cNvPr name="TextBox 7" id="7"/>
          <p:cNvSpPr txBox="true"/>
          <p:nvPr/>
        </p:nvSpPr>
        <p:spPr>
          <a:xfrm rot="0">
            <a:off x="1378976" y="3619167"/>
            <a:ext cx="12578833" cy="532762"/>
          </a:xfrm>
          <a:prstGeom prst="rect">
            <a:avLst/>
          </a:prstGeom>
        </p:spPr>
        <p:txBody>
          <a:bodyPr anchor="t" rtlCol="false" tIns="0" lIns="0" bIns="0" rIns="0">
            <a:spAutoFit/>
          </a:bodyPr>
          <a:lstStyle/>
          <a:p>
            <a:pPr algn="just" marL="0" indent="0" lvl="0">
              <a:lnSpc>
                <a:spcPts val="4235"/>
              </a:lnSpc>
            </a:pPr>
            <a:r>
              <a:rPr lang="en-US" b="true" sz="3025">
                <a:solidFill>
                  <a:srgbClr val="004CCF"/>
                </a:solidFill>
                <a:latin typeface="Public Sans Bold"/>
                <a:ea typeface="Public Sans Bold"/>
                <a:cs typeface="Public Sans Bold"/>
                <a:sym typeface="Public Sans Bold"/>
              </a:rPr>
              <a:t>int64 — Entier 64 bits</a:t>
            </a:r>
          </a:p>
        </p:txBody>
      </p:sp>
      <p:sp>
        <p:nvSpPr>
          <p:cNvPr name="TextBox 8" id="8"/>
          <p:cNvSpPr txBox="true"/>
          <p:nvPr/>
        </p:nvSpPr>
        <p:spPr>
          <a:xfrm rot="0">
            <a:off x="1378976" y="6528013"/>
            <a:ext cx="7191007" cy="1162660"/>
          </a:xfrm>
          <a:prstGeom prst="rect">
            <a:avLst/>
          </a:prstGeom>
        </p:spPr>
        <p:txBody>
          <a:bodyPr anchor="t" rtlCol="false" tIns="0" lIns="0" bIns="0" rIns="0">
            <a:spAutoFit/>
          </a:bodyPr>
          <a:lstStyle/>
          <a:p>
            <a:pPr algn="l" marL="0" indent="0" lvl="0">
              <a:lnSpc>
                <a:spcPts val="3116"/>
              </a:lnSpc>
              <a:spcBef>
                <a:spcPct val="0"/>
              </a:spcBef>
            </a:pPr>
            <a:r>
              <a:rPr lang="en-US" sz="2225">
                <a:solidFill>
                  <a:srgbClr val="000000"/>
                </a:solidFill>
                <a:latin typeface="Public Sans"/>
                <a:ea typeface="Public Sans"/>
                <a:cs typeface="Public Sans"/>
                <a:sym typeface="Public Sans"/>
              </a:rPr>
              <a:t>Variables avec décimales comme Age, ReturnRatio, SatisfactionScore. Utilisé pour les ratios et moyennes calculées.</a:t>
            </a:r>
          </a:p>
        </p:txBody>
      </p:sp>
      <p:sp>
        <p:nvSpPr>
          <p:cNvPr name="TextBox 9" id="9"/>
          <p:cNvSpPr txBox="true"/>
          <p:nvPr/>
        </p:nvSpPr>
        <p:spPr>
          <a:xfrm rot="0">
            <a:off x="1378976" y="5652352"/>
            <a:ext cx="5482207" cy="532762"/>
          </a:xfrm>
          <a:prstGeom prst="rect">
            <a:avLst/>
          </a:prstGeom>
        </p:spPr>
        <p:txBody>
          <a:bodyPr anchor="t" rtlCol="false" tIns="0" lIns="0" bIns="0" rIns="0">
            <a:spAutoFit/>
          </a:bodyPr>
          <a:lstStyle/>
          <a:p>
            <a:pPr algn="just" marL="0" indent="0" lvl="0">
              <a:lnSpc>
                <a:spcPts val="4235"/>
              </a:lnSpc>
            </a:pPr>
            <a:r>
              <a:rPr lang="en-US" b="true" sz="3025">
                <a:solidFill>
                  <a:srgbClr val="004CCF"/>
                </a:solidFill>
                <a:latin typeface="Public Sans Bold"/>
                <a:ea typeface="Public Sans Bold"/>
                <a:cs typeface="Public Sans Bold"/>
                <a:sym typeface="Public Sans Bold"/>
              </a:rPr>
              <a:t>float64 — Nombre décimal</a:t>
            </a:r>
          </a:p>
        </p:txBody>
      </p:sp>
      <p:sp>
        <p:nvSpPr>
          <p:cNvPr name="TextBox 10" id="10"/>
          <p:cNvSpPr txBox="true"/>
          <p:nvPr/>
        </p:nvSpPr>
        <p:spPr>
          <a:xfrm rot="0">
            <a:off x="1378976" y="8803828"/>
            <a:ext cx="8133713" cy="1162558"/>
          </a:xfrm>
          <a:prstGeom prst="rect">
            <a:avLst/>
          </a:prstGeom>
        </p:spPr>
        <p:txBody>
          <a:bodyPr anchor="t" rtlCol="false" tIns="0" lIns="0" bIns="0" rIns="0">
            <a:spAutoFit/>
          </a:bodyPr>
          <a:lstStyle/>
          <a:p>
            <a:pPr algn="l" marL="0" indent="0" lvl="0">
              <a:lnSpc>
                <a:spcPts val="3121"/>
              </a:lnSpc>
              <a:spcBef>
                <a:spcPct val="0"/>
              </a:spcBef>
            </a:pPr>
            <a:r>
              <a:rPr lang="en-US" sz="2229">
                <a:solidFill>
                  <a:srgbClr val="000000"/>
                </a:solidFill>
                <a:latin typeface="Public Sans"/>
                <a:ea typeface="Public Sans"/>
                <a:cs typeface="Public Sans"/>
                <a:sym typeface="Public Sans"/>
              </a:rPr>
              <a:t>Variables textuelles comme RFMSegment, Gender, Country. Attention: MonetaryTotal détecté comme object au lieu de float (problème de formatage).</a:t>
            </a:r>
          </a:p>
        </p:txBody>
      </p:sp>
      <p:sp>
        <p:nvSpPr>
          <p:cNvPr name="TextBox 11" id="11"/>
          <p:cNvSpPr txBox="true"/>
          <p:nvPr/>
        </p:nvSpPr>
        <p:spPr>
          <a:xfrm rot="0">
            <a:off x="1378976" y="7928799"/>
            <a:ext cx="6005331" cy="532130"/>
          </a:xfrm>
          <a:prstGeom prst="rect">
            <a:avLst/>
          </a:prstGeom>
        </p:spPr>
        <p:txBody>
          <a:bodyPr anchor="t" rtlCol="false" tIns="0" lIns="0" bIns="0" rIns="0">
            <a:spAutoFit/>
          </a:bodyPr>
          <a:lstStyle/>
          <a:p>
            <a:pPr algn="just" marL="0" indent="0" lvl="0">
              <a:lnSpc>
                <a:spcPts val="4270"/>
              </a:lnSpc>
            </a:pPr>
            <a:r>
              <a:rPr lang="en-US" b="true" sz="3050">
                <a:solidFill>
                  <a:srgbClr val="004CCF"/>
                </a:solidFill>
                <a:latin typeface="Public Sans Bold"/>
                <a:ea typeface="Public Sans Bold"/>
                <a:cs typeface="Public Sans Bold"/>
                <a:sym typeface="Public Sans Bold"/>
              </a:rPr>
              <a:t>object / str — Texte ou mixte</a:t>
            </a:r>
          </a:p>
        </p:txBody>
      </p:sp>
      <p:grpSp>
        <p:nvGrpSpPr>
          <p:cNvPr name="Group 12" id="12"/>
          <p:cNvGrpSpPr/>
          <p:nvPr/>
        </p:nvGrpSpPr>
        <p:grpSpPr>
          <a:xfrm rot="0">
            <a:off x="-1729696" y="-449303"/>
            <a:ext cx="3108672" cy="5592803"/>
            <a:chOff x="0" y="0"/>
            <a:chExt cx="448558" cy="806999"/>
          </a:xfrm>
        </p:grpSpPr>
        <p:sp>
          <p:nvSpPr>
            <p:cNvPr name="Freeform 13" id="13"/>
            <p:cNvSpPr/>
            <p:nvPr/>
          </p:nvSpPr>
          <p:spPr>
            <a:xfrm flipH="false" flipV="false" rot="0">
              <a:off x="27060" y="0"/>
              <a:ext cx="394437" cy="806999"/>
            </a:xfrm>
            <a:custGeom>
              <a:avLst/>
              <a:gdLst/>
              <a:ahLst/>
              <a:cxnLst/>
              <a:rect r="r" b="b" t="t" l="l"/>
              <a:pathLst>
                <a:path h="806999" w="394437">
                  <a:moveTo>
                    <a:pt x="298819" y="0"/>
                  </a:moveTo>
                  <a:lnTo>
                    <a:pt x="298819" y="0"/>
                  </a:lnTo>
                  <a:cubicBezTo>
                    <a:pt x="328291" y="0"/>
                    <a:pt x="356117" y="13591"/>
                    <a:pt x="374235" y="36837"/>
                  </a:cubicBezTo>
                  <a:cubicBezTo>
                    <a:pt x="392353" y="60083"/>
                    <a:pt x="398739" y="90385"/>
                    <a:pt x="391542" y="118965"/>
                  </a:cubicBezTo>
                  <a:lnTo>
                    <a:pt x="248253" y="688033"/>
                  </a:lnTo>
                  <a:cubicBezTo>
                    <a:pt x="230641" y="757976"/>
                    <a:pt x="167745" y="806999"/>
                    <a:pt x="95619" y="806999"/>
                  </a:cubicBezTo>
                  <a:lnTo>
                    <a:pt x="95619" y="806999"/>
                  </a:lnTo>
                  <a:cubicBezTo>
                    <a:pt x="66146" y="806999"/>
                    <a:pt x="38321" y="793407"/>
                    <a:pt x="20203" y="770161"/>
                  </a:cubicBezTo>
                  <a:cubicBezTo>
                    <a:pt x="2084" y="746916"/>
                    <a:pt x="-4301" y="716614"/>
                    <a:pt x="2895" y="688033"/>
                  </a:cubicBezTo>
                  <a:lnTo>
                    <a:pt x="146185" y="118965"/>
                  </a:lnTo>
                  <a:cubicBezTo>
                    <a:pt x="163796" y="49023"/>
                    <a:pt x="226693" y="0"/>
                    <a:pt x="298819" y="0"/>
                  </a:cubicBezTo>
                  <a:close/>
                </a:path>
              </a:pathLst>
            </a:custGeom>
            <a:gradFill rotWithShape="true">
              <a:gsLst>
                <a:gs pos="0">
                  <a:srgbClr val="0D1296">
                    <a:alpha val="100000"/>
                  </a:srgbClr>
                </a:gs>
                <a:gs pos="100000">
                  <a:srgbClr val="2B79FF">
                    <a:alpha val="100000"/>
                  </a:srgbClr>
                </a:gs>
              </a:gsLst>
              <a:lin ang="2700000"/>
            </a:gradFill>
          </p:spPr>
        </p:sp>
        <p:sp>
          <p:nvSpPr>
            <p:cNvPr name="TextBox 14" id="14"/>
            <p:cNvSpPr txBox="true"/>
            <p:nvPr/>
          </p:nvSpPr>
          <p:spPr>
            <a:xfrm>
              <a:off x="101600" y="-66675"/>
              <a:ext cx="245358" cy="873674"/>
            </a:xfrm>
            <a:prstGeom prst="rect">
              <a:avLst/>
            </a:prstGeom>
          </p:spPr>
          <p:txBody>
            <a:bodyPr anchor="ctr" rtlCol="false" tIns="50800" lIns="50800" bIns="50800" rIns="50800"/>
            <a:lstStyle/>
            <a:p>
              <a:pPr algn="ctr" marL="0" indent="0" lvl="0">
                <a:lnSpc>
                  <a:spcPts val="3151"/>
                </a:lnSpc>
              </a:pPr>
            </a:p>
          </p:txBody>
        </p:sp>
      </p:grpSp>
      <p:sp>
        <p:nvSpPr>
          <p:cNvPr name="Freeform 15" id="15"/>
          <p:cNvSpPr/>
          <p:nvPr/>
        </p:nvSpPr>
        <p:spPr>
          <a:xfrm flipH="false" flipV="false" rot="0">
            <a:off x="9994065" y="1740740"/>
            <a:ext cx="7411092" cy="8390785"/>
          </a:xfrm>
          <a:custGeom>
            <a:avLst/>
            <a:gdLst/>
            <a:ahLst/>
            <a:cxnLst/>
            <a:rect r="r" b="b" t="t" l="l"/>
            <a:pathLst>
              <a:path h="8390785" w="7411092">
                <a:moveTo>
                  <a:pt x="0" y="0"/>
                </a:moveTo>
                <a:lnTo>
                  <a:pt x="7411092" y="0"/>
                </a:lnTo>
                <a:lnTo>
                  <a:pt x="7411092" y="8390785"/>
                </a:lnTo>
                <a:lnTo>
                  <a:pt x="0" y="8390785"/>
                </a:lnTo>
                <a:lnTo>
                  <a:pt x="0" y="0"/>
                </a:lnTo>
                <a:close/>
              </a:path>
            </a:pathLst>
          </a:custGeom>
          <a:blipFill>
            <a:blip r:embed="rId3"/>
            <a:stretch>
              <a:fillRect l="0" t="0" r="0" b="0"/>
            </a:stretch>
          </a:blipFill>
        </p:spPr>
      </p:sp>
      <p:sp>
        <p:nvSpPr>
          <p:cNvPr name="TextBox 16" id="16"/>
          <p:cNvSpPr txBox="true"/>
          <p:nvPr/>
        </p:nvSpPr>
        <p:spPr>
          <a:xfrm rot="0">
            <a:off x="10553664" y="760894"/>
            <a:ext cx="5584250" cy="573711"/>
          </a:xfrm>
          <a:prstGeom prst="rect">
            <a:avLst/>
          </a:prstGeom>
        </p:spPr>
        <p:txBody>
          <a:bodyPr anchor="t" rtlCol="false" tIns="0" lIns="0" bIns="0" rIns="0">
            <a:spAutoFit/>
          </a:bodyPr>
          <a:lstStyle/>
          <a:p>
            <a:pPr algn="r" marL="0" indent="0" lvl="0">
              <a:lnSpc>
                <a:spcPts val="4602"/>
              </a:lnSpc>
            </a:pPr>
            <a:r>
              <a:rPr lang="en-US" b="true" sz="3287">
                <a:solidFill>
                  <a:srgbClr val="004CCF"/>
                </a:solidFill>
                <a:latin typeface="Public Sans Bold"/>
                <a:ea typeface="Public Sans Bold"/>
                <a:cs typeface="Public Sans Bold"/>
                <a:sym typeface="Public Sans Bold"/>
              </a:rPr>
              <a:t>Structure Globale (df.info())</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88449" y="1133475"/>
            <a:ext cx="7466684" cy="1331267"/>
          </a:xfrm>
          <a:prstGeom prst="rect">
            <a:avLst/>
          </a:prstGeom>
        </p:spPr>
        <p:txBody>
          <a:bodyPr anchor="t" rtlCol="false" tIns="0" lIns="0" bIns="0" rIns="0">
            <a:spAutoFit/>
          </a:bodyPr>
          <a:lstStyle/>
          <a:p>
            <a:pPr algn="l" marL="0" indent="0" lvl="0">
              <a:lnSpc>
                <a:spcPts val="5187"/>
              </a:lnSpc>
              <a:spcBef>
                <a:spcPct val="0"/>
              </a:spcBef>
            </a:pPr>
            <a:r>
              <a:rPr lang="en-US" b="true" sz="4894">
                <a:solidFill>
                  <a:srgbClr val="004CCF"/>
                </a:solidFill>
                <a:latin typeface="Aileron Ultra-Bold"/>
                <a:ea typeface="Aileron Ultra-Bold"/>
                <a:cs typeface="Aileron Ultra-Bold"/>
                <a:sym typeface="Aileron Ultra-Bold"/>
              </a:rPr>
              <a:t>Statistiques Descriptives (df.describe())</a:t>
            </a:r>
          </a:p>
        </p:txBody>
      </p:sp>
      <p:sp>
        <p:nvSpPr>
          <p:cNvPr name="TextBox 3" id="3"/>
          <p:cNvSpPr txBox="true"/>
          <p:nvPr/>
        </p:nvSpPr>
        <p:spPr>
          <a:xfrm rot="0">
            <a:off x="1216986" y="3089846"/>
            <a:ext cx="7209611" cy="2510826"/>
          </a:xfrm>
          <a:prstGeom prst="rect">
            <a:avLst/>
          </a:prstGeom>
        </p:spPr>
        <p:txBody>
          <a:bodyPr anchor="t" rtlCol="false" tIns="0" lIns="0" bIns="0" rIns="0">
            <a:spAutoFit/>
          </a:bodyPr>
          <a:lstStyle/>
          <a:p>
            <a:pPr algn="just" marL="0" indent="0" lvl="0">
              <a:lnSpc>
                <a:spcPts val="3358"/>
              </a:lnSpc>
            </a:pPr>
            <a:r>
              <a:rPr lang="en-US" sz="2398">
                <a:solidFill>
                  <a:srgbClr val="000000"/>
                </a:solidFill>
                <a:latin typeface="Public Sans"/>
                <a:ea typeface="Public Sans"/>
                <a:cs typeface="Public Sans"/>
                <a:sym typeface="Public Sans"/>
              </a:rPr>
              <a:t>La fonction df.describe() fournit un résumé statistique complet des variables numériques du dataset. Elle permet d'identifier rapidement les tendances centrales, la dispersion des données et de détecter des anomalies potentielles nécessitant un traitement spécifique.</a:t>
            </a:r>
          </a:p>
        </p:txBody>
      </p:sp>
      <p:grpSp>
        <p:nvGrpSpPr>
          <p:cNvPr name="Group 4" id="4"/>
          <p:cNvGrpSpPr/>
          <p:nvPr/>
        </p:nvGrpSpPr>
        <p:grpSpPr>
          <a:xfrm rot="0">
            <a:off x="9679089" y="2866285"/>
            <a:ext cx="7509720" cy="6614511"/>
            <a:chOff x="0" y="0"/>
            <a:chExt cx="2721368" cy="2396963"/>
          </a:xfrm>
        </p:grpSpPr>
        <p:sp>
          <p:nvSpPr>
            <p:cNvPr name="Freeform 5" id="5"/>
            <p:cNvSpPr/>
            <p:nvPr/>
          </p:nvSpPr>
          <p:spPr>
            <a:xfrm flipH="false" flipV="false" rot="0">
              <a:off x="0" y="0"/>
              <a:ext cx="2721368" cy="2396963"/>
            </a:xfrm>
            <a:custGeom>
              <a:avLst/>
              <a:gdLst/>
              <a:ahLst/>
              <a:cxnLst/>
              <a:rect r="r" b="b" t="t" l="l"/>
              <a:pathLst>
                <a:path h="2396963" w="2721368">
                  <a:moveTo>
                    <a:pt x="41237" y="0"/>
                  </a:moveTo>
                  <a:lnTo>
                    <a:pt x="2680132" y="0"/>
                  </a:lnTo>
                  <a:cubicBezTo>
                    <a:pt x="2702906" y="0"/>
                    <a:pt x="2721368" y="18462"/>
                    <a:pt x="2721368" y="41237"/>
                  </a:cubicBezTo>
                  <a:lnTo>
                    <a:pt x="2721368" y="2355726"/>
                  </a:lnTo>
                  <a:cubicBezTo>
                    <a:pt x="2721368" y="2378501"/>
                    <a:pt x="2702906" y="2396963"/>
                    <a:pt x="2680132" y="2396963"/>
                  </a:cubicBezTo>
                  <a:lnTo>
                    <a:pt x="41237" y="2396963"/>
                  </a:lnTo>
                  <a:cubicBezTo>
                    <a:pt x="30300" y="2396963"/>
                    <a:pt x="19811" y="2392618"/>
                    <a:pt x="12078" y="2384885"/>
                  </a:cubicBezTo>
                  <a:cubicBezTo>
                    <a:pt x="4345" y="2377152"/>
                    <a:pt x="0" y="2366663"/>
                    <a:pt x="0" y="2355726"/>
                  </a:cubicBezTo>
                  <a:lnTo>
                    <a:pt x="0" y="41237"/>
                  </a:lnTo>
                  <a:cubicBezTo>
                    <a:pt x="0" y="18462"/>
                    <a:pt x="18462" y="0"/>
                    <a:pt x="41237" y="0"/>
                  </a:cubicBezTo>
                  <a:close/>
                </a:path>
              </a:pathLst>
            </a:custGeom>
            <a:solidFill>
              <a:srgbClr val="F2F2F2"/>
            </a:solidFill>
          </p:spPr>
        </p:sp>
        <p:sp>
          <p:nvSpPr>
            <p:cNvPr name="TextBox 6" id="6"/>
            <p:cNvSpPr txBox="true"/>
            <p:nvPr/>
          </p:nvSpPr>
          <p:spPr>
            <a:xfrm>
              <a:off x="0" y="-47625"/>
              <a:ext cx="2721368" cy="2444588"/>
            </a:xfrm>
            <a:prstGeom prst="rect">
              <a:avLst/>
            </a:prstGeom>
          </p:spPr>
          <p:txBody>
            <a:bodyPr anchor="ctr" rtlCol="false" tIns="31386" lIns="31386" bIns="31386" rIns="31386"/>
            <a:lstStyle/>
            <a:p>
              <a:pPr algn="ctr" marL="0" indent="0" lvl="0">
                <a:lnSpc>
                  <a:spcPts val="3257"/>
                </a:lnSpc>
              </a:pPr>
            </a:p>
          </p:txBody>
        </p:sp>
      </p:grpSp>
      <p:sp>
        <p:nvSpPr>
          <p:cNvPr name="TextBox 7" id="7"/>
          <p:cNvSpPr txBox="true"/>
          <p:nvPr/>
        </p:nvSpPr>
        <p:spPr>
          <a:xfrm rot="0">
            <a:off x="9932624" y="3570385"/>
            <a:ext cx="7002651" cy="728430"/>
          </a:xfrm>
          <a:prstGeom prst="rect">
            <a:avLst/>
          </a:prstGeom>
        </p:spPr>
        <p:txBody>
          <a:bodyPr anchor="t" rtlCol="false" tIns="0" lIns="0" bIns="0" rIns="0">
            <a:spAutoFit/>
          </a:bodyPr>
          <a:lstStyle/>
          <a:p>
            <a:pPr algn="just" marL="0" indent="0" lvl="0">
              <a:lnSpc>
                <a:spcPts val="2900"/>
              </a:lnSpc>
              <a:spcBef>
                <a:spcPct val="0"/>
              </a:spcBef>
            </a:pPr>
            <a:r>
              <a:rPr lang="en-US" sz="2071">
                <a:solidFill>
                  <a:srgbClr val="000000"/>
                </a:solidFill>
                <a:latin typeface="Public Sans"/>
                <a:ea typeface="Public Sans"/>
                <a:cs typeface="Public Sans"/>
                <a:sym typeface="Public Sans"/>
              </a:rPr>
              <a:t>Moyenne et écart-type pour mesurer la tendance centrale et la dispersion des valeurs dans chaque variable.</a:t>
            </a:r>
          </a:p>
        </p:txBody>
      </p:sp>
      <p:sp>
        <p:nvSpPr>
          <p:cNvPr name="TextBox 8" id="8"/>
          <p:cNvSpPr txBox="true"/>
          <p:nvPr/>
        </p:nvSpPr>
        <p:spPr>
          <a:xfrm rot="0">
            <a:off x="9932624" y="3080321"/>
            <a:ext cx="7002651" cy="489800"/>
          </a:xfrm>
          <a:prstGeom prst="rect">
            <a:avLst/>
          </a:prstGeom>
        </p:spPr>
        <p:txBody>
          <a:bodyPr anchor="t" rtlCol="false" tIns="0" lIns="0" bIns="0" rIns="0">
            <a:spAutoFit/>
          </a:bodyPr>
          <a:lstStyle/>
          <a:p>
            <a:pPr algn="just" marL="0" indent="0" lvl="0">
              <a:lnSpc>
                <a:spcPts val="3940"/>
              </a:lnSpc>
            </a:pPr>
            <a:r>
              <a:rPr lang="en-US" b="true" sz="2814">
                <a:solidFill>
                  <a:srgbClr val="004CCF"/>
                </a:solidFill>
                <a:latin typeface="Public Sans Bold"/>
                <a:ea typeface="Public Sans Bold"/>
                <a:cs typeface="Public Sans Bold"/>
                <a:sym typeface="Public Sans Bold"/>
              </a:rPr>
              <a:t>Statistiques Clés Analysées</a:t>
            </a:r>
          </a:p>
        </p:txBody>
      </p:sp>
      <p:sp>
        <p:nvSpPr>
          <p:cNvPr name="TextBox 9" id="9"/>
          <p:cNvSpPr txBox="true"/>
          <p:nvPr/>
        </p:nvSpPr>
        <p:spPr>
          <a:xfrm rot="0">
            <a:off x="9932624" y="5215229"/>
            <a:ext cx="7002651" cy="728430"/>
          </a:xfrm>
          <a:prstGeom prst="rect">
            <a:avLst/>
          </a:prstGeom>
        </p:spPr>
        <p:txBody>
          <a:bodyPr anchor="t" rtlCol="false" tIns="0" lIns="0" bIns="0" rIns="0">
            <a:spAutoFit/>
          </a:bodyPr>
          <a:lstStyle/>
          <a:p>
            <a:pPr algn="just" marL="0" indent="0" lvl="0">
              <a:lnSpc>
                <a:spcPts val="2900"/>
              </a:lnSpc>
              <a:spcBef>
                <a:spcPct val="0"/>
              </a:spcBef>
            </a:pPr>
            <a:r>
              <a:rPr lang="en-US" sz="2071">
                <a:solidFill>
                  <a:srgbClr val="000000"/>
                </a:solidFill>
                <a:latin typeface="Public Sans"/>
                <a:ea typeface="Public Sans"/>
                <a:cs typeface="Public Sans"/>
                <a:sym typeface="Public Sans"/>
              </a:rPr>
              <a:t>Min, max et quartiles (Q1, Q2, Q3) révèlent la distribution et identifient les outliers potentiels.</a:t>
            </a:r>
          </a:p>
        </p:txBody>
      </p:sp>
      <p:sp>
        <p:nvSpPr>
          <p:cNvPr name="TextBox 10" id="10"/>
          <p:cNvSpPr txBox="true"/>
          <p:nvPr/>
        </p:nvSpPr>
        <p:spPr>
          <a:xfrm rot="0">
            <a:off x="9932624" y="4725165"/>
            <a:ext cx="7002651" cy="489800"/>
          </a:xfrm>
          <a:prstGeom prst="rect">
            <a:avLst/>
          </a:prstGeom>
        </p:spPr>
        <p:txBody>
          <a:bodyPr anchor="t" rtlCol="false" tIns="0" lIns="0" bIns="0" rIns="0">
            <a:spAutoFit/>
          </a:bodyPr>
          <a:lstStyle/>
          <a:p>
            <a:pPr algn="just" marL="0" indent="0" lvl="0">
              <a:lnSpc>
                <a:spcPts val="3940"/>
              </a:lnSpc>
            </a:pPr>
            <a:r>
              <a:rPr lang="en-US" b="true" sz="2814">
                <a:solidFill>
                  <a:srgbClr val="004CCF"/>
                </a:solidFill>
                <a:latin typeface="Public Sans Bold"/>
                <a:ea typeface="Public Sans Bold"/>
                <a:cs typeface="Public Sans Bold"/>
                <a:sym typeface="Public Sans Bold"/>
              </a:rPr>
              <a:t>Quartiles et Valeurs Extrêmes</a:t>
            </a:r>
          </a:p>
        </p:txBody>
      </p:sp>
      <p:sp>
        <p:nvSpPr>
          <p:cNvPr name="TextBox 11" id="11"/>
          <p:cNvSpPr txBox="true"/>
          <p:nvPr/>
        </p:nvSpPr>
        <p:spPr>
          <a:xfrm rot="0">
            <a:off x="9932624" y="6861974"/>
            <a:ext cx="7002651" cy="728430"/>
          </a:xfrm>
          <a:prstGeom prst="rect">
            <a:avLst/>
          </a:prstGeom>
        </p:spPr>
        <p:txBody>
          <a:bodyPr anchor="t" rtlCol="false" tIns="0" lIns="0" bIns="0" rIns="0">
            <a:spAutoFit/>
          </a:bodyPr>
          <a:lstStyle/>
          <a:p>
            <a:pPr algn="just" marL="0" indent="0" lvl="0">
              <a:lnSpc>
                <a:spcPts val="2900"/>
              </a:lnSpc>
              <a:spcBef>
                <a:spcPct val="0"/>
              </a:spcBef>
            </a:pPr>
            <a:r>
              <a:rPr lang="en-US" sz="2071">
                <a:solidFill>
                  <a:srgbClr val="000000"/>
                </a:solidFill>
                <a:latin typeface="Public Sans"/>
                <a:ea typeface="Public Sans"/>
                <a:cs typeface="Public Sans"/>
                <a:sym typeface="Public Sans"/>
              </a:rPr>
              <a:t>Valeurs sentinelles détectées: {-1, 0, 99} alors que l'échelle logique est 1-5. Traitement spécifique requis.</a:t>
            </a:r>
          </a:p>
        </p:txBody>
      </p:sp>
      <p:sp>
        <p:nvSpPr>
          <p:cNvPr name="TextBox 12" id="12"/>
          <p:cNvSpPr txBox="true"/>
          <p:nvPr/>
        </p:nvSpPr>
        <p:spPr>
          <a:xfrm rot="0">
            <a:off x="9932624" y="6371910"/>
            <a:ext cx="7002651" cy="489800"/>
          </a:xfrm>
          <a:prstGeom prst="rect">
            <a:avLst/>
          </a:prstGeom>
        </p:spPr>
        <p:txBody>
          <a:bodyPr anchor="t" rtlCol="false" tIns="0" lIns="0" bIns="0" rIns="0">
            <a:spAutoFit/>
          </a:bodyPr>
          <a:lstStyle/>
          <a:p>
            <a:pPr algn="just" marL="0" indent="0" lvl="0">
              <a:lnSpc>
                <a:spcPts val="3940"/>
              </a:lnSpc>
            </a:pPr>
            <a:r>
              <a:rPr lang="en-US" b="true" sz="2814">
                <a:solidFill>
                  <a:srgbClr val="004CCF"/>
                </a:solidFill>
                <a:latin typeface="Public Sans Bold"/>
                <a:ea typeface="Public Sans Bold"/>
                <a:cs typeface="Public Sans Bold"/>
                <a:sym typeface="Public Sans Bold"/>
              </a:rPr>
              <a:t>Anomalie: SatisfactionScore</a:t>
            </a:r>
          </a:p>
        </p:txBody>
      </p:sp>
      <p:sp>
        <p:nvSpPr>
          <p:cNvPr name="TextBox 13" id="13"/>
          <p:cNvSpPr txBox="true"/>
          <p:nvPr/>
        </p:nvSpPr>
        <p:spPr>
          <a:xfrm rot="0">
            <a:off x="9932624" y="8508718"/>
            <a:ext cx="7002651" cy="728430"/>
          </a:xfrm>
          <a:prstGeom prst="rect">
            <a:avLst/>
          </a:prstGeom>
        </p:spPr>
        <p:txBody>
          <a:bodyPr anchor="t" rtlCol="false" tIns="0" lIns="0" bIns="0" rIns="0">
            <a:spAutoFit/>
          </a:bodyPr>
          <a:lstStyle/>
          <a:p>
            <a:pPr algn="just" marL="0" indent="0" lvl="0">
              <a:lnSpc>
                <a:spcPts val="2900"/>
              </a:lnSpc>
              <a:spcBef>
                <a:spcPct val="0"/>
              </a:spcBef>
            </a:pPr>
            <a:r>
              <a:rPr lang="en-US" sz="2071">
                <a:solidFill>
                  <a:srgbClr val="000000"/>
                </a:solidFill>
                <a:latin typeface="Public Sans"/>
                <a:ea typeface="Public Sans"/>
                <a:cs typeface="Public Sans"/>
                <a:sym typeface="Public Sans"/>
              </a:rPr>
              <a:t>Valeurs sentinelles: {-1, 999} identifiées. 999 tickets est impossible, indiquant des données manquantes codées.</a:t>
            </a:r>
          </a:p>
        </p:txBody>
      </p:sp>
      <p:sp>
        <p:nvSpPr>
          <p:cNvPr name="TextBox 14" id="14"/>
          <p:cNvSpPr txBox="true"/>
          <p:nvPr/>
        </p:nvSpPr>
        <p:spPr>
          <a:xfrm rot="0">
            <a:off x="9932624" y="8018654"/>
            <a:ext cx="7002651" cy="489800"/>
          </a:xfrm>
          <a:prstGeom prst="rect">
            <a:avLst/>
          </a:prstGeom>
        </p:spPr>
        <p:txBody>
          <a:bodyPr anchor="t" rtlCol="false" tIns="0" lIns="0" bIns="0" rIns="0">
            <a:spAutoFit/>
          </a:bodyPr>
          <a:lstStyle/>
          <a:p>
            <a:pPr algn="just" marL="0" indent="0" lvl="0">
              <a:lnSpc>
                <a:spcPts val="3940"/>
              </a:lnSpc>
            </a:pPr>
            <a:r>
              <a:rPr lang="en-US" b="true" sz="2814">
                <a:solidFill>
                  <a:srgbClr val="004CCF"/>
                </a:solidFill>
                <a:latin typeface="Public Sans Bold"/>
                <a:ea typeface="Public Sans Bold"/>
                <a:cs typeface="Public Sans Bold"/>
                <a:sym typeface="Public Sans Bold"/>
              </a:rPr>
              <a:t>Anomalie: SupportTicketsCount</a:t>
            </a:r>
          </a:p>
        </p:txBody>
      </p:sp>
      <p:sp>
        <p:nvSpPr>
          <p:cNvPr name="Freeform 15" id="15"/>
          <p:cNvSpPr/>
          <p:nvPr/>
        </p:nvSpPr>
        <p:spPr>
          <a:xfrm flipH="false" flipV="false" rot="2871075">
            <a:off x="15350015" y="-2421040"/>
            <a:ext cx="5078392" cy="5072044"/>
          </a:xfrm>
          <a:custGeom>
            <a:avLst/>
            <a:gdLst/>
            <a:ahLst/>
            <a:cxnLst/>
            <a:rect r="r" b="b" t="t" l="l"/>
            <a:pathLst>
              <a:path h="5072044" w="5078392">
                <a:moveTo>
                  <a:pt x="0" y="0"/>
                </a:moveTo>
                <a:lnTo>
                  <a:pt x="5078392" y="0"/>
                </a:lnTo>
                <a:lnTo>
                  <a:pt x="5078392" y="5072044"/>
                </a:lnTo>
                <a:lnTo>
                  <a:pt x="0" y="5072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6" id="16"/>
          <p:cNvSpPr/>
          <p:nvPr/>
        </p:nvSpPr>
        <p:spPr>
          <a:xfrm flipH="false" flipV="false" rot="0">
            <a:off x="1216986" y="5943659"/>
            <a:ext cx="7209611" cy="3371120"/>
          </a:xfrm>
          <a:custGeom>
            <a:avLst/>
            <a:gdLst/>
            <a:ahLst/>
            <a:cxnLst/>
            <a:rect r="r" b="b" t="t" l="l"/>
            <a:pathLst>
              <a:path h="3371120" w="7209611">
                <a:moveTo>
                  <a:pt x="0" y="0"/>
                </a:moveTo>
                <a:lnTo>
                  <a:pt x="7209611" y="0"/>
                </a:lnTo>
                <a:lnTo>
                  <a:pt x="7209611" y="3371120"/>
                </a:lnTo>
                <a:lnTo>
                  <a:pt x="0" y="3371120"/>
                </a:lnTo>
                <a:lnTo>
                  <a:pt x="0" y="0"/>
                </a:lnTo>
                <a:close/>
              </a:path>
            </a:pathLst>
          </a:custGeom>
          <a:blipFill>
            <a:blip r:embed="rId5"/>
            <a:stretch>
              <a:fillRect l="0" t="0" r="-35043" b="0"/>
            </a:stretch>
          </a:blipFill>
        </p:spPr>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11</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3309992" y="8932504"/>
            <a:ext cx="18953602" cy="6042735"/>
            <a:chOff x="0" y="0"/>
            <a:chExt cx="2531226" cy="806999"/>
          </a:xfrm>
        </p:grpSpPr>
        <p:sp>
          <p:nvSpPr>
            <p:cNvPr name="Freeform 3" id="3"/>
            <p:cNvSpPr/>
            <p:nvPr/>
          </p:nvSpPr>
          <p:spPr>
            <a:xfrm flipH="false" flipV="false" rot="0">
              <a:off x="5406" y="0"/>
              <a:ext cx="2520415" cy="806999"/>
            </a:xfrm>
            <a:custGeom>
              <a:avLst/>
              <a:gdLst/>
              <a:ahLst/>
              <a:cxnLst/>
              <a:rect r="r" b="b" t="t" l="l"/>
              <a:pathLst>
                <a:path h="806999" w="2520415">
                  <a:moveTo>
                    <a:pt x="222302" y="0"/>
                  </a:moveTo>
                  <a:lnTo>
                    <a:pt x="2501313" y="0"/>
                  </a:lnTo>
                  <a:cubicBezTo>
                    <a:pt x="2507200" y="0"/>
                    <a:pt x="2512759" y="2715"/>
                    <a:pt x="2516379" y="7359"/>
                  </a:cubicBezTo>
                  <a:cubicBezTo>
                    <a:pt x="2519998" y="12003"/>
                    <a:pt x="2521274" y="18057"/>
                    <a:pt x="2519836" y="23766"/>
                  </a:cubicBezTo>
                  <a:lnTo>
                    <a:pt x="2328605" y="783232"/>
                  </a:lnTo>
                  <a:cubicBezTo>
                    <a:pt x="2325086" y="797205"/>
                    <a:pt x="2312521" y="806999"/>
                    <a:pt x="2298113" y="806999"/>
                  </a:cubicBezTo>
                  <a:lnTo>
                    <a:pt x="19102" y="806999"/>
                  </a:lnTo>
                  <a:cubicBezTo>
                    <a:pt x="13214" y="806999"/>
                    <a:pt x="7655" y="804283"/>
                    <a:pt x="4036" y="799640"/>
                  </a:cubicBezTo>
                  <a:cubicBezTo>
                    <a:pt x="416" y="794996"/>
                    <a:pt x="-859" y="788942"/>
                    <a:pt x="578" y="783232"/>
                  </a:cubicBezTo>
                  <a:lnTo>
                    <a:pt x="191810" y="23766"/>
                  </a:lnTo>
                  <a:cubicBezTo>
                    <a:pt x="195328" y="9793"/>
                    <a:pt x="207893" y="0"/>
                    <a:pt x="222302" y="0"/>
                  </a:cubicBezTo>
                  <a:close/>
                </a:path>
              </a:pathLst>
            </a:custGeom>
            <a:gradFill rotWithShape="true">
              <a:gsLst>
                <a:gs pos="0">
                  <a:srgbClr val="0D1296">
                    <a:alpha val="100000"/>
                  </a:srgbClr>
                </a:gs>
                <a:gs pos="100000">
                  <a:srgbClr val="2B79FF">
                    <a:alpha val="100000"/>
                  </a:srgbClr>
                </a:gs>
              </a:gsLst>
              <a:lin ang="2700000"/>
            </a:gradFill>
          </p:spPr>
        </p:sp>
        <p:sp>
          <p:nvSpPr>
            <p:cNvPr name="TextBox 4" id="4"/>
            <p:cNvSpPr txBox="true"/>
            <p:nvPr/>
          </p:nvSpPr>
          <p:spPr>
            <a:xfrm>
              <a:off x="101600" y="-66675"/>
              <a:ext cx="2328026" cy="873674"/>
            </a:xfrm>
            <a:prstGeom prst="rect">
              <a:avLst/>
            </a:prstGeom>
          </p:spPr>
          <p:txBody>
            <a:bodyPr anchor="ctr" rtlCol="false" tIns="50800" lIns="50800" bIns="50800" rIns="50800"/>
            <a:lstStyle/>
            <a:p>
              <a:pPr algn="ctr" marL="0" indent="0" lvl="0">
                <a:lnSpc>
                  <a:spcPts val="3151"/>
                </a:lnSpc>
              </a:pPr>
            </a:p>
          </p:txBody>
        </p:sp>
      </p:grpSp>
      <p:sp>
        <p:nvSpPr>
          <p:cNvPr name="TextBox 5" id="5"/>
          <p:cNvSpPr txBox="true"/>
          <p:nvPr/>
        </p:nvSpPr>
        <p:spPr>
          <a:xfrm rot="0">
            <a:off x="1294063" y="947050"/>
            <a:ext cx="10412198" cy="716806"/>
          </a:xfrm>
          <a:prstGeom prst="rect">
            <a:avLst/>
          </a:prstGeom>
        </p:spPr>
        <p:txBody>
          <a:bodyPr anchor="t" rtlCol="false" tIns="0" lIns="0" bIns="0" rIns="0">
            <a:spAutoFit/>
          </a:bodyPr>
          <a:lstStyle/>
          <a:p>
            <a:pPr algn="l" marL="0" indent="0" lvl="0">
              <a:lnSpc>
                <a:spcPts val="5403"/>
              </a:lnSpc>
              <a:spcBef>
                <a:spcPct val="0"/>
              </a:spcBef>
            </a:pPr>
            <a:r>
              <a:rPr lang="en-US" b="true" sz="5098">
                <a:solidFill>
                  <a:srgbClr val="004CCF"/>
                </a:solidFill>
                <a:latin typeface="Aileron Ultra-Bold"/>
                <a:ea typeface="Aileron Ultra-Bold"/>
                <a:cs typeface="Aileron Ultra-Bold"/>
                <a:sym typeface="Aileron Ultra-Bold"/>
              </a:rPr>
              <a:t>Analyse des Valeurs Manquantes</a:t>
            </a:r>
          </a:p>
        </p:txBody>
      </p:sp>
      <p:sp>
        <p:nvSpPr>
          <p:cNvPr name="TextBox 6" id="6"/>
          <p:cNvSpPr txBox="true"/>
          <p:nvPr/>
        </p:nvSpPr>
        <p:spPr>
          <a:xfrm rot="0">
            <a:off x="1294063" y="2048502"/>
            <a:ext cx="8580455" cy="1943208"/>
          </a:xfrm>
          <a:prstGeom prst="rect">
            <a:avLst/>
          </a:prstGeom>
        </p:spPr>
        <p:txBody>
          <a:bodyPr anchor="t" rtlCol="false" tIns="0" lIns="0" bIns="0" rIns="0">
            <a:spAutoFit/>
          </a:bodyPr>
          <a:lstStyle/>
          <a:p>
            <a:pPr algn="just" marL="0" indent="0" lvl="0">
              <a:lnSpc>
                <a:spcPts val="3144"/>
              </a:lnSpc>
            </a:pPr>
            <a:r>
              <a:rPr lang="en-US" sz="2245">
                <a:solidFill>
                  <a:srgbClr val="000000"/>
                </a:solidFill>
                <a:latin typeface="Public Sans"/>
                <a:ea typeface="Public Sans"/>
                <a:cs typeface="Public Sans"/>
                <a:sym typeface="Public Sans"/>
              </a:rPr>
              <a:t>L'analyse des valeurs manquantes est une étape cruciale dans la préparation des données pour le Machine Learning. Les données incomplètes peuvent biaiser les modèles et réduire leur performance prédictive. Voici les constats majeurs sur notre dataset :</a:t>
            </a:r>
          </a:p>
        </p:txBody>
      </p:sp>
      <p:grpSp>
        <p:nvGrpSpPr>
          <p:cNvPr name="Group 7" id="7"/>
          <p:cNvGrpSpPr/>
          <p:nvPr/>
        </p:nvGrpSpPr>
        <p:grpSpPr>
          <a:xfrm rot="0">
            <a:off x="1294063" y="6117786"/>
            <a:ext cx="5125868" cy="197875"/>
            <a:chOff x="0" y="0"/>
            <a:chExt cx="1180736" cy="45580"/>
          </a:xfrm>
        </p:grpSpPr>
        <p:sp>
          <p:nvSpPr>
            <p:cNvPr name="Freeform 8" id="8"/>
            <p:cNvSpPr/>
            <p:nvPr/>
          </p:nvSpPr>
          <p:spPr>
            <a:xfrm flipH="false" flipV="false" rot="0">
              <a:off x="0" y="0"/>
              <a:ext cx="1180736" cy="45580"/>
            </a:xfrm>
            <a:custGeom>
              <a:avLst/>
              <a:gdLst/>
              <a:ahLst/>
              <a:cxnLst/>
              <a:rect r="r" b="b" t="t" l="l"/>
              <a:pathLst>
                <a:path h="45580" w="1180736">
                  <a:moveTo>
                    <a:pt x="22790" y="0"/>
                  </a:moveTo>
                  <a:lnTo>
                    <a:pt x="1157946" y="0"/>
                  </a:lnTo>
                  <a:cubicBezTo>
                    <a:pt x="1170533" y="0"/>
                    <a:pt x="1180736" y="10203"/>
                    <a:pt x="1180736" y="22790"/>
                  </a:cubicBezTo>
                  <a:lnTo>
                    <a:pt x="1180736" y="22790"/>
                  </a:lnTo>
                  <a:cubicBezTo>
                    <a:pt x="1180736" y="28834"/>
                    <a:pt x="1178335" y="34631"/>
                    <a:pt x="1174061" y="38905"/>
                  </a:cubicBezTo>
                  <a:cubicBezTo>
                    <a:pt x="1169787" y="43179"/>
                    <a:pt x="1163990" y="45580"/>
                    <a:pt x="1157946" y="45580"/>
                  </a:cubicBezTo>
                  <a:lnTo>
                    <a:pt x="22790" y="45580"/>
                  </a:lnTo>
                  <a:cubicBezTo>
                    <a:pt x="16746" y="45580"/>
                    <a:pt x="10949" y="43179"/>
                    <a:pt x="6675" y="38905"/>
                  </a:cubicBezTo>
                  <a:cubicBezTo>
                    <a:pt x="2401" y="34631"/>
                    <a:pt x="0" y="28834"/>
                    <a:pt x="0" y="22790"/>
                  </a:cubicBezTo>
                  <a:lnTo>
                    <a:pt x="0" y="22790"/>
                  </a:lnTo>
                  <a:cubicBezTo>
                    <a:pt x="0" y="16746"/>
                    <a:pt x="2401" y="10949"/>
                    <a:pt x="6675" y="6675"/>
                  </a:cubicBezTo>
                  <a:cubicBezTo>
                    <a:pt x="10949" y="2401"/>
                    <a:pt x="16746" y="0"/>
                    <a:pt x="22790" y="0"/>
                  </a:cubicBezTo>
                  <a:close/>
                </a:path>
              </a:pathLst>
            </a:custGeom>
            <a:solidFill>
              <a:srgbClr val="0E62F2"/>
            </a:solidFill>
          </p:spPr>
        </p:sp>
        <p:sp>
          <p:nvSpPr>
            <p:cNvPr name="TextBox 9" id="9"/>
            <p:cNvSpPr txBox="true"/>
            <p:nvPr/>
          </p:nvSpPr>
          <p:spPr>
            <a:xfrm>
              <a:off x="0" y="-47625"/>
              <a:ext cx="1180736" cy="93205"/>
            </a:xfrm>
            <a:prstGeom prst="rect">
              <a:avLst/>
            </a:prstGeom>
          </p:spPr>
          <p:txBody>
            <a:bodyPr anchor="ctr" rtlCol="false" tIns="50800" lIns="50800" bIns="50800" rIns="50800"/>
            <a:lstStyle/>
            <a:p>
              <a:pPr algn="ctr" marL="0" indent="0" lvl="0">
                <a:lnSpc>
                  <a:spcPts val="3258"/>
                </a:lnSpc>
              </a:pPr>
            </a:p>
          </p:txBody>
        </p:sp>
      </p:grpSp>
      <p:grpSp>
        <p:nvGrpSpPr>
          <p:cNvPr name="Group 10" id="10"/>
          <p:cNvGrpSpPr/>
          <p:nvPr/>
        </p:nvGrpSpPr>
        <p:grpSpPr>
          <a:xfrm rot="0">
            <a:off x="1294063" y="8217469"/>
            <a:ext cx="5125868" cy="197875"/>
            <a:chOff x="0" y="0"/>
            <a:chExt cx="1180736" cy="45580"/>
          </a:xfrm>
        </p:grpSpPr>
        <p:sp>
          <p:nvSpPr>
            <p:cNvPr name="Freeform 11" id="11"/>
            <p:cNvSpPr/>
            <p:nvPr/>
          </p:nvSpPr>
          <p:spPr>
            <a:xfrm flipH="false" flipV="false" rot="0">
              <a:off x="0" y="0"/>
              <a:ext cx="1180736" cy="45580"/>
            </a:xfrm>
            <a:custGeom>
              <a:avLst/>
              <a:gdLst/>
              <a:ahLst/>
              <a:cxnLst/>
              <a:rect r="r" b="b" t="t" l="l"/>
              <a:pathLst>
                <a:path h="45580" w="1180736">
                  <a:moveTo>
                    <a:pt x="22790" y="0"/>
                  </a:moveTo>
                  <a:lnTo>
                    <a:pt x="1157946" y="0"/>
                  </a:lnTo>
                  <a:cubicBezTo>
                    <a:pt x="1170533" y="0"/>
                    <a:pt x="1180736" y="10203"/>
                    <a:pt x="1180736" y="22790"/>
                  </a:cubicBezTo>
                  <a:lnTo>
                    <a:pt x="1180736" y="22790"/>
                  </a:lnTo>
                  <a:cubicBezTo>
                    <a:pt x="1180736" y="28834"/>
                    <a:pt x="1178335" y="34631"/>
                    <a:pt x="1174061" y="38905"/>
                  </a:cubicBezTo>
                  <a:cubicBezTo>
                    <a:pt x="1169787" y="43179"/>
                    <a:pt x="1163990" y="45580"/>
                    <a:pt x="1157946" y="45580"/>
                  </a:cubicBezTo>
                  <a:lnTo>
                    <a:pt x="22790" y="45580"/>
                  </a:lnTo>
                  <a:cubicBezTo>
                    <a:pt x="16746" y="45580"/>
                    <a:pt x="10949" y="43179"/>
                    <a:pt x="6675" y="38905"/>
                  </a:cubicBezTo>
                  <a:cubicBezTo>
                    <a:pt x="2401" y="34631"/>
                    <a:pt x="0" y="28834"/>
                    <a:pt x="0" y="22790"/>
                  </a:cubicBezTo>
                  <a:lnTo>
                    <a:pt x="0" y="22790"/>
                  </a:lnTo>
                  <a:cubicBezTo>
                    <a:pt x="0" y="16746"/>
                    <a:pt x="2401" y="10949"/>
                    <a:pt x="6675" y="6675"/>
                  </a:cubicBezTo>
                  <a:cubicBezTo>
                    <a:pt x="10949" y="2401"/>
                    <a:pt x="16746" y="0"/>
                    <a:pt x="22790" y="0"/>
                  </a:cubicBezTo>
                  <a:close/>
                </a:path>
              </a:pathLst>
            </a:custGeom>
            <a:solidFill>
              <a:srgbClr val="0E62F2"/>
            </a:solidFill>
          </p:spPr>
        </p:sp>
        <p:sp>
          <p:nvSpPr>
            <p:cNvPr name="TextBox 12" id="12"/>
            <p:cNvSpPr txBox="true"/>
            <p:nvPr/>
          </p:nvSpPr>
          <p:spPr>
            <a:xfrm>
              <a:off x="0" y="-47625"/>
              <a:ext cx="1180736" cy="93205"/>
            </a:xfrm>
            <a:prstGeom prst="rect">
              <a:avLst/>
            </a:prstGeom>
          </p:spPr>
          <p:txBody>
            <a:bodyPr anchor="ctr" rtlCol="false" tIns="50800" lIns="50800" bIns="50800" rIns="50800"/>
            <a:lstStyle/>
            <a:p>
              <a:pPr algn="ctr" marL="0" indent="0" lvl="0">
                <a:lnSpc>
                  <a:spcPts val="3258"/>
                </a:lnSpc>
              </a:pPr>
            </a:p>
          </p:txBody>
        </p:sp>
      </p:grpSp>
      <p:sp>
        <p:nvSpPr>
          <p:cNvPr name="TextBox 13" id="13"/>
          <p:cNvSpPr txBox="true"/>
          <p:nvPr/>
        </p:nvSpPr>
        <p:spPr>
          <a:xfrm rot="0">
            <a:off x="1283172" y="5100985"/>
            <a:ext cx="8801867" cy="764648"/>
          </a:xfrm>
          <a:prstGeom prst="rect">
            <a:avLst/>
          </a:prstGeom>
        </p:spPr>
        <p:txBody>
          <a:bodyPr anchor="t" rtlCol="false" tIns="0" lIns="0" bIns="0" rIns="0">
            <a:spAutoFit/>
          </a:bodyPr>
          <a:lstStyle/>
          <a:p>
            <a:pPr algn="just" marL="0" indent="0" lvl="0">
              <a:lnSpc>
                <a:spcPts val="3004"/>
              </a:lnSpc>
              <a:spcBef>
                <a:spcPct val="0"/>
              </a:spcBef>
            </a:pPr>
            <a:r>
              <a:rPr lang="en-US" sz="2145">
                <a:solidFill>
                  <a:srgbClr val="000000"/>
                </a:solidFill>
                <a:latin typeface="Public Sans"/>
                <a:ea typeface="Public Sans"/>
                <a:cs typeface="Public Sans"/>
                <a:sym typeface="Public Sans"/>
              </a:rPr>
              <a:t>La variable âge client présente environ 30% de valeurs manquantes, un taux significatif qui nécessite une stratégie d'imputation adaptée.</a:t>
            </a:r>
          </a:p>
        </p:txBody>
      </p:sp>
      <p:sp>
        <p:nvSpPr>
          <p:cNvPr name="TextBox 14" id="14"/>
          <p:cNvSpPr txBox="true"/>
          <p:nvPr/>
        </p:nvSpPr>
        <p:spPr>
          <a:xfrm rot="0">
            <a:off x="1283172" y="7200668"/>
            <a:ext cx="8974076" cy="764648"/>
          </a:xfrm>
          <a:prstGeom prst="rect">
            <a:avLst/>
          </a:prstGeom>
        </p:spPr>
        <p:txBody>
          <a:bodyPr anchor="t" rtlCol="false" tIns="0" lIns="0" bIns="0" rIns="0">
            <a:spAutoFit/>
          </a:bodyPr>
          <a:lstStyle/>
          <a:p>
            <a:pPr algn="just" marL="0" indent="0" lvl="0">
              <a:lnSpc>
                <a:spcPts val="3004"/>
              </a:lnSpc>
              <a:spcBef>
                <a:spcPct val="0"/>
              </a:spcBef>
            </a:pPr>
            <a:r>
              <a:rPr lang="en-US" sz="2145">
                <a:solidFill>
                  <a:srgbClr val="000000"/>
                </a:solidFill>
                <a:latin typeface="Public Sans"/>
                <a:ea typeface="Public Sans"/>
                <a:cs typeface="Public Sans"/>
                <a:sym typeface="Public Sans"/>
              </a:rPr>
              <a:t>Taux de 1.8% manquant dû aux clients avec un seul achat. Les indicateurs temporels ne sont pas calculables pour ces cas particuliers.</a:t>
            </a:r>
          </a:p>
        </p:txBody>
      </p:sp>
      <p:sp>
        <p:nvSpPr>
          <p:cNvPr name="TextBox 15" id="15"/>
          <p:cNvSpPr txBox="true"/>
          <p:nvPr/>
        </p:nvSpPr>
        <p:spPr>
          <a:xfrm rot="0">
            <a:off x="1294063" y="4569446"/>
            <a:ext cx="8580455" cy="506718"/>
          </a:xfrm>
          <a:prstGeom prst="rect">
            <a:avLst/>
          </a:prstGeom>
        </p:spPr>
        <p:txBody>
          <a:bodyPr anchor="t" rtlCol="false" tIns="0" lIns="0" bIns="0" rIns="0">
            <a:spAutoFit/>
          </a:bodyPr>
          <a:lstStyle/>
          <a:p>
            <a:pPr algn="just" marL="0" indent="0" lvl="0">
              <a:lnSpc>
                <a:spcPts val="4097"/>
              </a:lnSpc>
            </a:pPr>
            <a:r>
              <a:rPr lang="en-US" b="true" sz="2926">
                <a:solidFill>
                  <a:srgbClr val="004CCF"/>
                </a:solidFill>
                <a:latin typeface="Public Sans Bold"/>
                <a:ea typeface="Public Sans Bold"/>
                <a:cs typeface="Public Sans Bold"/>
                <a:sym typeface="Public Sans Bold"/>
              </a:rPr>
              <a:t>Âge Client — Problème Majeur</a:t>
            </a:r>
          </a:p>
        </p:txBody>
      </p:sp>
      <p:sp>
        <p:nvSpPr>
          <p:cNvPr name="TextBox 16" id="16"/>
          <p:cNvSpPr txBox="true"/>
          <p:nvPr/>
        </p:nvSpPr>
        <p:spPr>
          <a:xfrm rot="0">
            <a:off x="1294063" y="6669129"/>
            <a:ext cx="8580455" cy="506718"/>
          </a:xfrm>
          <a:prstGeom prst="rect">
            <a:avLst/>
          </a:prstGeom>
        </p:spPr>
        <p:txBody>
          <a:bodyPr anchor="t" rtlCol="false" tIns="0" lIns="0" bIns="0" rIns="0">
            <a:spAutoFit/>
          </a:bodyPr>
          <a:lstStyle/>
          <a:p>
            <a:pPr algn="just" marL="0" indent="0" lvl="0">
              <a:lnSpc>
                <a:spcPts val="4097"/>
              </a:lnSpc>
            </a:pPr>
            <a:r>
              <a:rPr lang="en-US" b="true" sz="2926">
                <a:solidFill>
                  <a:srgbClr val="004CCF"/>
                </a:solidFill>
                <a:latin typeface="Public Sans Bold"/>
                <a:ea typeface="Public Sans Bold"/>
                <a:cs typeface="Public Sans Bold"/>
                <a:sym typeface="Public Sans Bold"/>
              </a:rPr>
              <a:t>AvgDaysBetweenPurchases — Cas Spéciaux</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4264" y="4035002"/>
            <a:ext cx="8068797" cy="4945187"/>
            <a:chOff x="0" y="0"/>
            <a:chExt cx="2993957" cy="1834930"/>
          </a:xfrm>
        </p:grpSpPr>
        <p:sp>
          <p:nvSpPr>
            <p:cNvPr name="Freeform 3" id="3"/>
            <p:cNvSpPr/>
            <p:nvPr/>
          </p:nvSpPr>
          <p:spPr>
            <a:xfrm flipH="false" flipV="false" rot="0">
              <a:off x="0" y="0"/>
              <a:ext cx="2993957" cy="1834930"/>
            </a:xfrm>
            <a:custGeom>
              <a:avLst/>
              <a:gdLst/>
              <a:ahLst/>
              <a:cxnLst/>
              <a:rect r="r" b="b" t="t" l="l"/>
              <a:pathLst>
                <a:path h="1834930" w="2993957">
                  <a:moveTo>
                    <a:pt x="38380" y="0"/>
                  </a:moveTo>
                  <a:lnTo>
                    <a:pt x="2955577" y="0"/>
                  </a:lnTo>
                  <a:cubicBezTo>
                    <a:pt x="2965756" y="0"/>
                    <a:pt x="2975518" y="4044"/>
                    <a:pt x="2982716" y="11241"/>
                  </a:cubicBezTo>
                  <a:cubicBezTo>
                    <a:pt x="2989913" y="18439"/>
                    <a:pt x="2993957" y="28201"/>
                    <a:pt x="2993957" y="38380"/>
                  </a:cubicBezTo>
                  <a:lnTo>
                    <a:pt x="2993957" y="1796550"/>
                  </a:lnTo>
                  <a:cubicBezTo>
                    <a:pt x="2993957" y="1817747"/>
                    <a:pt x="2976774" y="1834930"/>
                    <a:pt x="2955577" y="1834930"/>
                  </a:cubicBezTo>
                  <a:lnTo>
                    <a:pt x="38380" y="1834930"/>
                  </a:lnTo>
                  <a:cubicBezTo>
                    <a:pt x="17183" y="1834930"/>
                    <a:pt x="0" y="1817747"/>
                    <a:pt x="0" y="1796550"/>
                  </a:cubicBezTo>
                  <a:lnTo>
                    <a:pt x="0" y="38380"/>
                  </a:lnTo>
                  <a:cubicBezTo>
                    <a:pt x="0" y="17183"/>
                    <a:pt x="17183" y="0"/>
                    <a:pt x="38380" y="0"/>
                  </a:cubicBezTo>
                  <a:close/>
                </a:path>
              </a:pathLst>
            </a:custGeom>
            <a:solidFill>
              <a:srgbClr val="F2F2F2"/>
            </a:solidFill>
          </p:spPr>
        </p:sp>
        <p:sp>
          <p:nvSpPr>
            <p:cNvPr name="TextBox 4" id="4"/>
            <p:cNvSpPr txBox="true"/>
            <p:nvPr/>
          </p:nvSpPr>
          <p:spPr>
            <a:xfrm>
              <a:off x="0" y="-47625"/>
              <a:ext cx="2993957" cy="1882555"/>
            </a:xfrm>
            <a:prstGeom prst="rect">
              <a:avLst/>
            </a:prstGeom>
          </p:spPr>
          <p:txBody>
            <a:bodyPr anchor="ctr" rtlCol="false" tIns="35098" lIns="35098" bIns="35098" rIns="35098"/>
            <a:lstStyle/>
            <a:p>
              <a:pPr algn="ctr" marL="0" indent="0" lvl="0">
                <a:lnSpc>
                  <a:spcPts val="3257"/>
                </a:lnSpc>
              </a:pPr>
            </a:p>
          </p:txBody>
        </p:sp>
      </p:grpSp>
      <p:sp>
        <p:nvSpPr>
          <p:cNvPr name="Freeform 5" id="5"/>
          <p:cNvSpPr/>
          <p:nvPr/>
        </p:nvSpPr>
        <p:spPr>
          <a:xfrm flipH="false" flipV="false" rot="0">
            <a:off x="1378317" y="4137428"/>
            <a:ext cx="1164272" cy="1208064"/>
          </a:xfrm>
          <a:custGeom>
            <a:avLst/>
            <a:gdLst/>
            <a:ahLst/>
            <a:cxnLst/>
            <a:rect r="r" b="b" t="t" l="l"/>
            <a:pathLst>
              <a:path h="1208064" w="1164272">
                <a:moveTo>
                  <a:pt x="0" y="0"/>
                </a:moveTo>
                <a:lnTo>
                  <a:pt x="1164271" y="0"/>
                </a:lnTo>
                <a:lnTo>
                  <a:pt x="1164271" y="1208064"/>
                </a:lnTo>
                <a:lnTo>
                  <a:pt x="0" y="1208064"/>
                </a:lnTo>
                <a:lnTo>
                  <a:pt x="0" y="0"/>
                </a:lnTo>
                <a:close/>
              </a:path>
            </a:pathLst>
          </a:custGeom>
          <a:blipFill>
            <a:blip r:embed="rId3"/>
            <a:stretch>
              <a:fillRect l="0" t="0" r="0" b="0"/>
            </a:stretch>
          </a:blipFill>
        </p:spPr>
      </p:sp>
      <p:sp>
        <p:nvSpPr>
          <p:cNvPr name="Freeform 6" id="6"/>
          <p:cNvSpPr/>
          <p:nvPr/>
        </p:nvSpPr>
        <p:spPr>
          <a:xfrm flipH="false" flipV="false" rot="0">
            <a:off x="1068191" y="5634342"/>
            <a:ext cx="1311812" cy="695030"/>
          </a:xfrm>
          <a:custGeom>
            <a:avLst/>
            <a:gdLst/>
            <a:ahLst/>
            <a:cxnLst/>
            <a:rect r="r" b="b" t="t" l="l"/>
            <a:pathLst>
              <a:path h="695030" w="1311812">
                <a:moveTo>
                  <a:pt x="0" y="0"/>
                </a:moveTo>
                <a:lnTo>
                  <a:pt x="1311812" y="0"/>
                </a:lnTo>
                <a:lnTo>
                  <a:pt x="1311812" y="695030"/>
                </a:lnTo>
                <a:lnTo>
                  <a:pt x="0" y="695030"/>
                </a:lnTo>
                <a:lnTo>
                  <a:pt x="0" y="0"/>
                </a:lnTo>
                <a:close/>
              </a:path>
            </a:pathLst>
          </a:custGeom>
          <a:blipFill>
            <a:blip r:embed="rId4"/>
            <a:stretch>
              <a:fillRect l="0" t="0" r="0" b="0"/>
            </a:stretch>
          </a:blipFill>
        </p:spPr>
      </p:sp>
      <p:sp>
        <p:nvSpPr>
          <p:cNvPr name="Freeform 7" id="7"/>
          <p:cNvSpPr/>
          <p:nvPr/>
        </p:nvSpPr>
        <p:spPr>
          <a:xfrm flipH="false" flipV="false" rot="0">
            <a:off x="1224064" y="7439066"/>
            <a:ext cx="955091" cy="1046341"/>
          </a:xfrm>
          <a:custGeom>
            <a:avLst/>
            <a:gdLst/>
            <a:ahLst/>
            <a:cxnLst/>
            <a:rect r="r" b="b" t="t" l="l"/>
            <a:pathLst>
              <a:path h="1046341" w="955091">
                <a:moveTo>
                  <a:pt x="0" y="0"/>
                </a:moveTo>
                <a:lnTo>
                  <a:pt x="955091" y="0"/>
                </a:lnTo>
                <a:lnTo>
                  <a:pt x="955091" y="1046341"/>
                </a:lnTo>
                <a:lnTo>
                  <a:pt x="0" y="1046341"/>
                </a:lnTo>
                <a:lnTo>
                  <a:pt x="0" y="0"/>
                </a:lnTo>
                <a:close/>
              </a:path>
            </a:pathLst>
          </a:custGeom>
          <a:blipFill>
            <a:blip r:embed="rId5"/>
            <a:stretch>
              <a:fillRect l="0" t="0" r="0" b="0"/>
            </a:stretch>
          </a:blipFill>
          <a:ln cap="sq">
            <a:noFill/>
            <a:prstDash val="solid"/>
            <a:miter/>
          </a:ln>
        </p:spPr>
      </p:sp>
      <p:sp>
        <p:nvSpPr>
          <p:cNvPr name="Freeform 8" id="8"/>
          <p:cNvSpPr/>
          <p:nvPr/>
        </p:nvSpPr>
        <p:spPr>
          <a:xfrm flipH="false" flipV="false" rot="0">
            <a:off x="10747168" y="5345492"/>
            <a:ext cx="5134672" cy="4800271"/>
          </a:xfrm>
          <a:custGeom>
            <a:avLst/>
            <a:gdLst/>
            <a:ahLst/>
            <a:cxnLst/>
            <a:rect r="r" b="b" t="t" l="l"/>
            <a:pathLst>
              <a:path h="4800271" w="5134672">
                <a:moveTo>
                  <a:pt x="0" y="0"/>
                </a:moveTo>
                <a:lnTo>
                  <a:pt x="5134672" y="0"/>
                </a:lnTo>
                <a:lnTo>
                  <a:pt x="5134672" y="4800271"/>
                </a:lnTo>
                <a:lnTo>
                  <a:pt x="0" y="4800271"/>
                </a:lnTo>
                <a:lnTo>
                  <a:pt x="0" y="0"/>
                </a:lnTo>
                <a:close/>
              </a:path>
            </a:pathLst>
          </a:custGeom>
          <a:blipFill>
            <a:blip r:embed="rId6"/>
            <a:stretch>
              <a:fillRect l="0" t="0" r="0" b="0"/>
            </a:stretch>
          </a:blipFill>
        </p:spPr>
      </p:sp>
      <p:sp>
        <p:nvSpPr>
          <p:cNvPr name="TextBox 9" id="9"/>
          <p:cNvSpPr txBox="true"/>
          <p:nvPr/>
        </p:nvSpPr>
        <p:spPr>
          <a:xfrm rot="0">
            <a:off x="10060935" y="2765527"/>
            <a:ext cx="7198365" cy="746760"/>
          </a:xfrm>
          <a:prstGeom prst="rect">
            <a:avLst/>
          </a:prstGeom>
        </p:spPr>
        <p:txBody>
          <a:bodyPr anchor="t" rtlCol="false" tIns="0" lIns="0" bIns="0" rIns="0">
            <a:spAutoFit/>
          </a:bodyPr>
          <a:lstStyle/>
          <a:p>
            <a:pPr algn="l" marL="0" indent="0" lvl="0">
              <a:lnSpc>
                <a:spcPts val="2940"/>
              </a:lnSpc>
            </a:pPr>
            <a:r>
              <a:rPr lang="en-US" sz="2100">
                <a:solidFill>
                  <a:srgbClr val="000000"/>
                </a:solidFill>
                <a:latin typeface="Public Sans"/>
                <a:ea typeface="Public Sans"/>
                <a:cs typeface="Public Sans"/>
                <a:sym typeface="Public Sans"/>
              </a:rPr>
              <a:t>Distribution des classes et détection du déséquilibre nécessitant des techniques de rééquilibrage.</a:t>
            </a:r>
          </a:p>
        </p:txBody>
      </p:sp>
      <p:sp>
        <p:nvSpPr>
          <p:cNvPr name="TextBox 10" id="10"/>
          <p:cNvSpPr txBox="true"/>
          <p:nvPr/>
        </p:nvSpPr>
        <p:spPr>
          <a:xfrm rot="0">
            <a:off x="10486796" y="3987377"/>
            <a:ext cx="2421350" cy="343325"/>
          </a:xfrm>
          <a:prstGeom prst="rect">
            <a:avLst/>
          </a:prstGeom>
        </p:spPr>
        <p:txBody>
          <a:bodyPr anchor="t" rtlCol="false" tIns="0" lIns="0" bIns="0" rIns="0">
            <a:spAutoFit/>
          </a:bodyPr>
          <a:lstStyle/>
          <a:p>
            <a:pPr algn="l" marL="0" indent="0" lvl="0">
              <a:lnSpc>
                <a:spcPts val="2719"/>
              </a:lnSpc>
            </a:pPr>
            <a:r>
              <a:rPr lang="en-US" sz="1942">
                <a:solidFill>
                  <a:srgbClr val="000000"/>
                </a:solidFill>
                <a:latin typeface="Public Sans"/>
                <a:ea typeface="Public Sans"/>
                <a:cs typeface="Public Sans"/>
                <a:sym typeface="Public Sans"/>
              </a:rPr>
              <a:t>Clients Fidèles</a:t>
            </a:r>
          </a:p>
        </p:txBody>
      </p:sp>
      <p:sp>
        <p:nvSpPr>
          <p:cNvPr name="TextBox 11" id="11"/>
          <p:cNvSpPr txBox="true"/>
          <p:nvPr/>
        </p:nvSpPr>
        <p:spPr>
          <a:xfrm rot="0">
            <a:off x="10486796" y="4245558"/>
            <a:ext cx="2902216" cy="495902"/>
          </a:xfrm>
          <a:prstGeom prst="rect">
            <a:avLst/>
          </a:prstGeom>
        </p:spPr>
        <p:txBody>
          <a:bodyPr anchor="t" rtlCol="false" tIns="0" lIns="0" bIns="0" rIns="0">
            <a:spAutoFit/>
          </a:bodyPr>
          <a:lstStyle/>
          <a:p>
            <a:pPr algn="l" marL="0" indent="0" lvl="0">
              <a:lnSpc>
                <a:spcPts val="3974"/>
              </a:lnSpc>
            </a:pPr>
            <a:r>
              <a:rPr lang="en-US" b="true" sz="2838">
                <a:solidFill>
                  <a:srgbClr val="004CCF"/>
                </a:solidFill>
                <a:latin typeface="Public Sans Bold"/>
                <a:ea typeface="Public Sans Bold"/>
                <a:cs typeface="Public Sans Bold"/>
                <a:sym typeface="Public Sans Bold"/>
              </a:rPr>
              <a:t>67% (Churn=0)</a:t>
            </a:r>
          </a:p>
        </p:txBody>
      </p:sp>
      <p:sp>
        <p:nvSpPr>
          <p:cNvPr name="TextBox 12" id="12"/>
          <p:cNvSpPr txBox="true"/>
          <p:nvPr/>
        </p:nvSpPr>
        <p:spPr>
          <a:xfrm rot="0">
            <a:off x="13515712" y="3987377"/>
            <a:ext cx="3705046" cy="343325"/>
          </a:xfrm>
          <a:prstGeom prst="rect">
            <a:avLst/>
          </a:prstGeom>
        </p:spPr>
        <p:txBody>
          <a:bodyPr anchor="t" rtlCol="false" tIns="0" lIns="0" bIns="0" rIns="0">
            <a:spAutoFit/>
          </a:bodyPr>
          <a:lstStyle/>
          <a:p>
            <a:pPr algn="l" marL="0" indent="0" lvl="0">
              <a:lnSpc>
                <a:spcPts val="2719"/>
              </a:lnSpc>
            </a:pPr>
            <a:r>
              <a:rPr lang="en-US" sz="1942">
                <a:solidFill>
                  <a:srgbClr val="000000"/>
                </a:solidFill>
                <a:latin typeface="Public Sans"/>
                <a:ea typeface="Public Sans"/>
                <a:cs typeface="Public Sans"/>
                <a:sym typeface="Public Sans"/>
              </a:rPr>
              <a:t>Clients Churned</a:t>
            </a:r>
          </a:p>
        </p:txBody>
      </p:sp>
      <p:sp>
        <p:nvSpPr>
          <p:cNvPr name="TextBox 13" id="13"/>
          <p:cNvSpPr txBox="true"/>
          <p:nvPr/>
        </p:nvSpPr>
        <p:spPr>
          <a:xfrm rot="0">
            <a:off x="13515712" y="4245558"/>
            <a:ext cx="4732255" cy="495902"/>
          </a:xfrm>
          <a:prstGeom prst="rect">
            <a:avLst/>
          </a:prstGeom>
        </p:spPr>
        <p:txBody>
          <a:bodyPr anchor="t" rtlCol="false" tIns="0" lIns="0" bIns="0" rIns="0">
            <a:spAutoFit/>
          </a:bodyPr>
          <a:lstStyle/>
          <a:p>
            <a:pPr algn="l" marL="0" indent="0" lvl="0">
              <a:lnSpc>
                <a:spcPts val="3974"/>
              </a:lnSpc>
            </a:pPr>
            <a:r>
              <a:rPr lang="en-US" b="true" sz="2838">
                <a:solidFill>
                  <a:srgbClr val="004CCF"/>
                </a:solidFill>
                <a:latin typeface="Public Sans Bold"/>
                <a:ea typeface="Public Sans Bold"/>
                <a:cs typeface="Public Sans Bold"/>
                <a:sym typeface="Public Sans Bold"/>
              </a:rPr>
              <a:t>33% (Churn=1)</a:t>
            </a:r>
          </a:p>
        </p:txBody>
      </p:sp>
      <p:sp>
        <p:nvSpPr>
          <p:cNvPr name="TextBox 14" id="14"/>
          <p:cNvSpPr txBox="true"/>
          <p:nvPr/>
        </p:nvSpPr>
        <p:spPr>
          <a:xfrm rot="0">
            <a:off x="2747565" y="4184054"/>
            <a:ext cx="5572654" cy="416284"/>
          </a:xfrm>
          <a:prstGeom prst="rect">
            <a:avLst/>
          </a:prstGeom>
        </p:spPr>
        <p:txBody>
          <a:bodyPr anchor="t" rtlCol="false" tIns="0" lIns="0" bIns="0" rIns="0">
            <a:spAutoFit/>
          </a:bodyPr>
          <a:lstStyle/>
          <a:p>
            <a:pPr algn="just" marL="0" indent="0" lvl="0">
              <a:lnSpc>
                <a:spcPts val="3305"/>
              </a:lnSpc>
            </a:pPr>
            <a:r>
              <a:rPr lang="en-US" b="true" sz="2360">
                <a:solidFill>
                  <a:srgbClr val="004CCF"/>
                </a:solidFill>
                <a:latin typeface="Public Sans Bold"/>
                <a:ea typeface="Public Sans Bold"/>
                <a:cs typeface="Public Sans Bold"/>
                <a:sym typeface="Public Sans Bold"/>
              </a:rPr>
              <a:t>NewsletterSubscribed</a:t>
            </a:r>
          </a:p>
        </p:txBody>
      </p:sp>
      <p:sp>
        <p:nvSpPr>
          <p:cNvPr name="TextBox 15" id="15"/>
          <p:cNvSpPr txBox="true"/>
          <p:nvPr/>
        </p:nvSpPr>
        <p:spPr>
          <a:xfrm rot="0">
            <a:off x="2747565" y="5430481"/>
            <a:ext cx="4835282" cy="416284"/>
          </a:xfrm>
          <a:prstGeom prst="rect">
            <a:avLst/>
          </a:prstGeom>
        </p:spPr>
        <p:txBody>
          <a:bodyPr anchor="t" rtlCol="false" tIns="0" lIns="0" bIns="0" rIns="0">
            <a:spAutoFit/>
          </a:bodyPr>
          <a:lstStyle/>
          <a:p>
            <a:pPr algn="just" marL="0" indent="0" lvl="0">
              <a:lnSpc>
                <a:spcPts val="3305"/>
              </a:lnSpc>
            </a:pPr>
            <a:r>
              <a:rPr lang="en-US" b="true" sz="2360">
                <a:solidFill>
                  <a:srgbClr val="004CCF"/>
                </a:solidFill>
                <a:latin typeface="Public Sans Bold"/>
                <a:ea typeface="Public Sans Bold"/>
                <a:cs typeface="Public Sans Bold"/>
                <a:sym typeface="Public Sans Bold"/>
              </a:rPr>
              <a:t>RegistrationDate</a:t>
            </a:r>
          </a:p>
        </p:txBody>
      </p:sp>
      <p:sp>
        <p:nvSpPr>
          <p:cNvPr name="TextBox 16" id="16"/>
          <p:cNvSpPr txBox="true"/>
          <p:nvPr/>
        </p:nvSpPr>
        <p:spPr>
          <a:xfrm rot="0">
            <a:off x="2747565" y="4569946"/>
            <a:ext cx="4835282" cy="746823"/>
          </a:xfrm>
          <a:prstGeom prst="rect">
            <a:avLst/>
          </a:prstGeom>
        </p:spPr>
        <p:txBody>
          <a:bodyPr anchor="t" rtlCol="false" tIns="0" lIns="0" bIns="0" rIns="0">
            <a:spAutoFit/>
          </a:bodyPr>
          <a:lstStyle/>
          <a:p>
            <a:pPr algn="l" marL="0" indent="0" lvl="0">
              <a:lnSpc>
                <a:spcPts val="2936"/>
              </a:lnSpc>
            </a:pPr>
            <a:r>
              <a:rPr lang="en-US" sz="2097">
                <a:solidFill>
                  <a:srgbClr val="000000"/>
                </a:solidFill>
                <a:latin typeface="Public Sans"/>
                <a:ea typeface="Public Sans"/>
                <a:cs typeface="Public Sans"/>
                <a:sym typeface="Public Sans"/>
              </a:rPr>
              <a:t>Variance nulle (100% "Yes"). Variable non-informative à supprimer.</a:t>
            </a:r>
          </a:p>
        </p:txBody>
      </p:sp>
      <p:sp>
        <p:nvSpPr>
          <p:cNvPr name="TextBox 17" id="17"/>
          <p:cNvSpPr txBox="true"/>
          <p:nvPr/>
        </p:nvSpPr>
        <p:spPr>
          <a:xfrm rot="0">
            <a:off x="2747565" y="5913440"/>
            <a:ext cx="4835282" cy="1118298"/>
          </a:xfrm>
          <a:prstGeom prst="rect">
            <a:avLst/>
          </a:prstGeom>
        </p:spPr>
        <p:txBody>
          <a:bodyPr anchor="t" rtlCol="false" tIns="0" lIns="0" bIns="0" rIns="0">
            <a:spAutoFit/>
          </a:bodyPr>
          <a:lstStyle/>
          <a:p>
            <a:pPr algn="l" marL="0" indent="0" lvl="0">
              <a:lnSpc>
                <a:spcPts val="2936"/>
              </a:lnSpc>
            </a:pPr>
            <a:r>
              <a:rPr lang="en-US" sz="2097">
                <a:solidFill>
                  <a:srgbClr val="000000"/>
                </a:solidFill>
                <a:latin typeface="Public Sans"/>
                <a:ea typeface="Public Sans"/>
                <a:cs typeface="Public Sans"/>
                <a:sym typeface="Public Sans"/>
              </a:rPr>
              <a:t>Formats mixtes (UK DD/MM/YY et ISO YYYY-MM-DD). Standardisation requise.</a:t>
            </a:r>
          </a:p>
        </p:txBody>
      </p:sp>
      <p:sp>
        <p:nvSpPr>
          <p:cNvPr name="TextBox 18" id="18"/>
          <p:cNvSpPr txBox="true"/>
          <p:nvPr/>
        </p:nvSpPr>
        <p:spPr>
          <a:xfrm rot="0">
            <a:off x="2747565" y="7082677"/>
            <a:ext cx="4835282" cy="416284"/>
          </a:xfrm>
          <a:prstGeom prst="rect">
            <a:avLst/>
          </a:prstGeom>
        </p:spPr>
        <p:txBody>
          <a:bodyPr anchor="t" rtlCol="false" tIns="0" lIns="0" bIns="0" rIns="0">
            <a:spAutoFit/>
          </a:bodyPr>
          <a:lstStyle/>
          <a:p>
            <a:pPr algn="just" marL="0" indent="0" lvl="0">
              <a:lnSpc>
                <a:spcPts val="3305"/>
              </a:lnSpc>
            </a:pPr>
            <a:r>
              <a:rPr lang="en-US" b="true" sz="2360">
                <a:solidFill>
                  <a:srgbClr val="004CCF"/>
                </a:solidFill>
                <a:latin typeface="Public Sans Bold"/>
                <a:ea typeface="Public Sans Bold"/>
                <a:cs typeface="Public Sans Bold"/>
                <a:sym typeface="Public Sans Bold"/>
              </a:rPr>
              <a:t>LastLoginIP</a:t>
            </a:r>
          </a:p>
        </p:txBody>
      </p:sp>
      <p:sp>
        <p:nvSpPr>
          <p:cNvPr name="TextBox 19" id="19"/>
          <p:cNvSpPr txBox="true"/>
          <p:nvPr/>
        </p:nvSpPr>
        <p:spPr>
          <a:xfrm rot="0">
            <a:off x="2747565" y="7688478"/>
            <a:ext cx="4835282" cy="1118298"/>
          </a:xfrm>
          <a:prstGeom prst="rect">
            <a:avLst/>
          </a:prstGeom>
        </p:spPr>
        <p:txBody>
          <a:bodyPr anchor="t" rtlCol="false" tIns="0" lIns="0" bIns="0" rIns="0">
            <a:spAutoFit/>
          </a:bodyPr>
          <a:lstStyle/>
          <a:p>
            <a:pPr algn="l" marL="0" indent="0" lvl="0">
              <a:lnSpc>
                <a:spcPts val="2936"/>
              </a:lnSpc>
            </a:pPr>
            <a:r>
              <a:rPr lang="en-US" sz="2097">
                <a:solidFill>
                  <a:srgbClr val="000000"/>
                </a:solidFill>
                <a:latin typeface="Public Sans"/>
                <a:ea typeface="Public Sans"/>
                <a:cs typeface="Public Sans"/>
                <a:sym typeface="Public Sans"/>
              </a:rPr>
              <a:t>Adresse IP inutilisable directement par les algorithmes. Transformation nécessaire.</a:t>
            </a:r>
          </a:p>
        </p:txBody>
      </p:sp>
      <p:sp>
        <p:nvSpPr>
          <p:cNvPr name="TextBox 20" id="20"/>
          <p:cNvSpPr txBox="true"/>
          <p:nvPr/>
        </p:nvSpPr>
        <p:spPr>
          <a:xfrm rot="0">
            <a:off x="694264" y="945842"/>
            <a:ext cx="8305494" cy="1454206"/>
          </a:xfrm>
          <a:prstGeom prst="rect">
            <a:avLst/>
          </a:prstGeom>
        </p:spPr>
        <p:txBody>
          <a:bodyPr anchor="t" rtlCol="false" tIns="0" lIns="0" bIns="0" rIns="0">
            <a:spAutoFit/>
          </a:bodyPr>
          <a:lstStyle/>
          <a:p>
            <a:pPr algn="l" marL="0" indent="0" lvl="0">
              <a:lnSpc>
                <a:spcPts val="5655"/>
              </a:lnSpc>
              <a:spcBef>
                <a:spcPct val="0"/>
              </a:spcBef>
            </a:pPr>
            <a:r>
              <a:rPr lang="en-US" b="true" sz="5335">
                <a:solidFill>
                  <a:srgbClr val="004CCF"/>
                </a:solidFill>
                <a:latin typeface="Aileron Ultra-Bold"/>
                <a:ea typeface="Aileron Ultra-Bold"/>
                <a:cs typeface="Aileron Ultra-Bold"/>
                <a:sym typeface="Aileron Ultra-Bold"/>
              </a:rPr>
              <a:t>Features à Traitement Spécifique</a:t>
            </a:r>
          </a:p>
        </p:txBody>
      </p:sp>
      <p:sp>
        <p:nvSpPr>
          <p:cNvPr name="TextBox 21" id="21"/>
          <p:cNvSpPr txBox="true"/>
          <p:nvPr/>
        </p:nvSpPr>
        <p:spPr>
          <a:xfrm rot="0">
            <a:off x="694264" y="2729893"/>
            <a:ext cx="7625956" cy="745693"/>
          </a:xfrm>
          <a:prstGeom prst="rect">
            <a:avLst/>
          </a:prstGeom>
        </p:spPr>
        <p:txBody>
          <a:bodyPr anchor="t" rtlCol="false" tIns="0" lIns="0" bIns="0" rIns="0">
            <a:spAutoFit/>
          </a:bodyPr>
          <a:lstStyle/>
          <a:p>
            <a:pPr algn="just" marL="0" indent="0" lvl="0">
              <a:lnSpc>
                <a:spcPts val="2933"/>
              </a:lnSpc>
            </a:pPr>
            <a:r>
              <a:rPr lang="en-US" sz="2095">
                <a:solidFill>
                  <a:srgbClr val="000000"/>
                </a:solidFill>
                <a:latin typeface="Public Sans"/>
                <a:ea typeface="Public Sans"/>
                <a:cs typeface="Public Sans"/>
                <a:sym typeface="Public Sans"/>
              </a:rPr>
              <a:t>Certaines variables nécessitent un prétraitement particulier avant d'être utilisées dans le modèle de Machine Learning :</a:t>
            </a:r>
          </a:p>
        </p:txBody>
      </p:sp>
      <p:sp>
        <p:nvSpPr>
          <p:cNvPr name="TextBox 22" id="22"/>
          <p:cNvSpPr txBox="true"/>
          <p:nvPr/>
        </p:nvSpPr>
        <p:spPr>
          <a:xfrm rot="0">
            <a:off x="10214635" y="945842"/>
            <a:ext cx="8305494" cy="1454206"/>
          </a:xfrm>
          <a:prstGeom prst="rect">
            <a:avLst/>
          </a:prstGeom>
        </p:spPr>
        <p:txBody>
          <a:bodyPr anchor="t" rtlCol="false" tIns="0" lIns="0" bIns="0" rIns="0">
            <a:spAutoFit/>
          </a:bodyPr>
          <a:lstStyle/>
          <a:p>
            <a:pPr algn="l" marL="0" indent="0" lvl="0">
              <a:lnSpc>
                <a:spcPts val="5655"/>
              </a:lnSpc>
              <a:spcBef>
                <a:spcPct val="0"/>
              </a:spcBef>
            </a:pPr>
            <a:r>
              <a:rPr lang="en-US" b="true" sz="5335">
                <a:solidFill>
                  <a:srgbClr val="004CCF"/>
                </a:solidFill>
                <a:latin typeface="Aileron Ultra-Bold"/>
                <a:ea typeface="Aileron Ultra-Bold"/>
                <a:cs typeface="Aileron Ultra-Bold"/>
                <a:sym typeface="Aileron Ultra-Bold"/>
              </a:rPr>
              <a:t>An</a:t>
            </a:r>
            <a:r>
              <a:rPr lang="en-US" b="true" sz="5335">
                <a:solidFill>
                  <a:srgbClr val="004CCF"/>
                </a:solidFill>
                <a:latin typeface="Aileron Ultra-Bold"/>
                <a:ea typeface="Aileron Ultra-Bold"/>
                <a:cs typeface="Aileron Ultra-Bold"/>
                <a:sym typeface="Aileron Ultra-Bold"/>
              </a:rPr>
              <a:t>alyse de la Variable Cible — Churn</a:t>
            </a:r>
          </a:p>
        </p:txBody>
      </p:sp>
      <p:sp>
        <p:nvSpPr>
          <p:cNvPr name="TextBox 23" id="2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13</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1849" y="7006156"/>
            <a:ext cx="18449849" cy="3280844"/>
            <a:chOff x="0" y="0"/>
            <a:chExt cx="4859220" cy="864091"/>
          </a:xfrm>
        </p:grpSpPr>
        <p:sp>
          <p:nvSpPr>
            <p:cNvPr name="Freeform 3" id="3"/>
            <p:cNvSpPr/>
            <p:nvPr/>
          </p:nvSpPr>
          <p:spPr>
            <a:xfrm flipH="false" flipV="false" rot="0">
              <a:off x="0" y="0"/>
              <a:ext cx="4859220" cy="864091"/>
            </a:xfrm>
            <a:custGeom>
              <a:avLst/>
              <a:gdLst/>
              <a:ahLst/>
              <a:cxnLst/>
              <a:rect r="r" b="b" t="t" l="l"/>
              <a:pathLst>
                <a:path h="864091" w="4859220">
                  <a:moveTo>
                    <a:pt x="0" y="0"/>
                  </a:moveTo>
                  <a:lnTo>
                    <a:pt x="4859220" y="0"/>
                  </a:lnTo>
                  <a:lnTo>
                    <a:pt x="4859220" y="864091"/>
                  </a:lnTo>
                  <a:lnTo>
                    <a:pt x="0" y="864091"/>
                  </a:lnTo>
                  <a:close/>
                </a:path>
              </a:pathLst>
            </a:custGeom>
            <a:solidFill>
              <a:srgbClr val="004CCF"/>
            </a:solidFill>
          </p:spPr>
        </p:sp>
        <p:sp>
          <p:nvSpPr>
            <p:cNvPr name="TextBox 4" id="4"/>
            <p:cNvSpPr txBox="true"/>
            <p:nvPr/>
          </p:nvSpPr>
          <p:spPr>
            <a:xfrm>
              <a:off x="0" y="-47625"/>
              <a:ext cx="4859220" cy="911716"/>
            </a:xfrm>
            <a:prstGeom prst="rect">
              <a:avLst/>
            </a:prstGeom>
          </p:spPr>
          <p:txBody>
            <a:bodyPr anchor="ctr" rtlCol="false" tIns="50800" lIns="50800" bIns="50800" rIns="50800"/>
            <a:lstStyle/>
            <a:p>
              <a:pPr algn="ctr" marL="0" indent="0" lvl="0">
                <a:lnSpc>
                  <a:spcPts val="2886"/>
                </a:lnSpc>
              </a:pPr>
            </a:p>
          </p:txBody>
        </p:sp>
      </p:grpSp>
      <p:grpSp>
        <p:nvGrpSpPr>
          <p:cNvPr name="Group 5" id="5"/>
          <p:cNvGrpSpPr/>
          <p:nvPr/>
        </p:nvGrpSpPr>
        <p:grpSpPr>
          <a:xfrm rot="0">
            <a:off x="1028700" y="5045679"/>
            <a:ext cx="14306074" cy="4703119"/>
            <a:chOff x="0" y="0"/>
            <a:chExt cx="5453564" cy="1792858"/>
          </a:xfrm>
        </p:grpSpPr>
        <p:sp>
          <p:nvSpPr>
            <p:cNvPr name="Freeform 6" id="6"/>
            <p:cNvSpPr/>
            <p:nvPr/>
          </p:nvSpPr>
          <p:spPr>
            <a:xfrm flipH="false" flipV="false" rot="0">
              <a:off x="0" y="0"/>
              <a:ext cx="5453564" cy="1792858"/>
            </a:xfrm>
            <a:custGeom>
              <a:avLst/>
              <a:gdLst/>
              <a:ahLst/>
              <a:cxnLst/>
              <a:rect r="r" b="b" t="t" l="l"/>
              <a:pathLst>
                <a:path h="1792858" w="5453564">
                  <a:moveTo>
                    <a:pt x="21647" y="0"/>
                  </a:moveTo>
                  <a:lnTo>
                    <a:pt x="5431918" y="0"/>
                  </a:lnTo>
                  <a:cubicBezTo>
                    <a:pt x="5443873" y="0"/>
                    <a:pt x="5453564" y="9691"/>
                    <a:pt x="5453564" y="21647"/>
                  </a:cubicBezTo>
                  <a:lnTo>
                    <a:pt x="5453564" y="1771211"/>
                  </a:lnTo>
                  <a:cubicBezTo>
                    <a:pt x="5453564" y="1776953"/>
                    <a:pt x="5451284" y="1782458"/>
                    <a:pt x="5447224" y="1786518"/>
                  </a:cubicBezTo>
                  <a:cubicBezTo>
                    <a:pt x="5443165" y="1790577"/>
                    <a:pt x="5437659" y="1792858"/>
                    <a:pt x="5431918" y="1792858"/>
                  </a:cubicBezTo>
                  <a:lnTo>
                    <a:pt x="21647" y="1792858"/>
                  </a:lnTo>
                  <a:cubicBezTo>
                    <a:pt x="15906" y="1792858"/>
                    <a:pt x="10400" y="1790577"/>
                    <a:pt x="6340" y="1786518"/>
                  </a:cubicBezTo>
                  <a:cubicBezTo>
                    <a:pt x="2281" y="1782458"/>
                    <a:pt x="0" y="1776953"/>
                    <a:pt x="0" y="1771211"/>
                  </a:cubicBezTo>
                  <a:lnTo>
                    <a:pt x="0" y="21647"/>
                  </a:lnTo>
                  <a:cubicBezTo>
                    <a:pt x="0" y="15906"/>
                    <a:pt x="2281" y="10400"/>
                    <a:pt x="6340" y="6340"/>
                  </a:cubicBezTo>
                  <a:cubicBezTo>
                    <a:pt x="10400" y="2281"/>
                    <a:pt x="15906" y="0"/>
                    <a:pt x="21647" y="0"/>
                  </a:cubicBezTo>
                  <a:close/>
                </a:path>
              </a:pathLst>
            </a:custGeom>
            <a:solidFill>
              <a:srgbClr val="F2F2F2"/>
            </a:solidFill>
          </p:spPr>
        </p:sp>
        <p:sp>
          <p:nvSpPr>
            <p:cNvPr name="TextBox 7" id="7"/>
            <p:cNvSpPr txBox="true"/>
            <p:nvPr/>
          </p:nvSpPr>
          <p:spPr>
            <a:xfrm>
              <a:off x="0" y="-47625"/>
              <a:ext cx="5453564" cy="1840483"/>
            </a:xfrm>
            <a:prstGeom prst="rect">
              <a:avLst/>
            </a:prstGeom>
          </p:spPr>
          <p:txBody>
            <a:bodyPr anchor="ctr" rtlCol="false" tIns="35098" lIns="35098" bIns="35098" rIns="35098"/>
            <a:lstStyle/>
            <a:p>
              <a:pPr algn="ctr" marL="0" indent="0" lvl="0">
                <a:lnSpc>
                  <a:spcPts val="3257"/>
                </a:lnSpc>
              </a:pPr>
            </a:p>
          </p:txBody>
        </p:sp>
      </p:grpSp>
      <p:sp>
        <p:nvSpPr>
          <p:cNvPr name="TextBox 8" id="8"/>
          <p:cNvSpPr txBox="true"/>
          <p:nvPr/>
        </p:nvSpPr>
        <p:spPr>
          <a:xfrm rot="0">
            <a:off x="1088449" y="954322"/>
            <a:ext cx="6753342" cy="1320547"/>
          </a:xfrm>
          <a:prstGeom prst="rect">
            <a:avLst/>
          </a:prstGeom>
        </p:spPr>
        <p:txBody>
          <a:bodyPr anchor="t" rtlCol="false" tIns="0" lIns="0" bIns="0" rIns="0">
            <a:spAutoFit/>
          </a:bodyPr>
          <a:lstStyle/>
          <a:p>
            <a:pPr algn="l" marL="0" indent="0" lvl="0">
              <a:lnSpc>
                <a:spcPts val="5130"/>
              </a:lnSpc>
              <a:spcBef>
                <a:spcPct val="0"/>
              </a:spcBef>
            </a:pPr>
            <a:r>
              <a:rPr lang="en-US" b="true" sz="4839">
                <a:solidFill>
                  <a:srgbClr val="004CCF"/>
                </a:solidFill>
                <a:latin typeface="Aileron Ultra-Bold"/>
                <a:ea typeface="Aileron Ultra-Bold"/>
                <a:cs typeface="Aileron Ultra-Bold"/>
                <a:sym typeface="Aileron Ultra-Bold"/>
              </a:rPr>
              <a:t>Analyse de Corrélation et Multicolinéarité</a:t>
            </a:r>
          </a:p>
        </p:txBody>
      </p:sp>
      <p:sp>
        <p:nvSpPr>
          <p:cNvPr name="TextBox 9" id="9"/>
          <p:cNvSpPr txBox="true"/>
          <p:nvPr/>
        </p:nvSpPr>
        <p:spPr>
          <a:xfrm rot="0">
            <a:off x="1148199" y="2629892"/>
            <a:ext cx="16111101" cy="1253737"/>
          </a:xfrm>
          <a:prstGeom prst="rect">
            <a:avLst/>
          </a:prstGeom>
        </p:spPr>
        <p:txBody>
          <a:bodyPr anchor="t" rtlCol="false" tIns="0" lIns="0" bIns="0" rIns="0">
            <a:spAutoFit/>
          </a:bodyPr>
          <a:lstStyle/>
          <a:p>
            <a:pPr algn="just" marL="0" indent="0" lvl="0">
              <a:lnSpc>
                <a:spcPts val="3346"/>
              </a:lnSpc>
            </a:pPr>
            <a:r>
              <a:rPr lang="en-US" sz="2390">
                <a:solidFill>
                  <a:srgbClr val="000000"/>
                </a:solidFill>
                <a:latin typeface="Public Sans"/>
                <a:ea typeface="Public Sans"/>
                <a:cs typeface="Public Sans"/>
                <a:sym typeface="Public Sans"/>
              </a:rPr>
              <a:t>L'analyse de corrélation et de multicolinéarité est essentielle pour garantir la stabilité et la fiabilité des modèles de Machine Learning. Ces techniques permettent d'identifier les variables redondantes qui peuvent fausser les prédictions et dégrader les performances du modèle.</a:t>
            </a:r>
          </a:p>
        </p:txBody>
      </p:sp>
      <p:sp>
        <p:nvSpPr>
          <p:cNvPr name="TextBox 10" id="10"/>
          <p:cNvSpPr txBox="true"/>
          <p:nvPr/>
        </p:nvSpPr>
        <p:spPr>
          <a:xfrm rot="0">
            <a:off x="1373742" y="5909477"/>
            <a:ext cx="13261087" cy="3296568"/>
          </a:xfrm>
          <a:prstGeom prst="rect">
            <a:avLst/>
          </a:prstGeom>
        </p:spPr>
        <p:txBody>
          <a:bodyPr anchor="t" rtlCol="false" tIns="0" lIns="0" bIns="0" rIns="0">
            <a:spAutoFit/>
          </a:bodyPr>
          <a:lstStyle/>
          <a:p>
            <a:pPr algn="just" marL="0" indent="0" lvl="0">
              <a:lnSpc>
                <a:spcPts val="3324"/>
              </a:lnSpc>
              <a:spcBef>
                <a:spcPct val="0"/>
              </a:spcBef>
            </a:pPr>
            <a:r>
              <a:rPr lang="en-US" sz="2374">
                <a:solidFill>
                  <a:srgbClr val="000000"/>
                </a:solidFill>
                <a:latin typeface="Public Sans"/>
                <a:ea typeface="Public Sans"/>
                <a:cs typeface="Public Sans"/>
                <a:sym typeface="Public Sans"/>
              </a:rPr>
              <a:t>La matrice de corrélation mesure la relation linéaire entre deux variables. Le coefficient varie de -1 à +1.</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 Seuil critique : coefficient &gt; 0.8</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 Action : supprimer la variable redondante</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Risques identifiés dans le dataset :</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 MonetaryTotal vs MonetaryAvg</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 TotalQuantity vs AvgQtyPerTrans</a:t>
            </a:r>
          </a:p>
          <a:p>
            <a:pPr algn="just" marL="0" indent="0" lvl="0">
              <a:lnSpc>
                <a:spcPts val="3324"/>
              </a:lnSpc>
              <a:spcBef>
                <a:spcPct val="0"/>
              </a:spcBef>
            </a:pPr>
            <a:r>
              <a:rPr lang="en-US" sz="2374">
                <a:solidFill>
                  <a:srgbClr val="000000"/>
                </a:solidFill>
                <a:latin typeface="Public Sans"/>
                <a:ea typeface="Public Sans"/>
                <a:cs typeface="Public Sans"/>
                <a:sym typeface="Public Sans"/>
              </a:rPr>
              <a:t>Ces paires présentent une forte corrélation et nécessitent un traitement spécifique.</a:t>
            </a:r>
          </a:p>
        </p:txBody>
      </p:sp>
      <p:sp>
        <p:nvSpPr>
          <p:cNvPr name="TextBox 11" id="11"/>
          <p:cNvSpPr txBox="true"/>
          <p:nvPr/>
        </p:nvSpPr>
        <p:spPr>
          <a:xfrm rot="0">
            <a:off x="1373742" y="5249460"/>
            <a:ext cx="7180777" cy="527992"/>
          </a:xfrm>
          <a:prstGeom prst="rect">
            <a:avLst/>
          </a:prstGeom>
        </p:spPr>
        <p:txBody>
          <a:bodyPr anchor="t" rtlCol="false" tIns="0" lIns="0" bIns="0" rIns="0">
            <a:spAutoFit/>
          </a:bodyPr>
          <a:lstStyle/>
          <a:p>
            <a:pPr algn="just" marL="0" indent="0" lvl="0">
              <a:lnSpc>
                <a:spcPts val="4295"/>
              </a:lnSpc>
            </a:pPr>
            <a:r>
              <a:rPr lang="en-US" b="true" sz="3068">
                <a:solidFill>
                  <a:srgbClr val="004CCF"/>
                </a:solidFill>
                <a:latin typeface="Public Sans Bold"/>
                <a:ea typeface="Public Sans Bold"/>
                <a:cs typeface="Public Sans Bold"/>
                <a:sym typeface="Public Sans Bold"/>
              </a:rPr>
              <a:t>Matrice de Corrélation</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14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849" y="9982387"/>
            <a:ext cx="18449849" cy="304613"/>
            <a:chOff x="0" y="0"/>
            <a:chExt cx="4859220" cy="80227"/>
          </a:xfrm>
        </p:grpSpPr>
        <p:sp>
          <p:nvSpPr>
            <p:cNvPr name="Freeform 3" id="3"/>
            <p:cNvSpPr/>
            <p:nvPr/>
          </p:nvSpPr>
          <p:spPr>
            <a:xfrm flipH="false" flipV="false" rot="0">
              <a:off x="0" y="0"/>
              <a:ext cx="4859220" cy="80227"/>
            </a:xfrm>
            <a:custGeom>
              <a:avLst/>
              <a:gdLst/>
              <a:ahLst/>
              <a:cxnLst/>
              <a:rect r="r" b="b" t="t" l="l"/>
              <a:pathLst>
                <a:path h="80227" w="4859220">
                  <a:moveTo>
                    <a:pt x="0" y="0"/>
                  </a:moveTo>
                  <a:lnTo>
                    <a:pt x="4859220" y="0"/>
                  </a:lnTo>
                  <a:lnTo>
                    <a:pt x="4859220" y="80227"/>
                  </a:lnTo>
                  <a:lnTo>
                    <a:pt x="0" y="80227"/>
                  </a:lnTo>
                  <a:close/>
                </a:path>
              </a:pathLst>
            </a:custGeom>
            <a:solidFill>
              <a:srgbClr val="004CCF"/>
            </a:solidFill>
          </p:spPr>
        </p:sp>
        <p:sp>
          <p:nvSpPr>
            <p:cNvPr name="TextBox 4" id="4"/>
            <p:cNvSpPr txBox="true"/>
            <p:nvPr/>
          </p:nvSpPr>
          <p:spPr>
            <a:xfrm>
              <a:off x="0" y="-47625"/>
              <a:ext cx="4859220" cy="127852"/>
            </a:xfrm>
            <a:prstGeom prst="rect">
              <a:avLst/>
            </a:prstGeom>
          </p:spPr>
          <p:txBody>
            <a:bodyPr anchor="ctr" rtlCol="false" tIns="50800" lIns="50800" bIns="50800" rIns="50800"/>
            <a:lstStyle/>
            <a:p>
              <a:pPr algn="ctr" marL="0" indent="0" lvl="0">
                <a:lnSpc>
                  <a:spcPts val="2886"/>
                </a:lnSpc>
              </a:pPr>
            </a:p>
          </p:txBody>
        </p:sp>
      </p:grpSp>
      <p:sp>
        <p:nvSpPr>
          <p:cNvPr name="Freeform 5" id="5"/>
          <p:cNvSpPr/>
          <p:nvPr/>
        </p:nvSpPr>
        <p:spPr>
          <a:xfrm flipH="false" flipV="false" rot="0">
            <a:off x="11531225" y="2456111"/>
            <a:ext cx="5374777" cy="5374777"/>
          </a:xfrm>
          <a:custGeom>
            <a:avLst/>
            <a:gdLst/>
            <a:ahLst/>
            <a:cxnLst/>
            <a:rect r="r" b="b" t="t" l="l"/>
            <a:pathLst>
              <a:path h="5374777" w="5374777">
                <a:moveTo>
                  <a:pt x="0" y="0"/>
                </a:moveTo>
                <a:lnTo>
                  <a:pt x="5374778" y="0"/>
                </a:lnTo>
                <a:lnTo>
                  <a:pt x="5374778" y="5374778"/>
                </a:lnTo>
                <a:lnTo>
                  <a:pt x="0" y="53747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909637" y="1802819"/>
            <a:ext cx="8266432" cy="2577607"/>
          </a:xfrm>
          <a:prstGeom prst="rect">
            <a:avLst/>
          </a:prstGeom>
        </p:spPr>
        <p:txBody>
          <a:bodyPr anchor="t" rtlCol="false" tIns="0" lIns="0" bIns="0" rIns="0">
            <a:spAutoFit/>
          </a:bodyPr>
          <a:lstStyle/>
          <a:p>
            <a:pPr algn="l" marL="0" indent="0" lvl="0">
              <a:lnSpc>
                <a:spcPts val="6703"/>
              </a:lnSpc>
              <a:spcBef>
                <a:spcPct val="0"/>
              </a:spcBef>
            </a:pPr>
            <a:r>
              <a:rPr lang="en-US" b="true" sz="6324" strike="noStrike" u="none">
                <a:solidFill>
                  <a:srgbClr val="004CCF"/>
                </a:solidFill>
                <a:latin typeface="Aileron Ultra-Bold"/>
                <a:ea typeface="Aileron Ultra-Bold"/>
                <a:cs typeface="Aileron Ultra-Bold"/>
                <a:sym typeface="Aileron Ultra-Bold"/>
              </a:rPr>
              <a:t>Préparation des Données</a:t>
            </a:r>
          </a:p>
          <a:p>
            <a:pPr algn="l" marL="0" indent="0" lvl="0">
              <a:lnSpc>
                <a:spcPts val="6703"/>
              </a:lnSpc>
              <a:spcBef>
                <a:spcPct val="0"/>
              </a:spcBef>
            </a:pPr>
            <a:r>
              <a:rPr lang="en-US" b="true" sz="6324" strike="noStrike" u="none">
                <a:solidFill>
                  <a:srgbClr val="004CCF"/>
                </a:solidFill>
                <a:latin typeface="Aileron Ultra-Bold"/>
                <a:ea typeface="Aileron Ultra-Bold"/>
                <a:cs typeface="Aileron Ultra-Bold"/>
                <a:sym typeface="Aileron Ultra-Bold"/>
              </a:rPr>
              <a:t>(Data Preprocessing)</a:t>
            </a:r>
          </a:p>
        </p:txBody>
      </p:sp>
      <p:sp>
        <p:nvSpPr>
          <p:cNvPr name="TextBox 7" id="7"/>
          <p:cNvSpPr txBox="true"/>
          <p:nvPr/>
        </p:nvSpPr>
        <p:spPr>
          <a:xfrm rot="0">
            <a:off x="1028700" y="5936938"/>
            <a:ext cx="8147369" cy="1564283"/>
          </a:xfrm>
          <a:prstGeom prst="rect">
            <a:avLst/>
          </a:prstGeom>
        </p:spPr>
        <p:txBody>
          <a:bodyPr anchor="t" rtlCol="false" tIns="0" lIns="0" bIns="0" rIns="0">
            <a:spAutoFit/>
          </a:bodyPr>
          <a:lstStyle/>
          <a:p>
            <a:pPr algn="l" marL="0" indent="0" lvl="0">
              <a:lnSpc>
                <a:spcPts val="4112"/>
              </a:lnSpc>
            </a:pPr>
            <a:r>
              <a:rPr lang="en-US" sz="2937">
                <a:solidFill>
                  <a:srgbClr val="000000"/>
                </a:solidFill>
                <a:latin typeface="Public Sans"/>
                <a:ea typeface="Public Sans"/>
                <a:cs typeface="Public Sans"/>
                <a:sym typeface="Public Sans"/>
              </a:rPr>
              <a:t>Transformer des données brutes et imparfaites en données propres et exploitables pour les algorithmes ML.</a:t>
            </a:r>
          </a:p>
        </p:txBody>
      </p:sp>
      <p:sp>
        <p:nvSpPr>
          <p:cNvPr name="TextBox 8" id="8"/>
          <p:cNvSpPr txBox="true"/>
          <p:nvPr/>
        </p:nvSpPr>
        <p:spPr>
          <a:xfrm rot="0">
            <a:off x="1028700" y="8457357"/>
            <a:ext cx="2740571" cy="391834"/>
          </a:xfrm>
          <a:prstGeom prst="rect">
            <a:avLst/>
          </a:prstGeom>
        </p:spPr>
        <p:txBody>
          <a:bodyPr anchor="t" rtlCol="false" tIns="0" lIns="0" bIns="0" rIns="0">
            <a:spAutoFit/>
          </a:bodyPr>
          <a:lstStyle/>
          <a:p>
            <a:pPr algn="l" marL="0" indent="0" lvl="0">
              <a:lnSpc>
                <a:spcPts val="3077"/>
              </a:lnSpc>
            </a:pPr>
            <a:r>
              <a:rPr lang="en-US" sz="2198">
                <a:solidFill>
                  <a:srgbClr val="000000"/>
                </a:solidFill>
                <a:latin typeface="Public Sans"/>
                <a:ea typeface="Public Sans"/>
                <a:cs typeface="Public Sans"/>
                <a:sym typeface="Public Sans"/>
              </a:rPr>
              <a:t>Règle fondamentale</a:t>
            </a:r>
          </a:p>
        </p:txBody>
      </p:sp>
      <p:sp>
        <p:nvSpPr>
          <p:cNvPr name="TextBox 9" id="9"/>
          <p:cNvSpPr txBox="true"/>
          <p:nvPr/>
        </p:nvSpPr>
        <p:spPr>
          <a:xfrm rot="0">
            <a:off x="1028700" y="8761612"/>
            <a:ext cx="3284833" cy="552917"/>
          </a:xfrm>
          <a:prstGeom prst="rect">
            <a:avLst/>
          </a:prstGeom>
        </p:spPr>
        <p:txBody>
          <a:bodyPr anchor="t" rtlCol="false" tIns="0" lIns="0" bIns="0" rIns="0">
            <a:spAutoFit/>
          </a:bodyPr>
          <a:lstStyle/>
          <a:p>
            <a:pPr algn="l" marL="0" indent="0" lvl="0">
              <a:lnSpc>
                <a:spcPts val="4474"/>
              </a:lnSpc>
            </a:pPr>
            <a:r>
              <a:rPr lang="en-US" b="true" sz="3196">
                <a:solidFill>
                  <a:srgbClr val="004CCF"/>
                </a:solidFill>
                <a:latin typeface="Public Sans Bold"/>
                <a:ea typeface="Public Sans Bold"/>
                <a:cs typeface="Public Sans Bold"/>
                <a:sym typeface="Public Sans Bold"/>
              </a:rPr>
              <a:t>No Data Leakage</a:t>
            </a:r>
          </a:p>
        </p:txBody>
      </p:sp>
      <p:sp>
        <p:nvSpPr>
          <p:cNvPr name="TextBox 10" id="10"/>
          <p:cNvSpPr txBox="true"/>
          <p:nvPr/>
        </p:nvSpPr>
        <p:spPr>
          <a:xfrm rot="0">
            <a:off x="4456937" y="8457357"/>
            <a:ext cx="4193505" cy="391834"/>
          </a:xfrm>
          <a:prstGeom prst="rect">
            <a:avLst/>
          </a:prstGeom>
        </p:spPr>
        <p:txBody>
          <a:bodyPr anchor="t" rtlCol="false" tIns="0" lIns="0" bIns="0" rIns="0">
            <a:spAutoFit/>
          </a:bodyPr>
          <a:lstStyle/>
          <a:p>
            <a:pPr algn="l" marL="0" indent="0" lvl="0">
              <a:lnSpc>
                <a:spcPts val="3077"/>
              </a:lnSpc>
            </a:pPr>
            <a:r>
              <a:rPr lang="en-US" sz="2198">
                <a:solidFill>
                  <a:srgbClr val="000000"/>
                </a:solidFill>
                <a:latin typeface="Public Sans"/>
                <a:ea typeface="Public Sans"/>
                <a:cs typeface="Public Sans"/>
                <a:sym typeface="Public Sans"/>
              </a:rPr>
              <a:t>Principe clé</a:t>
            </a:r>
          </a:p>
        </p:txBody>
      </p:sp>
      <p:sp>
        <p:nvSpPr>
          <p:cNvPr name="TextBox 11" id="11"/>
          <p:cNvSpPr txBox="true"/>
          <p:nvPr/>
        </p:nvSpPr>
        <p:spPr>
          <a:xfrm rot="0">
            <a:off x="4456937" y="8761612"/>
            <a:ext cx="5356137" cy="552917"/>
          </a:xfrm>
          <a:prstGeom prst="rect">
            <a:avLst/>
          </a:prstGeom>
        </p:spPr>
        <p:txBody>
          <a:bodyPr anchor="t" rtlCol="false" tIns="0" lIns="0" bIns="0" rIns="0">
            <a:spAutoFit/>
          </a:bodyPr>
          <a:lstStyle/>
          <a:p>
            <a:pPr algn="l" marL="0" indent="0" lvl="0">
              <a:lnSpc>
                <a:spcPts val="4474"/>
              </a:lnSpc>
            </a:pPr>
            <a:r>
              <a:rPr lang="en-US" b="true" sz="3196">
                <a:solidFill>
                  <a:srgbClr val="004CCF"/>
                </a:solidFill>
                <a:latin typeface="Public Sans Bold"/>
                <a:ea typeface="Public Sans Bold"/>
                <a:cs typeface="Public Sans Bold"/>
                <a:sym typeface="Public Sans Bold"/>
              </a:rPr>
              <a:t>Train Set Only</a:t>
            </a:r>
          </a:p>
        </p:txBody>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96759" y="0"/>
            <a:ext cx="5291241" cy="10287000"/>
            <a:chOff x="0" y="0"/>
            <a:chExt cx="1393578" cy="2709333"/>
          </a:xfrm>
        </p:grpSpPr>
        <p:sp>
          <p:nvSpPr>
            <p:cNvPr name="Freeform 3" id="3"/>
            <p:cNvSpPr/>
            <p:nvPr/>
          </p:nvSpPr>
          <p:spPr>
            <a:xfrm flipH="false" flipV="false" rot="0">
              <a:off x="0" y="0"/>
              <a:ext cx="1393578" cy="2709333"/>
            </a:xfrm>
            <a:custGeom>
              <a:avLst/>
              <a:gdLst/>
              <a:ahLst/>
              <a:cxnLst/>
              <a:rect r="r" b="b" t="t" l="l"/>
              <a:pathLst>
                <a:path h="2709333" w="1393578">
                  <a:moveTo>
                    <a:pt x="0" y="0"/>
                  </a:moveTo>
                  <a:lnTo>
                    <a:pt x="1393578" y="0"/>
                  </a:lnTo>
                  <a:lnTo>
                    <a:pt x="1393578" y="2709333"/>
                  </a:lnTo>
                  <a:lnTo>
                    <a:pt x="0" y="2709333"/>
                  </a:lnTo>
                  <a:close/>
                </a:path>
              </a:pathLst>
            </a:custGeom>
            <a:solidFill>
              <a:srgbClr val="0E62F2"/>
            </a:solidFill>
          </p:spPr>
        </p:sp>
        <p:sp>
          <p:nvSpPr>
            <p:cNvPr name="TextBox 4" id="4"/>
            <p:cNvSpPr txBox="true"/>
            <p:nvPr/>
          </p:nvSpPr>
          <p:spPr>
            <a:xfrm>
              <a:off x="0" y="-47625"/>
              <a:ext cx="1393578" cy="2756958"/>
            </a:xfrm>
            <a:prstGeom prst="rect">
              <a:avLst/>
            </a:prstGeom>
          </p:spPr>
          <p:txBody>
            <a:bodyPr anchor="ctr" rtlCol="false" tIns="50800" lIns="50800" bIns="50800" rIns="50800"/>
            <a:lstStyle/>
            <a:p>
              <a:pPr algn="ctr" marL="0" indent="0" lvl="0">
                <a:lnSpc>
                  <a:spcPts val="3258"/>
                </a:lnSpc>
              </a:pPr>
            </a:p>
          </p:txBody>
        </p:sp>
      </p:grpSp>
      <p:grpSp>
        <p:nvGrpSpPr>
          <p:cNvPr name="Group 5" id="5"/>
          <p:cNvGrpSpPr/>
          <p:nvPr/>
        </p:nvGrpSpPr>
        <p:grpSpPr>
          <a:xfrm rot="0">
            <a:off x="9388061" y="5331292"/>
            <a:ext cx="8252145" cy="4176516"/>
            <a:chOff x="0" y="0"/>
            <a:chExt cx="2946355" cy="1491188"/>
          </a:xfrm>
        </p:grpSpPr>
        <p:sp>
          <p:nvSpPr>
            <p:cNvPr name="Freeform 6" id="6"/>
            <p:cNvSpPr/>
            <p:nvPr/>
          </p:nvSpPr>
          <p:spPr>
            <a:xfrm flipH="false" flipV="false" rot="0">
              <a:off x="0" y="0"/>
              <a:ext cx="2946355" cy="1491188"/>
            </a:xfrm>
            <a:custGeom>
              <a:avLst/>
              <a:gdLst/>
              <a:ahLst/>
              <a:cxnLst/>
              <a:rect r="r" b="b" t="t" l="l"/>
              <a:pathLst>
                <a:path h="1491188" w="2946355">
                  <a:moveTo>
                    <a:pt x="37527" y="0"/>
                  </a:moveTo>
                  <a:lnTo>
                    <a:pt x="2908828" y="0"/>
                  </a:lnTo>
                  <a:cubicBezTo>
                    <a:pt x="2929554" y="0"/>
                    <a:pt x="2946355" y="16801"/>
                    <a:pt x="2946355" y="37527"/>
                  </a:cubicBezTo>
                  <a:lnTo>
                    <a:pt x="2946355" y="1453661"/>
                  </a:lnTo>
                  <a:cubicBezTo>
                    <a:pt x="2946355" y="1463614"/>
                    <a:pt x="2942401" y="1473159"/>
                    <a:pt x="2935363" y="1480196"/>
                  </a:cubicBezTo>
                  <a:cubicBezTo>
                    <a:pt x="2928326" y="1487234"/>
                    <a:pt x="2918781" y="1491188"/>
                    <a:pt x="2908828" y="1491188"/>
                  </a:cubicBezTo>
                  <a:lnTo>
                    <a:pt x="37527" y="1491188"/>
                  </a:lnTo>
                  <a:cubicBezTo>
                    <a:pt x="16801" y="1491188"/>
                    <a:pt x="0" y="1474386"/>
                    <a:pt x="0" y="1453661"/>
                  </a:cubicBezTo>
                  <a:lnTo>
                    <a:pt x="0" y="37527"/>
                  </a:lnTo>
                  <a:cubicBezTo>
                    <a:pt x="0" y="27574"/>
                    <a:pt x="3954" y="18029"/>
                    <a:pt x="10991" y="10991"/>
                  </a:cubicBezTo>
                  <a:cubicBezTo>
                    <a:pt x="18029" y="3954"/>
                    <a:pt x="27574" y="0"/>
                    <a:pt x="37527" y="0"/>
                  </a:cubicBezTo>
                  <a:close/>
                </a:path>
              </a:pathLst>
            </a:custGeom>
            <a:solidFill>
              <a:srgbClr val="F2F2F2"/>
            </a:solidFill>
          </p:spPr>
        </p:sp>
        <p:sp>
          <p:nvSpPr>
            <p:cNvPr name="TextBox 7" id="7"/>
            <p:cNvSpPr txBox="true"/>
            <p:nvPr/>
          </p:nvSpPr>
          <p:spPr>
            <a:xfrm>
              <a:off x="0" y="-47625"/>
              <a:ext cx="2946355" cy="1538813"/>
            </a:xfrm>
            <a:prstGeom prst="rect">
              <a:avLst/>
            </a:prstGeom>
          </p:spPr>
          <p:txBody>
            <a:bodyPr anchor="ctr" rtlCol="false" tIns="37473" lIns="37473" bIns="37473" rIns="37473"/>
            <a:lstStyle/>
            <a:p>
              <a:pPr algn="ctr" marL="0" indent="0" lvl="0">
                <a:lnSpc>
                  <a:spcPts val="3257"/>
                </a:lnSpc>
              </a:pPr>
            </a:p>
          </p:txBody>
        </p:sp>
      </p:grpSp>
      <p:sp>
        <p:nvSpPr>
          <p:cNvPr name="TextBox 8" id="8"/>
          <p:cNvSpPr txBox="true"/>
          <p:nvPr/>
        </p:nvSpPr>
        <p:spPr>
          <a:xfrm rot="0">
            <a:off x="9670572" y="6205601"/>
            <a:ext cx="7666784" cy="5283490"/>
          </a:xfrm>
          <a:prstGeom prst="rect">
            <a:avLst/>
          </a:prstGeom>
        </p:spPr>
        <p:txBody>
          <a:bodyPr anchor="t" rtlCol="false" tIns="0" lIns="0" bIns="0" rIns="0">
            <a:spAutoFit/>
          </a:bodyPr>
          <a:lstStyle/>
          <a:p>
            <a:pPr algn="just" marL="0" indent="0" lvl="0">
              <a:lnSpc>
                <a:spcPts val="2783"/>
              </a:lnSpc>
              <a:spcBef>
                <a:spcPct val="0"/>
              </a:spcBef>
            </a:pPr>
            <a:r>
              <a:rPr lang="en-US" sz="1988">
                <a:solidFill>
                  <a:srgbClr val="000000"/>
                </a:solidFill>
                <a:latin typeface="Public Sans"/>
                <a:ea typeface="Public Sans"/>
                <a:cs typeface="Public Sans"/>
                <a:sym typeface="Public Sans"/>
              </a:rPr>
              <a:t>Valeurs problématiques : négatives (-1) et extrêmes (999)</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Stratégie : Clipping au 99ᵉ percentile</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1) Trouver une limite raisonnable :</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upper_limit = df['SupportTicketsCount'].</a:t>
            </a:r>
            <a:r>
              <a:rPr lang="en-US" b="true" sz="1988">
                <a:solidFill>
                  <a:srgbClr val="000000"/>
                </a:solidFill>
                <a:latin typeface="Public Sans Bold"/>
                <a:ea typeface="Public Sans Bold"/>
                <a:cs typeface="Public Sans Bold"/>
                <a:sym typeface="Public Sans Bold"/>
              </a:rPr>
              <a:t>quantile(0.99)</a:t>
            </a:r>
          </a:p>
          <a:p>
            <a:pPr algn="just" marL="0" indent="0" lvl="0">
              <a:lnSpc>
                <a:spcPts val="2783"/>
              </a:lnSpc>
              <a:spcBef>
                <a:spcPct val="0"/>
              </a:spcBef>
            </a:pPr>
            <a:r>
              <a:rPr lang="en-US" b="true" sz="1988">
                <a:solidFill>
                  <a:srgbClr val="000000"/>
                </a:solidFill>
                <a:latin typeface="Public Sans Bold"/>
                <a:ea typeface="Public Sans Bold"/>
                <a:cs typeface="Public Sans Bold"/>
                <a:sym typeface="Public Sans Bold"/>
              </a:rPr>
              <a:t>=&gt;</a:t>
            </a:r>
            <a:r>
              <a:rPr lang="en-US" sz="1988">
                <a:solidFill>
                  <a:srgbClr val="000000"/>
                </a:solidFill>
                <a:latin typeface="Public Sans"/>
                <a:ea typeface="Public Sans"/>
                <a:cs typeface="Public Sans"/>
                <a:sym typeface="Public Sans"/>
              </a:rPr>
              <a:t> 99% des données sont en dessous de upper_limit  donc </a:t>
            </a:r>
          </a:p>
          <a:p>
            <a:pPr algn="just" marL="429331" indent="-214666" lvl="1">
              <a:lnSpc>
                <a:spcPts val="2783"/>
              </a:lnSpc>
              <a:spcBef>
                <a:spcPct val="0"/>
              </a:spcBef>
              <a:buFont typeface="Arial"/>
              <a:buChar char="•"/>
            </a:pPr>
            <a:r>
              <a:rPr lang="en-US" sz="1988">
                <a:solidFill>
                  <a:srgbClr val="000000"/>
                </a:solidFill>
                <a:latin typeface="Public Sans"/>
                <a:ea typeface="Public Sans"/>
                <a:cs typeface="Public Sans"/>
                <a:sym typeface="Public Sans"/>
              </a:rPr>
              <a:t>tout ce qui est &gt; upper_limit devient upper_limit </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3) Corriger les valeurs négatives :</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df.loc[df['SupportTicketsCount'] &lt; 0] = 0</a:t>
            </a:r>
          </a:p>
          <a:p>
            <a:pPr algn="just" marL="429331" indent="-214666" lvl="1">
              <a:lnSpc>
                <a:spcPts val="2783"/>
              </a:lnSpc>
              <a:spcBef>
                <a:spcPct val="0"/>
              </a:spcBef>
              <a:buFont typeface="Arial"/>
              <a:buChar char="•"/>
            </a:pPr>
            <a:r>
              <a:rPr lang="en-US" sz="1988">
                <a:solidFill>
                  <a:srgbClr val="000000"/>
                </a:solidFill>
                <a:latin typeface="Public Sans"/>
                <a:ea typeface="Public Sans"/>
                <a:cs typeface="Public Sans"/>
                <a:sym typeface="Public Sans"/>
              </a:rPr>
              <a:t>tout ce qui est &lt; 0 devient 0</a:t>
            </a:r>
          </a:p>
          <a:p>
            <a:pPr algn="just" marL="0" indent="0" lvl="0">
              <a:lnSpc>
                <a:spcPts val="2783"/>
              </a:lnSpc>
              <a:spcBef>
                <a:spcPct val="0"/>
              </a:spcBef>
            </a:pPr>
          </a:p>
          <a:p>
            <a:pPr algn="just" marL="0" indent="0" lvl="0">
              <a:lnSpc>
                <a:spcPts val="2783"/>
              </a:lnSpc>
              <a:spcBef>
                <a:spcPct val="0"/>
              </a:spcBef>
            </a:pPr>
          </a:p>
          <a:p>
            <a:pPr algn="just" marL="0" indent="0" lvl="0">
              <a:lnSpc>
                <a:spcPts val="2783"/>
              </a:lnSpc>
              <a:spcBef>
                <a:spcPct val="0"/>
              </a:spcBef>
            </a:pPr>
          </a:p>
          <a:p>
            <a:pPr algn="just" marL="0" indent="0" lvl="0">
              <a:lnSpc>
                <a:spcPts val="2783"/>
              </a:lnSpc>
              <a:spcBef>
                <a:spcPct val="0"/>
              </a:spcBef>
            </a:pPr>
          </a:p>
          <a:p>
            <a:pPr algn="just" marL="0" indent="0" lvl="0">
              <a:lnSpc>
                <a:spcPts val="2783"/>
              </a:lnSpc>
              <a:spcBef>
                <a:spcPct val="0"/>
              </a:spcBef>
            </a:pPr>
          </a:p>
          <a:p>
            <a:pPr algn="just" marL="0" indent="0" lvl="0">
              <a:lnSpc>
                <a:spcPts val="2783"/>
              </a:lnSpc>
              <a:spcBef>
                <a:spcPct val="0"/>
              </a:spcBef>
            </a:pPr>
            <a:r>
              <a:rPr lang="en-US" sz="1988">
                <a:solidFill>
                  <a:srgbClr val="000000"/>
                </a:solidFill>
                <a:latin typeface="Public Sans"/>
                <a:ea typeface="Public Sans"/>
                <a:cs typeface="Public Sans"/>
                <a:sym typeface="Public Sans"/>
              </a:rPr>
              <a:t>.</a:t>
            </a:r>
          </a:p>
        </p:txBody>
      </p:sp>
      <p:sp>
        <p:nvSpPr>
          <p:cNvPr name="TextBox 9" id="9"/>
          <p:cNvSpPr txBox="true"/>
          <p:nvPr/>
        </p:nvSpPr>
        <p:spPr>
          <a:xfrm rot="0">
            <a:off x="9670572" y="5492033"/>
            <a:ext cx="7666784" cy="559215"/>
          </a:xfrm>
          <a:prstGeom prst="rect">
            <a:avLst/>
          </a:prstGeom>
        </p:spPr>
        <p:txBody>
          <a:bodyPr anchor="t" rtlCol="false" tIns="0" lIns="0" bIns="0" rIns="0">
            <a:spAutoFit/>
          </a:bodyPr>
          <a:lstStyle/>
          <a:p>
            <a:pPr algn="just" marL="0" indent="0" lvl="0">
              <a:lnSpc>
                <a:spcPts val="4586"/>
              </a:lnSpc>
            </a:pPr>
            <a:r>
              <a:rPr lang="en-US" b="true" sz="3276">
                <a:solidFill>
                  <a:srgbClr val="004CCF"/>
                </a:solidFill>
                <a:latin typeface="Public Sans Bold"/>
                <a:ea typeface="Public Sans Bold"/>
                <a:cs typeface="Public Sans Bold"/>
                <a:sym typeface="Public Sans Bold"/>
              </a:rPr>
              <a:t>SupportTicketsCount</a:t>
            </a:r>
          </a:p>
        </p:txBody>
      </p:sp>
      <p:sp>
        <p:nvSpPr>
          <p:cNvPr name="Freeform 10" id="10"/>
          <p:cNvSpPr/>
          <p:nvPr/>
        </p:nvSpPr>
        <p:spPr>
          <a:xfrm flipH="false" flipV="false" rot="3580241">
            <a:off x="3301887" y="8978760"/>
            <a:ext cx="5106485" cy="5151561"/>
          </a:xfrm>
          <a:custGeom>
            <a:avLst/>
            <a:gdLst/>
            <a:ahLst/>
            <a:cxnLst/>
            <a:rect r="r" b="b" t="t" l="l"/>
            <a:pathLst>
              <a:path h="5151561" w="5106485">
                <a:moveTo>
                  <a:pt x="0" y="0"/>
                </a:moveTo>
                <a:lnTo>
                  <a:pt x="5106484" y="0"/>
                </a:lnTo>
                <a:lnTo>
                  <a:pt x="5106484" y="5151561"/>
                </a:lnTo>
                <a:lnTo>
                  <a:pt x="0" y="5151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3580241">
            <a:off x="-6564967" y="-3721068"/>
            <a:ext cx="7678545" cy="7746326"/>
          </a:xfrm>
          <a:custGeom>
            <a:avLst/>
            <a:gdLst/>
            <a:ahLst/>
            <a:cxnLst/>
            <a:rect r="r" b="b" t="t" l="l"/>
            <a:pathLst>
              <a:path h="7746326" w="7678545">
                <a:moveTo>
                  <a:pt x="0" y="0"/>
                </a:moveTo>
                <a:lnTo>
                  <a:pt x="7678545" y="0"/>
                </a:lnTo>
                <a:lnTo>
                  <a:pt x="7678545" y="7746326"/>
                </a:lnTo>
                <a:lnTo>
                  <a:pt x="0" y="77463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12" id="12"/>
          <p:cNvSpPr txBox="true"/>
          <p:nvPr/>
        </p:nvSpPr>
        <p:spPr>
          <a:xfrm rot="0">
            <a:off x="1292697" y="3725371"/>
            <a:ext cx="8063014" cy="1531932"/>
          </a:xfrm>
          <a:prstGeom prst="rect">
            <a:avLst/>
          </a:prstGeom>
        </p:spPr>
        <p:txBody>
          <a:bodyPr anchor="t" rtlCol="false" tIns="0" lIns="0" bIns="0" rIns="0">
            <a:spAutoFit/>
          </a:bodyPr>
          <a:lstStyle/>
          <a:p>
            <a:pPr algn="l" marL="0" indent="0" lvl="0">
              <a:lnSpc>
                <a:spcPts val="5944"/>
              </a:lnSpc>
              <a:spcBef>
                <a:spcPct val="0"/>
              </a:spcBef>
            </a:pPr>
            <a:r>
              <a:rPr lang="en-US" b="true" sz="5608">
                <a:solidFill>
                  <a:srgbClr val="004CCF"/>
                </a:solidFill>
                <a:latin typeface="Aileron Ultra-Bold"/>
                <a:ea typeface="Aileron Ultra-Bold"/>
                <a:cs typeface="Aileron Ultra-Bold"/>
                <a:sym typeface="Aileron Ultra-Bold"/>
              </a:rPr>
              <a:t>Traitement des Valeurs Aberrantes</a:t>
            </a:r>
          </a:p>
        </p:txBody>
      </p:sp>
      <p:sp>
        <p:nvSpPr>
          <p:cNvPr name="TextBox 13" id="13"/>
          <p:cNvSpPr txBox="true"/>
          <p:nvPr/>
        </p:nvSpPr>
        <p:spPr>
          <a:xfrm rot="0">
            <a:off x="1292697" y="5540028"/>
            <a:ext cx="6575244" cy="1369552"/>
          </a:xfrm>
          <a:prstGeom prst="rect">
            <a:avLst/>
          </a:prstGeom>
        </p:spPr>
        <p:txBody>
          <a:bodyPr anchor="t" rtlCol="false" tIns="0" lIns="0" bIns="0" rIns="0">
            <a:spAutoFit/>
          </a:bodyPr>
          <a:lstStyle/>
          <a:p>
            <a:pPr algn="just" marL="0" indent="0" lvl="0">
              <a:lnSpc>
                <a:spcPts val="2737"/>
              </a:lnSpc>
            </a:pPr>
            <a:r>
              <a:rPr lang="en-US" sz="1955">
                <a:solidFill>
                  <a:srgbClr val="000000"/>
                </a:solidFill>
                <a:latin typeface="Public Sans"/>
                <a:ea typeface="Public Sans"/>
                <a:cs typeface="Public Sans"/>
                <a:sym typeface="Public Sans"/>
              </a:rPr>
              <a:t>Les valeurs aberrantes (outliers) peuvent contaminer les calculs et biaiser l'apprentissage. Deux variables nécessitent un traitement spécifique pour garantir la qualité des données.</a:t>
            </a:r>
          </a:p>
        </p:txBody>
      </p:sp>
      <p:grpSp>
        <p:nvGrpSpPr>
          <p:cNvPr name="Group 14" id="14"/>
          <p:cNvGrpSpPr/>
          <p:nvPr/>
        </p:nvGrpSpPr>
        <p:grpSpPr>
          <a:xfrm rot="0">
            <a:off x="9388061" y="748901"/>
            <a:ext cx="8252145" cy="4176516"/>
            <a:chOff x="0" y="0"/>
            <a:chExt cx="2946355" cy="1491188"/>
          </a:xfrm>
        </p:grpSpPr>
        <p:sp>
          <p:nvSpPr>
            <p:cNvPr name="Freeform 15" id="15"/>
            <p:cNvSpPr/>
            <p:nvPr/>
          </p:nvSpPr>
          <p:spPr>
            <a:xfrm flipH="false" flipV="false" rot="0">
              <a:off x="0" y="0"/>
              <a:ext cx="2946355" cy="1491188"/>
            </a:xfrm>
            <a:custGeom>
              <a:avLst/>
              <a:gdLst/>
              <a:ahLst/>
              <a:cxnLst/>
              <a:rect r="r" b="b" t="t" l="l"/>
              <a:pathLst>
                <a:path h="1491188" w="2946355">
                  <a:moveTo>
                    <a:pt x="37527" y="0"/>
                  </a:moveTo>
                  <a:lnTo>
                    <a:pt x="2908828" y="0"/>
                  </a:lnTo>
                  <a:cubicBezTo>
                    <a:pt x="2929554" y="0"/>
                    <a:pt x="2946355" y="16801"/>
                    <a:pt x="2946355" y="37527"/>
                  </a:cubicBezTo>
                  <a:lnTo>
                    <a:pt x="2946355" y="1453661"/>
                  </a:lnTo>
                  <a:cubicBezTo>
                    <a:pt x="2946355" y="1463614"/>
                    <a:pt x="2942401" y="1473159"/>
                    <a:pt x="2935363" y="1480196"/>
                  </a:cubicBezTo>
                  <a:cubicBezTo>
                    <a:pt x="2928326" y="1487234"/>
                    <a:pt x="2918781" y="1491188"/>
                    <a:pt x="2908828" y="1491188"/>
                  </a:cubicBezTo>
                  <a:lnTo>
                    <a:pt x="37527" y="1491188"/>
                  </a:lnTo>
                  <a:cubicBezTo>
                    <a:pt x="16801" y="1491188"/>
                    <a:pt x="0" y="1474386"/>
                    <a:pt x="0" y="1453661"/>
                  </a:cubicBezTo>
                  <a:lnTo>
                    <a:pt x="0" y="37527"/>
                  </a:lnTo>
                  <a:cubicBezTo>
                    <a:pt x="0" y="27574"/>
                    <a:pt x="3954" y="18029"/>
                    <a:pt x="10991" y="10991"/>
                  </a:cubicBezTo>
                  <a:cubicBezTo>
                    <a:pt x="18029" y="3954"/>
                    <a:pt x="27574" y="0"/>
                    <a:pt x="37527" y="0"/>
                  </a:cubicBezTo>
                  <a:close/>
                </a:path>
              </a:pathLst>
            </a:custGeom>
            <a:solidFill>
              <a:srgbClr val="F2F2F2"/>
            </a:solidFill>
          </p:spPr>
        </p:sp>
        <p:sp>
          <p:nvSpPr>
            <p:cNvPr name="TextBox 16" id="16"/>
            <p:cNvSpPr txBox="true"/>
            <p:nvPr/>
          </p:nvSpPr>
          <p:spPr>
            <a:xfrm>
              <a:off x="0" y="-47625"/>
              <a:ext cx="2946355" cy="1538813"/>
            </a:xfrm>
            <a:prstGeom prst="rect">
              <a:avLst/>
            </a:prstGeom>
          </p:spPr>
          <p:txBody>
            <a:bodyPr anchor="ctr" rtlCol="false" tIns="37473" lIns="37473" bIns="37473" rIns="37473"/>
            <a:lstStyle/>
            <a:p>
              <a:pPr algn="ctr" marL="0" indent="0" lvl="0">
                <a:lnSpc>
                  <a:spcPts val="3257"/>
                </a:lnSpc>
              </a:pPr>
            </a:p>
          </p:txBody>
        </p:sp>
      </p:grpSp>
      <p:sp>
        <p:nvSpPr>
          <p:cNvPr name="TextBox 17" id="17"/>
          <p:cNvSpPr txBox="true"/>
          <p:nvPr/>
        </p:nvSpPr>
        <p:spPr>
          <a:xfrm rot="0">
            <a:off x="9670572" y="1623211"/>
            <a:ext cx="7969634" cy="1054390"/>
          </a:xfrm>
          <a:prstGeom prst="rect">
            <a:avLst/>
          </a:prstGeom>
        </p:spPr>
        <p:txBody>
          <a:bodyPr anchor="t" rtlCol="false" tIns="0" lIns="0" bIns="0" rIns="0">
            <a:spAutoFit/>
          </a:bodyPr>
          <a:lstStyle/>
          <a:p>
            <a:pPr algn="just" marL="0" indent="0" lvl="0">
              <a:lnSpc>
                <a:spcPts val="2783"/>
              </a:lnSpc>
              <a:spcBef>
                <a:spcPct val="0"/>
              </a:spcBef>
            </a:pPr>
            <a:r>
              <a:rPr lang="en-US" sz="1988">
                <a:solidFill>
                  <a:srgbClr val="000000"/>
                </a:solidFill>
                <a:latin typeface="Public Sans"/>
                <a:ea typeface="Public Sans"/>
                <a:cs typeface="Public Sans"/>
                <a:sym typeface="Public Sans"/>
              </a:rPr>
              <a:t>Valeurs invalides détectées : {-1, 0, 99} hors échelle 1-5</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Stratégie : </a:t>
            </a:r>
            <a:r>
              <a:rPr lang="en-US" b="true" sz="1988">
                <a:solidFill>
                  <a:srgbClr val="000000"/>
                </a:solidFill>
                <a:latin typeface="Public Sans Bold"/>
                <a:ea typeface="Public Sans Bold"/>
                <a:cs typeface="Public Sans Bold"/>
                <a:sym typeface="Public Sans Bold"/>
              </a:rPr>
              <a:t>Remplacement par la médiane</a:t>
            </a:r>
            <a:r>
              <a:rPr lang="en-US" sz="1988">
                <a:solidFill>
                  <a:srgbClr val="000000"/>
                </a:solidFill>
                <a:latin typeface="Public Sans"/>
                <a:ea typeface="Public Sans"/>
                <a:cs typeface="Public Sans"/>
                <a:sym typeface="Public Sans"/>
              </a:rPr>
              <a:t> des valeurs valides (1-5)</a:t>
            </a:r>
          </a:p>
          <a:p>
            <a:pPr algn="just" marL="0" indent="0" lvl="0">
              <a:lnSpc>
                <a:spcPts val="2783"/>
              </a:lnSpc>
              <a:spcBef>
                <a:spcPct val="0"/>
              </a:spcBef>
            </a:pPr>
            <a:r>
              <a:rPr lang="en-US" sz="1988">
                <a:solidFill>
                  <a:srgbClr val="000000"/>
                </a:solidFill>
                <a:latin typeface="Public Sans"/>
                <a:ea typeface="Public Sans"/>
                <a:cs typeface="Public Sans"/>
                <a:sym typeface="Public Sans"/>
              </a:rPr>
              <a:t>car il est peu influencée par les valeurs extrêmes</a:t>
            </a:r>
          </a:p>
        </p:txBody>
      </p:sp>
      <p:sp>
        <p:nvSpPr>
          <p:cNvPr name="TextBox 18" id="18"/>
          <p:cNvSpPr txBox="true"/>
          <p:nvPr/>
        </p:nvSpPr>
        <p:spPr>
          <a:xfrm rot="0">
            <a:off x="9670572" y="914400"/>
            <a:ext cx="7002651" cy="573039"/>
          </a:xfrm>
          <a:prstGeom prst="rect">
            <a:avLst/>
          </a:prstGeom>
        </p:spPr>
        <p:txBody>
          <a:bodyPr anchor="t" rtlCol="false" tIns="0" lIns="0" bIns="0" rIns="0">
            <a:spAutoFit/>
          </a:bodyPr>
          <a:lstStyle/>
          <a:p>
            <a:pPr algn="just" marL="0" indent="0" lvl="0">
              <a:lnSpc>
                <a:spcPts val="4640"/>
              </a:lnSpc>
            </a:pPr>
            <a:r>
              <a:rPr lang="en-US" b="true" sz="3314">
                <a:solidFill>
                  <a:srgbClr val="004CCF"/>
                </a:solidFill>
                <a:latin typeface="Public Sans Bold"/>
                <a:ea typeface="Public Sans Bold"/>
                <a:cs typeface="Public Sans Bold"/>
                <a:sym typeface="Public Sans Bold"/>
              </a:rPr>
              <a:t> SatisfactionScore</a:t>
            </a:r>
          </a:p>
        </p:txBody>
      </p:sp>
      <p:sp>
        <p:nvSpPr>
          <p:cNvPr name="TextBox 19" id="19"/>
          <p:cNvSpPr txBox="true"/>
          <p:nvPr/>
        </p:nvSpPr>
        <p:spPr>
          <a:xfrm rot="0">
            <a:off x="9670572" y="2802543"/>
            <a:ext cx="5714897" cy="1832712"/>
          </a:xfrm>
          <a:prstGeom prst="rect">
            <a:avLst/>
          </a:prstGeom>
        </p:spPr>
        <p:txBody>
          <a:bodyPr anchor="t" rtlCol="false" tIns="0" lIns="0" bIns="0" rIns="0">
            <a:spAutoFit/>
          </a:bodyPr>
          <a:lstStyle/>
          <a:p>
            <a:pPr algn="l">
              <a:lnSpc>
                <a:spcPts val="2409"/>
              </a:lnSpc>
              <a:spcBef>
                <a:spcPct val="0"/>
              </a:spcBef>
            </a:pPr>
            <a:r>
              <a:rPr lang="en-US" sz="1721">
                <a:solidFill>
                  <a:srgbClr val="000000"/>
                </a:solidFill>
                <a:latin typeface="Public Sans"/>
                <a:ea typeface="Public Sans"/>
                <a:cs typeface="Public Sans"/>
                <a:sym typeface="Public Sans"/>
              </a:rPr>
              <a:t>Imaginons une variable :</a:t>
            </a:r>
          </a:p>
          <a:p>
            <a:pPr algn="l">
              <a:lnSpc>
                <a:spcPts val="2409"/>
              </a:lnSpc>
              <a:spcBef>
                <a:spcPct val="0"/>
              </a:spcBef>
            </a:pPr>
            <a:r>
              <a:rPr lang="en-US" sz="1721">
                <a:solidFill>
                  <a:srgbClr val="000000"/>
                </a:solidFill>
                <a:latin typeface="Public Sans"/>
                <a:ea typeface="Public Sans"/>
                <a:cs typeface="Public Sans"/>
                <a:sym typeface="Public Sans"/>
              </a:rPr>
              <a:t>[10, 12, 13, 15, 1000]</a:t>
            </a:r>
          </a:p>
          <a:p>
            <a:pPr algn="l">
              <a:lnSpc>
                <a:spcPts val="2409"/>
              </a:lnSpc>
              <a:spcBef>
                <a:spcPct val="0"/>
              </a:spcBef>
            </a:pPr>
            <a:r>
              <a:rPr lang="en-US" sz="1721">
                <a:solidFill>
                  <a:srgbClr val="000000"/>
                </a:solidFill>
                <a:latin typeface="Public Sans"/>
                <a:ea typeface="Public Sans"/>
                <a:cs typeface="Public Sans"/>
                <a:sym typeface="Public Sans"/>
              </a:rPr>
              <a:t>Moyenne = (10 + 12 + 13 + 15 + 1000) / 5 = 210</a:t>
            </a:r>
          </a:p>
          <a:p>
            <a:pPr algn="l">
              <a:lnSpc>
                <a:spcPts val="2409"/>
              </a:lnSpc>
              <a:spcBef>
                <a:spcPct val="0"/>
              </a:spcBef>
            </a:pPr>
            <a:r>
              <a:rPr lang="en-US" sz="1721">
                <a:solidFill>
                  <a:srgbClr val="000000"/>
                </a:solidFill>
                <a:latin typeface="Public Sans"/>
                <a:ea typeface="Public Sans"/>
                <a:cs typeface="Public Sans"/>
                <a:sym typeface="Public Sans"/>
              </a:rPr>
              <a:t>Médiane = 13</a:t>
            </a:r>
          </a:p>
          <a:p>
            <a:pPr algn="l">
              <a:lnSpc>
                <a:spcPts val="2409"/>
              </a:lnSpc>
              <a:spcBef>
                <a:spcPct val="0"/>
              </a:spcBef>
            </a:pPr>
            <a:r>
              <a:rPr lang="en-US" sz="1721">
                <a:solidFill>
                  <a:srgbClr val="000000"/>
                </a:solidFill>
                <a:latin typeface="Public Sans"/>
                <a:ea typeface="Public Sans"/>
                <a:cs typeface="Public Sans"/>
                <a:sym typeface="Public Sans"/>
              </a:rPr>
              <a:t> La moyenne est complètement faussée par 1000</a:t>
            </a:r>
          </a:p>
          <a:p>
            <a:pPr algn="l">
              <a:lnSpc>
                <a:spcPts val="2409"/>
              </a:lnSpc>
              <a:spcBef>
                <a:spcPct val="0"/>
              </a:spcBef>
            </a:pPr>
            <a:r>
              <a:rPr lang="en-US" sz="1721">
                <a:solidFill>
                  <a:srgbClr val="000000"/>
                </a:solidFill>
                <a:latin typeface="Public Sans"/>
                <a:ea typeface="Public Sans"/>
                <a:cs typeface="Public Sans"/>
                <a:sym typeface="Public Sans"/>
              </a:rPr>
              <a:t>  La médiane reste représentative</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16</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1849" y="0"/>
            <a:ext cx="18449849" cy="376261"/>
            <a:chOff x="0" y="0"/>
            <a:chExt cx="4859220" cy="99098"/>
          </a:xfrm>
        </p:grpSpPr>
        <p:sp>
          <p:nvSpPr>
            <p:cNvPr name="Freeform 3" id="3"/>
            <p:cNvSpPr/>
            <p:nvPr/>
          </p:nvSpPr>
          <p:spPr>
            <a:xfrm flipH="false" flipV="false" rot="0">
              <a:off x="0" y="0"/>
              <a:ext cx="4859220" cy="99098"/>
            </a:xfrm>
            <a:custGeom>
              <a:avLst/>
              <a:gdLst/>
              <a:ahLst/>
              <a:cxnLst/>
              <a:rect r="r" b="b" t="t" l="l"/>
              <a:pathLst>
                <a:path h="99098" w="4859220">
                  <a:moveTo>
                    <a:pt x="0" y="0"/>
                  </a:moveTo>
                  <a:lnTo>
                    <a:pt x="4859220" y="0"/>
                  </a:lnTo>
                  <a:lnTo>
                    <a:pt x="4859220" y="99098"/>
                  </a:lnTo>
                  <a:lnTo>
                    <a:pt x="0" y="99098"/>
                  </a:lnTo>
                  <a:close/>
                </a:path>
              </a:pathLst>
            </a:custGeom>
            <a:solidFill>
              <a:srgbClr val="0E62F2"/>
            </a:solidFill>
          </p:spPr>
        </p:sp>
        <p:sp>
          <p:nvSpPr>
            <p:cNvPr name="TextBox 4" id="4"/>
            <p:cNvSpPr txBox="true"/>
            <p:nvPr/>
          </p:nvSpPr>
          <p:spPr>
            <a:xfrm>
              <a:off x="0" y="-47625"/>
              <a:ext cx="4859220" cy="146723"/>
            </a:xfrm>
            <a:prstGeom prst="rect">
              <a:avLst/>
            </a:prstGeom>
          </p:spPr>
          <p:txBody>
            <a:bodyPr anchor="ctr" rtlCol="false" tIns="50800" lIns="50800" bIns="50800" rIns="50800"/>
            <a:lstStyle/>
            <a:p>
              <a:pPr algn="ctr" marL="0" indent="0" lvl="0">
                <a:lnSpc>
                  <a:spcPts val="2886"/>
                </a:lnSpc>
              </a:pPr>
            </a:p>
          </p:txBody>
        </p:sp>
      </p:grpSp>
      <p:grpSp>
        <p:nvGrpSpPr>
          <p:cNvPr name="Group 5" id="5"/>
          <p:cNvGrpSpPr/>
          <p:nvPr/>
        </p:nvGrpSpPr>
        <p:grpSpPr>
          <a:xfrm rot="0">
            <a:off x="-161849" y="9910739"/>
            <a:ext cx="18449849" cy="376261"/>
            <a:chOff x="0" y="0"/>
            <a:chExt cx="4859220" cy="99098"/>
          </a:xfrm>
        </p:grpSpPr>
        <p:sp>
          <p:nvSpPr>
            <p:cNvPr name="Freeform 6" id="6"/>
            <p:cNvSpPr/>
            <p:nvPr/>
          </p:nvSpPr>
          <p:spPr>
            <a:xfrm flipH="false" flipV="false" rot="0">
              <a:off x="0" y="0"/>
              <a:ext cx="4859220" cy="99098"/>
            </a:xfrm>
            <a:custGeom>
              <a:avLst/>
              <a:gdLst/>
              <a:ahLst/>
              <a:cxnLst/>
              <a:rect r="r" b="b" t="t" l="l"/>
              <a:pathLst>
                <a:path h="99098" w="4859220">
                  <a:moveTo>
                    <a:pt x="0" y="0"/>
                  </a:moveTo>
                  <a:lnTo>
                    <a:pt x="4859220" y="0"/>
                  </a:lnTo>
                  <a:lnTo>
                    <a:pt x="4859220" y="99098"/>
                  </a:lnTo>
                  <a:lnTo>
                    <a:pt x="0" y="99098"/>
                  </a:lnTo>
                  <a:close/>
                </a:path>
              </a:pathLst>
            </a:custGeom>
            <a:solidFill>
              <a:srgbClr val="0E62F2"/>
            </a:solidFill>
          </p:spPr>
        </p:sp>
        <p:sp>
          <p:nvSpPr>
            <p:cNvPr name="TextBox 7" id="7"/>
            <p:cNvSpPr txBox="true"/>
            <p:nvPr/>
          </p:nvSpPr>
          <p:spPr>
            <a:xfrm>
              <a:off x="0" y="-47625"/>
              <a:ext cx="4859220" cy="146723"/>
            </a:xfrm>
            <a:prstGeom prst="rect">
              <a:avLst/>
            </a:prstGeom>
          </p:spPr>
          <p:txBody>
            <a:bodyPr anchor="ctr" rtlCol="false" tIns="50800" lIns="50800" bIns="50800" rIns="50800"/>
            <a:lstStyle/>
            <a:p>
              <a:pPr algn="ctr" marL="0" indent="0" lvl="0">
                <a:lnSpc>
                  <a:spcPts val="2886"/>
                </a:lnSpc>
              </a:pPr>
            </a:p>
          </p:txBody>
        </p:sp>
      </p:grpSp>
      <p:sp>
        <p:nvSpPr>
          <p:cNvPr name="TextBox 8" id="8"/>
          <p:cNvSpPr txBox="true"/>
          <p:nvPr/>
        </p:nvSpPr>
        <p:spPr>
          <a:xfrm rot="0">
            <a:off x="2181547" y="1652611"/>
            <a:ext cx="13924905" cy="623170"/>
          </a:xfrm>
          <a:prstGeom prst="rect">
            <a:avLst/>
          </a:prstGeom>
        </p:spPr>
        <p:txBody>
          <a:bodyPr anchor="t" rtlCol="false" tIns="0" lIns="0" bIns="0" rIns="0">
            <a:spAutoFit/>
          </a:bodyPr>
          <a:lstStyle/>
          <a:p>
            <a:pPr algn="ctr" marL="0" indent="0" lvl="0">
              <a:lnSpc>
                <a:spcPts val="4783"/>
              </a:lnSpc>
              <a:spcBef>
                <a:spcPct val="0"/>
              </a:spcBef>
            </a:pPr>
            <a:r>
              <a:rPr lang="en-US" b="true" sz="4513">
                <a:solidFill>
                  <a:srgbClr val="004CCF"/>
                </a:solidFill>
                <a:latin typeface="Aileron Ultra-Bold"/>
                <a:ea typeface="Aileron Ultra-Bold"/>
                <a:cs typeface="Aileron Ultra-Bold"/>
                <a:sym typeface="Aileron Ultra-Bold"/>
              </a:rPr>
              <a:t>Feature Engineering — Extraction Temporelle et IP</a:t>
            </a:r>
          </a:p>
        </p:txBody>
      </p:sp>
      <p:sp>
        <p:nvSpPr>
          <p:cNvPr name="TextBox 9" id="9"/>
          <p:cNvSpPr txBox="true"/>
          <p:nvPr/>
        </p:nvSpPr>
        <p:spPr>
          <a:xfrm rot="0">
            <a:off x="1028700" y="2844005"/>
            <a:ext cx="16230600" cy="1672826"/>
          </a:xfrm>
          <a:prstGeom prst="rect">
            <a:avLst/>
          </a:prstGeom>
        </p:spPr>
        <p:txBody>
          <a:bodyPr anchor="t" rtlCol="false" tIns="0" lIns="0" bIns="0" rIns="0">
            <a:spAutoFit/>
          </a:bodyPr>
          <a:lstStyle/>
          <a:p>
            <a:pPr algn="just" marL="0" indent="0" lvl="0">
              <a:lnSpc>
                <a:spcPts val="3346"/>
              </a:lnSpc>
            </a:pPr>
            <a:r>
              <a:rPr lang="en-US" sz="2390">
                <a:solidFill>
                  <a:srgbClr val="000000"/>
                </a:solidFill>
                <a:latin typeface="Public Sans"/>
                <a:ea typeface="Public Sans"/>
                <a:cs typeface="Public Sans"/>
                <a:sym typeface="Public Sans"/>
              </a:rPr>
              <a:t>La création de nouvelles variables à partir des données existantes permet de capturer des informations comportementales cachées. </a:t>
            </a:r>
            <a:r>
              <a:rPr lang="en-US" b="true" sz="2390">
                <a:solidFill>
                  <a:srgbClr val="000000"/>
                </a:solidFill>
                <a:latin typeface="Public Sans Bold"/>
                <a:ea typeface="Public Sans Bold"/>
                <a:cs typeface="Public Sans Bold"/>
                <a:sym typeface="Public Sans Bold"/>
              </a:rPr>
              <a:t>La transformation des données brutes (souvent du texte) en features exploitables (Parsing)</a:t>
            </a:r>
            <a:r>
              <a:rPr lang="en-US" sz="2390">
                <a:solidFill>
                  <a:srgbClr val="000000"/>
                </a:solidFill>
                <a:latin typeface="Public Sans"/>
                <a:ea typeface="Public Sans"/>
                <a:cs typeface="Public Sans"/>
                <a:sym typeface="Public Sans"/>
              </a:rPr>
              <a:t> , tandis que l'analyse des adresses IP révèle des patterns de connexion distincts.  Les modèles ML ne comprennent pas les dates directement, mais ils comprennent des nombres.</a:t>
            </a:r>
          </a:p>
        </p:txBody>
      </p:sp>
      <p:grpSp>
        <p:nvGrpSpPr>
          <p:cNvPr name="Group 10" id="10"/>
          <p:cNvGrpSpPr/>
          <p:nvPr/>
        </p:nvGrpSpPr>
        <p:grpSpPr>
          <a:xfrm rot="0">
            <a:off x="1028700" y="5123295"/>
            <a:ext cx="7653476" cy="4400510"/>
            <a:chOff x="0" y="0"/>
            <a:chExt cx="3145229" cy="1808408"/>
          </a:xfrm>
        </p:grpSpPr>
        <p:sp>
          <p:nvSpPr>
            <p:cNvPr name="Freeform 11" id="11"/>
            <p:cNvSpPr/>
            <p:nvPr/>
          </p:nvSpPr>
          <p:spPr>
            <a:xfrm flipH="false" flipV="false" rot="0">
              <a:off x="0" y="0"/>
              <a:ext cx="3145229" cy="1808408"/>
            </a:xfrm>
            <a:custGeom>
              <a:avLst/>
              <a:gdLst/>
              <a:ahLst/>
              <a:cxnLst/>
              <a:rect r="r" b="b" t="t" l="l"/>
              <a:pathLst>
                <a:path h="1808408" w="3145229">
                  <a:moveTo>
                    <a:pt x="40462" y="0"/>
                  </a:moveTo>
                  <a:lnTo>
                    <a:pt x="3104766" y="0"/>
                  </a:lnTo>
                  <a:cubicBezTo>
                    <a:pt x="3115498" y="0"/>
                    <a:pt x="3125789" y="4263"/>
                    <a:pt x="3133378" y="11851"/>
                  </a:cubicBezTo>
                  <a:cubicBezTo>
                    <a:pt x="3140966" y="19439"/>
                    <a:pt x="3145229" y="29731"/>
                    <a:pt x="3145229" y="40462"/>
                  </a:cubicBezTo>
                  <a:lnTo>
                    <a:pt x="3145229" y="1767946"/>
                  </a:lnTo>
                  <a:cubicBezTo>
                    <a:pt x="3145229" y="1778677"/>
                    <a:pt x="3140966" y="1788969"/>
                    <a:pt x="3133378" y="1796557"/>
                  </a:cubicBezTo>
                  <a:cubicBezTo>
                    <a:pt x="3125789" y="1804145"/>
                    <a:pt x="3115498" y="1808408"/>
                    <a:pt x="3104766" y="1808408"/>
                  </a:cubicBezTo>
                  <a:lnTo>
                    <a:pt x="40462" y="1808408"/>
                  </a:lnTo>
                  <a:cubicBezTo>
                    <a:pt x="29731" y="1808408"/>
                    <a:pt x="19439" y="1804145"/>
                    <a:pt x="11851" y="1796557"/>
                  </a:cubicBezTo>
                  <a:cubicBezTo>
                    <a:pt x="4263" y="1788969"/>
                    <a:pt x="0" y="1778677"/>
                    <a:pt x="0" y="1767946"/>
                  </a:cubicBezTo>
                  <a:lnTo>
                    <a:pt x="0" y="40462"/>
                  </a:lnTo>
                  <a:cubicBezTo>
                    <a:pt x="0" y="29731"/>
                    <a:pt x="4263" y="19439"/>
                    <a:pt x="11851" y="11851"/>
                  </a:cubicBezTo>
                  <a:cubicBezTo>
                    <a:pt x="19439" y="4263"/>
                    <a:pt x="29731" y="0"/>
                    <a:pt x="40462" y="0"/>
                  </a:cubicBezTo>
                  <a:close/>
                </a:path>
              </a:pathLst>
            </a:custGeom>
            <a:solidFill>
              <a:srgbClr val="F2F2F2"/>
            </a:solidFill>
          </p:spPr>
        </p:sp>
        <p:sp>
          <p:nvSpPr>
            <p:cNvPr name="TextBox 12" id="12"/>
            <p:cNvSpPr txBox="true"/>
            <p:nvPr/>
          </p:nvSpPr>
          <p:spPr>
            <a:xfrm>
              <a:off x="0" y="-47625"/>
              <a:ext cx="3145229" cy="1856033"/>
            </a:xfrm>
            <a:prstGeom prst="rect">
              <a:avLst/>
            </a:prstGeom>
          </p:spPr>
          <p:txBody>
            <a:bodyPr anchor="ctr" rtlCol="false" tIns="33429" lIns="33429" bIns="33429" rIns="33429"/>
            <a:lstStyle/>
            <a:p>
              <a:pPr algn="ctr" marL="0" indent="0" lvl="0">
                <a:lnSpc>
                  <a:spcPts val="3257"/>
                </a:lnSpc>
              </a:pPr>
            </a:p>
          </p:txBody>
        </p:sp>
      </p:grpSp>
      <p:sp>
        <p:nvSpPr>
          <p:cNvPr name="TextBox 13" id="13"/>
          <p:cNvSpPr txBox="true"/>
          <p:nvPr/>
        </p:nvSpPr>
        <p:spPr>
          <a:xfrm rot="0">
            <a:off x="1525538" y="5937455"/>
            <a:ext cx="6886435" cy="3553460"/>
          </a:xfrm>
          <a:prstGeom prst="rect">
            <a:avLst/>
          </a:prstGeom>
        </p:spPr>
        <p:txBody>
          <a:bodyPr anchor="t" rtlCol="false" tIns="0" lIns="0" bIns="0" rIns="0">
            <a:spAutoFit/>
          </a:bodyPr>
          <a:lstStyle/>
          <a:p>
            <a:pPr algn="just">
              <a:lnSpc>
                <a:spcPts val="2590"/>
              </a:lnSpc>
            </a:pPr>
            <a:r>
              <a:rPr lang="en-US" sz="1850">
                <a:solidFill>
                  <a:srgbClr val="000000"/>
                </a:solidFill>
                <a:latin typeface="Public Sans"/>
                <a:ea typeface="Public Sans"/>
                <a:cs typeface="Public Sans"/>
                <a:sym typeface="Public Sans"/>
              </a:rPr>
              <a:t>reg_date=pd.</a:t>
            </a:r>
            <a:r>
              <a:rPr lang="en-US" sz="1850" b="true">
                <a:solidFill>
                  <a:srgbClr val="000000"/>
                </a:solidFill>
                <a:latin typeface="Public Sans Bold"/>
                <a:ea typeface="Public Sans Bold"/>
                <a:cs typeface="Public Sans Bold"/>
                <a:sym typeface="Public Sans Bold"/>
              </a:rPr>
              <a:t>to_datetime</a:t>
            </a:r>
            <a:r>
              <a:rPr lang="en-US" sz="1850">
                <a:solidFill>
                  <a:srgbClr val="000000"/>
                </a:solidFill>
                <a:latin typeface="Public Sans"/>
                <a:ea typeface="Public Sans"/>
                <a:cs typeface="Public Sans"/>
                <a:sym typeface="Public Sans"/>
              </a:rPr>
              <a:t>(df['RegistrationDate'], </a:t>
            </a:r>
            <a:r>
              <a:rPr lang="en-US" sz="1850" b="true">
                <a:solidFill>
                  <a:srgbClr val="000000"/>
                </a:solidFill>
                <a:latin typeface="Public Sans Bold"/>
                <a:ea typeface="Public Sans Bold"/>
                <a:cs typeface="Public Sans Bold"/>
                <a:sym typeface="Public Sans Bold"/>
              </a:rPr>
              <a:t>dayfirst</a:t>
            </a:r>
            <a:r>
              <a:rPr lang="en-US" sz="1850">
                <a:solidFill>
                  <a:srgbClr val="000000"/>
                </a:solidFill>
                <a:latin typeface="Public Sans"/>
                <a:ea typeface="Public Sans"/>
                <a:cs typeface="Public Sans"/>
                <a:sym typeface="Public Sans"/>
              </a:rPr>
              <a:t>=True, errors='coerce')</a:t>
            </a:r>
          </a:p>
          <a:p>
            <a:pPr algn="just">
              <a:lnSpc>
                <a:spcPts val="2590"/>
              </a:lnSpc>
            </a:pPr>
            <a:r>
              <a:rPr lang="en-US" sz="1850">
                <a:solidFill>
                  <a:srgbClr val="000000"/>
                </a:solidFill>
                <a:latin typeface="Public Sans"/>
                <a:ea typeface="Public Sans"/>
                <a:cs typeface="Public Sans"/>
                <a:sym typeface="Public Sans"/>
              </a:rPr>
              <a:t>to_datetime : convertit une colonne (Sting) en format date/temps (datetime)</a:t>
            </a:r>
          </a:p>
          <a:p>
            <a:pPr algn="just">
              <a:lnSpc>
                <a:spcPts val="2590"/>
              </a:lnSpc>
            </a:pPr>
            <a:r>
              <a:rPr lang="en-US" sz="1850">
                <a:solidFill>
                  <a:srgbClr val="000000"/>
                </a:solidFill>
                <a:latin typeface="Public Sans"/>
                <a:ea typeface="Public Sans"/>
                <a:cs typeface="Public Sans"/>
                <a:sym typeface="Public Sans"/>
              </a:rPr>
              <a:t>dayfirst=True→ format jour/mois/année </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Parsing de RegistrationDate et création de nouvelles colonnes et suppression de l’ancienne   </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 </a:t>
            </a:r>
            <a:r>
              <a:rPr lang="en-US" b="true" sz="1850">
                <a:solidFill>
                  <a:srgbClr val="000000"/>
                </a:solidFill>
                <a:latin typeface="Public Sans Bold"/>
                <a:ea typeface="Public Sans Bold"/>
                <a:cs typeface="Public Sans Bold"/>
                <a:sym typeface="Public Sans Bold"/>
              </a:rPr>
              <a:t>RegYear </a:t>
            </a:r>
            <a:r>
              <a:rPr lang="en-US" sz="1850">
                <a:solidFill>
                  <a:srgbClr val="000000"/>
                </a:solidFill>
                <a:latin typeface="Public Sans"/>
                <a:ea typeface="Public Sans"/>
                <a:cs typeface="Public Sans"/>
                <a:sym typeface="Public Sans"/>
              </a:rPr>
              <a:t>: année → ancienneté client</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 </a:t>
            </a:r>
            <a:r>
              <a:rPr lang="en-US" b="true" sz="1850">
                <a:solidFill>
                  <a:srgbClr val="000000"/>
                </a:solidFill>
                <a:latin typeface="Public Sans Bold"/>
                <a:ea typeface="Public Sans Bold"/>
                <a:cs typeface="Public Sans Bold"/>
                <a:sym typeface="Public Sans Bold"/>
              </a:rPr>
              <a:t>RegMonth </a:t>
            </a:r>
            <a:r>
              <a:rPr lang="en-US" sz="1850">
                <a:solidFill>
                  <a:srgbClr val="000000"/>
                </a:solidFill>
                <a:latin typeface="Public Sans"/>
                <a:ea typeface="Public Sans"/>
                <a:cs typeface="Public Sans"/>
                <a:sym typeface="Public Sans"/>
              </a:rPr>
              <a:t>: mois → saisonnalité</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 </a:t>
            </a:r>
            <a:r>
              <a:rPr lang="en-US" b="true" sz="1850">
                <a:solidFill>
                  <a:srgbClr val="000000"/>
                </a:solidFill>
                <a:latin typeface="Public Sans Bold"/>
                <a:ea typeface="Public Sans Bold"/>
                <a:cs typeface="Public Sans Bold"/>
                <a:sym typeface="Public Sans Bold"/>
              </a:rPr>
              <a:t>RegDay </a:t>
            </a:r>
            <a:r>
              <a:rPr lang="en-US" sz="1850">
                <a:solidFill>
                  <a:srgbClr val="000000"/>
                </a:solidFill>
                <a:latin typeface="Public Sans"/>
                <a:ea typeface="Public Sans"/>
                <a:cs typeface="Public Sans"/>
                <a:sym typeface="Public Sans"/>
              </a:rPr>
              <a:t>: jour du mois → cycles</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 </a:t>
            </a:r>
            <a:r>
              <a:rPr lang="en-US" b="true" sz="1850">
                <a:solidFill>
                  <a:srgbClr val="000000"/>
                </a:solidFill>
                <a:latin typeface="Public Sans Bold"/>
                <a:ea typeface="Public Sans Bold"/>
                <a:cs typeface="Public Sans Bold"/>
                <a:sym typeface="Public Sans Bold"/>
              </a:rPr>
              <a:t>RegWeekday </a:t>
            </a:r>
            <a:r>
              <a:rPr lang="en-US" sz="1850">
                <a:solidFill>
                  <a:srgbClr val="000000"/>
                </a:solidFill>
                <a:latin typeface="Public Sans"/>
                <a:ea typeface="Public Sans"/>
                <a:cs typeface="Public Sans"/>
                <a:sym typeface="Public Sans"/>
              </a:rPr>
              <a:t>: jour semaine → profil</a:t>
            </a:r>
          </a:p>
        </p:txBody>
      </p:sp>
      <p:sp>
        <p:nvSpPr>
          <p:cNvPr name="TextBox 14" id="14"/>
          <p:cNvSpPr txBox="true"/>
          <p:nvPr/>
        </p:nvSpPr>
        <p:spPr>
          <a:xfrm rot="0">
            <a:off x="1525538" y="5382869"/>
            <a:ext cx="4192624" cy="460776"/>
          </a:xfrm>
          <a:prstGeom prst="rect">
            <a:avLst/>
          </a:prstGeom>
        </p:spPr>
        <p:txBody>
          <a:bodyPr anchor="t" rtlCol="false" tIns="0" lIns="0" bIns="0" rIns="0">
            <a:spAutoFit/>
          </a:bodyPr>
          <a:lstStyle/>
          <a:p>
            <a:pPr algn="just" marL="0" indent="0" lvl="0">
              <a:lnSpc>
                <a:spcPts val="3734"/>
              </a:lnSpc>
            </a:pPr>
            <a:r>
              <a:rPr lang="en-US" b="true" sz="2667">
                <a:solidFill>
                  <a:srgbClr val="004CCF"/>
                </a:solidFill>
                <a:latin typeface="Public Sans Bold"/>
                <a:ea typeface="Public Sans Bold"/>
                <a:cs typeface="Public Sans Bold"/>
                <a:sym typeface="Public Sans Bold"/>
              </a:rPr>
              <a:t>Features Temporelles</a:t>
            </a:r>
          </a:p>
        </p:txBody>
      </p:sp>
      <p:grpSp>
        <p:nvGrpSpPr>
          <p:cNvPr name="Group 15" id="15"/>
          <p:cNvGrpSpPr/>
          <p:nvPr/>
        </p:nvGrpSpPr>
        <p:grpSpPr>
          <a:xfrm rot="0">
            <a:off x="9822428" y="5123295"/>
            <a:ext cx="7436872" cy="4400510"/>
            <a:chOff x="0" y="0"/>
            <a:chExt cx="3056215" cy="1808408"/>
          </a:xfrm>
        </p:grpSpPr>
        <p:sp>
          <p:nvSpPr>
            <p:cNvPr name="Freeform 16" id="16"/>
            <p:cNvSpPr/>
            <p:nvPr/>
          </p:nvSpPr>
          <p:spPr>
            <a:xfrm flipH="false" flipV="false" rot="0">
              <a:off x="0" y="0"/>
              <a:ext cx="3056215" cy="1808408"/>
            </a:xfrm>
            <a:custGeom>
              <a:avLst/>
              <a:gdLst/>
              <a:ahLst/>
              <a:cxnLst/>
              <a:rect r="r" b="b" t="t" l="l"/>
              <a:pathLst>
                <a:path h="1808408" w="3056215">
                  <a:moveTo>
                    <a:pt x="41641" y="0"/>
                  </a:moveTo>
                  <a:lnTo>
                    <a:pt x="3014574" y="0"/>
                  </a:lnTo>
                  <a:cubicBezTo>
                    <a:pt x="3037571" y="0"/>
                    <a:pt x="3056215" y="18643"/>
                    <a:pt x="3056215" y="41641"/>
                  </a:cubicBezTo>
                  <a:lnTo>
                    <a:pt x="3056215" y="1766768"/>
                  </a:lnTo>
                  <a:cubicBezTo>
                    <a:pt x="3056215" y="1789765"/>
                    <a:pt x="3037571" y="1808408"/>
                    <a:pt x="3014574" y="1808408"/>
                  </a:cubicBezTo>
                  <a:lnTo>
                    <a:pt x="41641" y="1808408"/>
                  </a:lnTo>
                  <a:cubicBezTo>
                    <a:pt x="18643" y="1808408"/>
                    <a:pt x="0" y="1789765"/>
                    <a:pt x="0" y="1766768"/>
                  </a:cubicBezTo>
                  <a:lnTo>
                    <a:pt x="0" y="41641"/>
                  </a:lnTo>
                  <a:cubicBezTo>
                    <a:pt x="0" y="18643"/>
                    <a:pt x="18643" y="0"/>
                    <a:pt x="41641" y="0"/>
                  </a:cubicBezTo>
                  <a:close/>
                </a:path>
              </a:pathLst>
            </a:custGeom>
            <a:solidFill>
              <a:srgbClr val="F2F2F2"/>
            </a:solidFill>
          </p:spPr>
        </p:sp>
        <p:sp>
          <p:nvSpPr>
            <p:cNvPr name="TextBox 17" id="17"/>
            <p:cNvSpPr txBox="true"/>
            <p:nvPr/>
          </p:nvSpPr>
          <p:spPr>
            <a:xfrm>
              <a:off x="0" y="-47625"/>
              <a:ext cx="3056215" cy="1856033"/>
            </a:xfrm>
            <a:prstGeom prst="rect">
              <a:avLst/>
            </a:prstGeom>
          </p:spPr>
          <p:txBody>
            <a:bodyPr anchor="ctr" rtlCol="false" tIns="33429" lIns="33429" bIns="33429" rIns="33429"/>
            <a:lstStyle/>
            <a:p>
              <a:pPr algn="ctr" marL="0" indent="0" lvl="0">
                <a:lnSpc>
                  <a:spcPts val="3257"/>
                </a:lnSpc>
              </a:pPr>
            </a:p>
          </p:txBody>
        </p:sp>
      </p:grpSp>
      <p:sp>
        <p:nvSpPr>
          <p:cNvPr name="TextBox 18" id="18"/>
          <p:cNvSpPr txBox="true"/>
          <p:nvPr/>
        </p:nvSpPr>
        <p:spPr>
          <a:xfrm rot="0">
            <a:off x="10086375" y="5956505"/>
            <a:ext cx="6575689" cy="2905760"/>
          </a:xfrm>
          <a:prstGeom prst="rect">
            <a:avLst/>
          </a:prstGeom>
        </p:spPr>
        <p:txBody>
          <a:bodyPr anchor="t" rtlCol="false" tIns="0" lIns="0" bIns="0" rIns="0">
            <a:spAutoFit/>
          </a:bodyPr>
          <a:lstStyle/>
          <a:p>
            <a:pPr algn="just" marL="0" indent="0" lvl="0">
              <a:lnSpc>
                <a:spcPts val="2590"/>
              </a:lnSpc>
              <a:spcBef>
                <a:spcPct val="0"/>
              </a:spcBef>
            </a:pPr>
            <a:r>
              <a:rPr lang="en-US" sz="1850">
                <a:solidFill>
                  <a:srgbClr val="000000"/>
                </a:solidFill>
                <a:latin typeface="Public Sans"/>
                <a:ea typeface="Public Sans"/>
                <a:cs typeface="Public Sans"/>
                <a:sym typeface="Public Sans"/>
              </a:rPr>
              <a:t> Tr</a:t>
            </a:r>
            <a:r>
              <a:rPr lang="en-US" sz="1850">
                <a:solidFill>
                  <a:srgbClr val="000000"/>
                </a:solidFill>
                <a:latin typeface="Public Sans"/>
                <a:ea typeface="Public Sans"/>
                <a:cs typeface="Public Sans"/>
                <a:sym typeface="Public Sans"/>
              </a:rPr>
              <a:t>ansformer une adresse IP en une information si</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est-ce une IP privée ou non ?</a:t>
            </a:r>
          </a:p>
          <a:p>
            <a:pPr algn="just" marL="399416" indent="-199708" lvl="1">
              <a:lnSpc>
                <a:spcPts val="2590"/>
              </a:lnSpc>
              <a:spcBef>
                <a:spcPct val="0"/>
              </a:spcBef>
              <a:buFont typeface="Arial"/>
              <a:buChar char="•"/>
            </a:pPr>
            <a:r>
              <a:rPr lang="en-US" sz="1850">
                <a:solidFill>
                  <a:srgbClr val="000000"/>
                </a:solidFill>
                <a:latin typeface="Public Sans"/>
                <a:ea typeface="Public Sans"/>
                <a:cs typeface="Public Sans"/>
                <a:sym typeface="Public Sans"/>
              </a:rPr>
              <a:t>1 → IP privée</a:t>
            </a:r>
          </a:p>
          <a:p>
            <a:pPr algn="just" marL="399416" indent="-199708" lvl="1">
              <a:lnSpc>
                <a:spcPts val="2590"/>
              </a:lnSpc>
              <a:spcBef>
                <a:spcPct val="0"/>
              </a:spcBef>
              <a:buFont typeface="Arial"/>
              <a:buChar char="•"/>
            </a:pPr>
            <a:r>
              <a:rPr lang="en-US" sz="1850">
                <a:solidFill>
                  <a:srgbClr val="000000"/>
                </a:solidFill>
                <a:latin typeface="Public Sans"/>
                <a:ea typeface="Public Sans"/>
                <a:cs typeface="Public Sans"/>
                <a:sym typeface="Public Sans"/>
              </a:rPr>
              <a:t>0 → IP publique</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return 1 if </a:t>
            </a:r>
            <a:r>
              <a:rPr lang="en-US" b="true" sz="1850">
                <a:solidFill>
                  <a:srgbClr val="000000"/>
                </a:solidFill>
                <a:latin typeface="Public Sans Bold"/>
                <a:ea typeface="Public Sans Bold"/>
                <a:cs typeface="Public Sans Bold"/>
                <a:sym typeface="Public Sans Bold"/>
              </a:rPr>
              <a:t>str</a:t>
            </a:r>
            <a:r>
              <a:rPr lang="en-US" sz="1850">
                <a:solidFill>
                  <a:srgbClr val="000000"/>
                </a:solidFill>
                <a:latin typeface="Public Sans"/>
                <a:ea typeface="Public Sans"/>
                <a:cs typeface="Public Sans"/>
                <a:sym typeface="Public Sans"/>
              </a:rPr>
              <a:t>(ip).</a:t>
            </a:r>
            <a:r>
              <a:rPr lang="en-US" b="true" sz="1850">
                <a:solidFill>
                  <a:srgbClr val="000000"/>
                </a:solidFill>
                <a:latin typeface="Public Sans Bold"/>
                <a:ea typeface="Public Sans Bold"/>
                <a:cs typeface="Public Sans Bold"/>
                <a:sym typeface="Public Sans Bold"/>
              </a:rPr>
              <a:t>startswith</a:t>
            </a:r>
            <a:r>
              <a:rPr lang="en-US" sz="1850">
                <a:solidFill>
                  <a:srgbClr val="000000"/>
                </a:solidFill>
                <a:latin typeface="Public Sans"/>
                <a:ea typeface="Public Sans"/>
                <a:cs typeface="Public Sans"/>
                <a:sym typeface="Public Sans"/>
              </a:rPr>
              <a:t>(('192.168.', '10.', '172.')) else 0</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On crée une nouvelle colonne :</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df['</a:t>
            </a:r>
            <a:r>
              <a:rPr lang="en-US" b="true" sz="1850">
                <a:solidFill>
                  <a:srgbClr val="000000"/>
                </a:solidFill>
                <a:latin typeface="Public Sans Bold"/>
                <a:ea typeface="Public Sans Bold"/>
                <a:cs typeface="Public Sans Bold"/>
                <a:sym typeface="Public Sans Bold"/>
              </a:rPr>
              <a:t>Is_Private_IP</a:t>
            </a:r>
            <a:r>
              <a:rPr lang="en-US" sz="1850">
                <a:solidFill>
                  <a:srgbClr val="000000"/>
                </a:solidFill>
                <a:latin typeface="Public Sans"/>
                <a:ea typeface="Public Sans"/>
                <a:cs typeface="Public Sans"/>
                <a:sym typeface="Public Sans"/>
              </a:rPr>
              <a:t>']= df['LastLoginIP'].</a:t>
            </a:r>
            <a:r>
              <a:rPr lang="en-US" b="true" sz="1850">
                <a:solidFill>
                  <a:srgbClr val="000000"/>
                </a:solidFill>
                <a:latin typeface="Public Sans Bold"/>
                <a:ea typeface="Public Sans Bold"/>
                <a:cs typeface="Public Sans Bold"/>
                <a:sym typeface="Public Sans Bold"/>
              </a:rPr>
              <a:t>apply</a:t>
            </a:r>
            <a:r>
              <a:rPr lang="en-US" sz="1850">
                <a:solidFill>
                  <a:srgbClr val="000000"/>
                </a:solidFill>
                <a:latin typeface="Public Sans"/>
                <a:ea typeface="Public Sans"/>
                <a:cs typeface="Public Sans"/>
                <a:sym typeface="Public Sans"/>
              </a:rPr>
              <a:t>(is_private_ip)</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Supprimer l’ancienne colonne</a:t>
            </a:r>
          </a:p>
          <a:p>
            <a:pPr algn="just" marL="0" indent="0" lvl="0">
              <a:lnSpc>
                <a:spcPts val="2590"/>
              </a:lnSpc>
              <a:spcBef>
                <a:spcPct val="0"/>
              </a:spcBef>
            </a:pPr>
            <a:r>
              <a:rPr lang="en-US" sz="1850">
                <a:solidFill>
                  <a:srgbClr val="000000"/>
                </a:solidFill>
                <a:latin typeface="Public Sans"/>
                <a:ea typeface="Public Sans"/>
                <a:cs typeface="Public Sans"/>
                <a:sym typeface="Public Sans"/>
              </a:rPr>
              <a:t>df = df.</a:t>
            </a:r>
            <a:r>
              <a:rPr lang="en-US" b="true" sz="1850">
                <a:solidFill>
                  <a:srgbClr val="000000"/>
                </a:solidFill>
                <a:latin typeface="Public Sans Bold"/>
                <a:ea typeface="Public Sans Bold"/>
                <a:cs typeface="Public Sans Bold"/>
                <a:sym typeface="Public Sans Bold"/>
              </a:rPr>
              <a:t>drop</a:t>
            </a:r>
            <a:r>
              <a:rPr lang="en-US" sz="1850">
                <a:solidFill>
                  <a:srgbClr val="000000"/>
                </a:solidFill>
                <a:latin typeface="Public Sans"/>
                <a:ea typeface="Public Sans"/>
                <a:cs typeface="Public Sans"/>
                <a:sym typeface="Public Sans"/>
              </a:rPr>
              <a:t>(columns=['LastLoginIP'])</a:t>
            </a:r>
          </a:p>
        </p:txBody>
      </p:sp>
      <p:sp>
        <p:nvSpPr>
          <p:cNvPr name="TextBox 19" id="19"/>
          <p:cNvSpPr txBox="true"/>
          <p:nvPr/>
        </p:nvSpPr>
        <p:spPr>
          <a:xfrm rot="0">
            <a:off x="7705618" y="5382869"/>
            <a:ext cx="4530446" cy="460776"/>
          </a:xfrm>
          <a:prstGeom prst="rect">
            <a:avLst/>
          </a:prstGeom>
        </p:spPr>
        <p:txBody>
          <a:bodyPr anchor="t" rtlCol="false" tIns="0" lIns="0" bIns="0" rIns="0">
            <a:spAutoFit/>
          </a:bodyPr>
          <a:lstStyle/>
          <a:p>
            <a:pPr algn="r" marL="0" indent="0" lvl="0">
              <a:lnSpc>
                <a:spcPts val="3734"/>
              </a:lnSpc>
            </a:pPr>
            <a:r>
              <a:rPr lang="en-US" b="true" sz="2667">
                <a:solidFill>
                  <a:srgbClr val="004CCF"/>
                </a:solidFill>
                <a:latin typeface="Public Sans Bold"/>
                <a:ea typeface="Public Sans Bold"/>
                <a:cs typeface="Public Sans Bold"/>
                <a:sym typeface="Public Sans Bold"/>
              </a:rPr>
              <a:t>Extraction IP</a:t>
            </a:r>
          </a:p>
        </p:txBody>
      </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17</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168421" y="5798079"/>
            <a:ext cx="5345691" cy="219067"/>
            <a:chOff x="0" y="0"/>
            <a:chExt cx="1287185" cy="52749"/>
          </a:xfrm>
        </p:grpSpPr>
        <p:sp>
          <p:nvSpPr>
            <p:cNvPr name="Freeform 3" id="3"/>
            <p:cNvSpPr/>
            <p:nvPr/>
          </p:nvSpPr>
          <p:spPr>
            <a:xfrm flipH="false" flipV="false" rot="0">
              <a:off x="0" y="0"/>
              <a:ext cx="1287185" cy="52749"/>
            </a:xfrm>
            <a:custGeom>
              <a:avLst/>
              <a:gdLst/>
              <a:ahLst/>
              <a:cxnLst/>
              <a:rect r="r" b="b" t="t" l="l"/>
              <a:pathLst>
                <a:path h="52749" w="1287185">
                  <a:moveTo>
                    <a:pt x="26374" y="0"/>
                  </a:moveTo>
                  <a:lnTo>
                    <a:pt x="1260811" y="0"/>
                  </a:lnTo>
                  <a:cubicBezTo>
                    <a:pt x="1275377" y="0"/>
                    <a:pt x="1287185" y="11808"/>
                    <a:pt x="1287185" y="26374"/>
                  </a:cubicBezTo>
                  <a:lnTo>
                    <a:pt x="1287185" y="26374"/>
                  </a:lnTo>
                  <a:cubicBezTo>
                    <a:pt x="1287185" y="33369"/>
                    <a:pt x="1284406" y="40078"/>
                    <a:pt x="1279460" y="45024"/>
                  </a:cubicBezTo>
                  <a:cubicBezTo>
                    <a:pt x="1274514" y="49970"/>
                    <a:pt x="1267806" y="52749"/>
                    <a:pt x="1260811" y="52749"/>
                  </a:cubicBezTo>
                  <a:lnTo>
                    <a:pt x="26374" y="52749"/>
                  </a:lnTo>
                  <a:cubicBezTo>
                    <a:pt x="11808" y="52749"/>
                    <a:pt x="0" y="40941"/>
                    <a:pt x="0" y="26374"/>
                  </a:cubicBezTo>
                  <a:lnTo>
                    <a:pt x="0" y="26374"/>
                  </a:lnTo>
                  <a:cubicBezTo>
                    <a:pt x="0" y="11808"/>
                    <a:pt x="11808" y="0"/>
                    <a:pt x="26374" y="0"/>
                  </a:cubicBezTo>
                  <a:close/>
                </a:path>
              </a:pathLst>
            </a:custGeom>
            <a:solidFill>
              <a:srgbClr val="0E62F2"/>
            </a:solidFill>
          </p:spPr>
        </p:sp>
        <p:sp>
          <p:nvSpPr>
            <p:cNvPr name="TextBox 4" id="4"/>
            <p:cNvSpPr txBox="true"/>
            <p:nvPr/>
          </p:nvSpPr>
          <p:spPr>
            <a:xfrm>
              <a:off x="0" y="-47625"/>
              <a:ext cx="1287185" cy="100374"/>
            </a:xfrm>
            <a:prstGeom prst="rect">
              <a:avLst/>
            </a:prstGeom>
          </p:spPr>
          <p:txBody>
            <a:bodyPr anchor="ctr" rtlCol="false" tIns="50800" lIns="50800" bIns="50800" rIns="50800"/>
            <a:lstStyle/>
            <a:p>
              <a:pPr algn="ctr" marL="0" indent="0" lvl="0">
                <a:lnSpc>
                  <a:spcPts val="3258"/>
                </a:lnSpc>
              </a:pPr>
            </a:p>
          </p:txBody>
        </p:sp>
      </p:grpSp>
      <p:grpSp>
        <p:nvGrpSpPr>
          <p:cNvPr name="Group 5" id="5"/>
          <p:cNvGrpSpPr/>
          <p:nvPr/>
        </p:nvGrpSpPr>
        <p:grpSpPr>
          <a:xfrm rot="0">
            <a:off x="6838981" y="7596822"/>
            <a:ext cx="5275885" cy="216206"/>
            <a:chOff x="0" y="0"/>
            <a:chExt cx="1287185" cy="52749"/>
          </a:xfrm>
        </p:grpSpPr>
        <p:sp>
          <p:nvSpPr>
            <p:cNvPr name="Freeform 6" id="6"/>
            <p:cNvSpPr/>
            <p:nvPr/>
          </p:nvSpPr>
          <p:spPr>
            <a:xfrm flipH="false" flipV="false" rot="0">
              <a:off x="0" y="0"/>
              <a:ext cx="1287185" cy="52749"/>
            </a:xfrm>
            <a:custGeom>
              <a:avLst/>
              <a:gdLst/>
              <a:ahLst/>
              <a:cxnLst/>
              <a:rect r="r" b="b" t="t" l="l"/>
              <a:pathLst>
                <a:path h="52749" w="1287185">
                  <a:moveTo>
                    <a:pt x="26374" y="0"/>
                  </a:moveTo>
                  <a:lnTo>
                    <a:pt x="1260811" y="0"/>
                  </a:lnTo>
                  <a:cubicBezTo>
                    <a:pt x="1275377" y="0"/>
                    <a:pt x="1287185" y="11808"/>
                    <a:pt x="1287185" y="26374"/>
                  </a:cubicBezTo>
                  <a:lnTo>
                    <a:pt x="1287185" y="26374"/>
                  </a:lnTo>
                  <a:cubicBezTo>
                    <a:pt x="1287185" y="33369"/>
                    <a:pt x="1284406" y="40078"/>
                    <a:pt x="1279460" y="45024"/>
                  </a:cubicBezTo>
                  <a:cubicBezTo>
                    <a:pt x="1274514" y="49970"/>
                    <a:pt x="1267806" y="52749"/>
                    <a:pt x="1260811" y="52749"/>
                  </a:cubicBezTo>
                  <a:lnTo>
                    <a:pt x="26374" y="52749"/>
                  </a:lnTo>
                  <a:cubicBezTo>
                    <a:pt x="11808" y="52749"/>
                    <a:pt x="0" y="40941"/>
                    <a:pt x="0" y="26374"/>
                  </a:cubicBezTo>
                  <a:lnTo>
                    <a:pt x="0" y="26374"/>
                  </a:lnTo>
                  <a:cubicBezTo>
                    <a:pt x="0" y="11808"/>
                    <a:pt x="11808" y="0"/>
                    <a:pt x="26374" y="0"/>
                  </a:cubicBezTo>
                  <a:close/>
                </a:path>
              </a:pathLst>
            </a:custGeom>
            <a:solidFill>
              <a:srgbClr val="0E62F2"/>
            </a:solidFill>
          </p:spPr>
        </p:sp>
        <p:sp>
          <p:nvSpPr>
            <p:cNvPr name="TextBox 7" id="7"/>
            <p:cNvSpPr txBox="true"/>
            <p:nvPr/>
          </p:nvSpPr>
          <p:spPr>
            <a:xfrm>
              <a:off x="0" y="-47625"/>
              <a:ext cx="1287185" cy="100374"/>
            </a:xfrm>
            <a:prstGeom prst="rect">
              <a:avLst/>
            </a:prstGeom>
          </p:spPr>
          <p:txBody>
            <a:bodyPr anchor="ctr" rtlCol="false" tIns="50800" lIns="50800" bIns="50800" rIns="50800"/>
            <a:lstStyle/>
            <a:p>
              <a:pPr algn="ctr" marL="0" indent="0" lvl="0">
                <a:lnSpc>
                  <a:spcPts val="3258"/>
                </a:lnSpc>
              </a:pPr>
            </a:p>
          </p:txBody>
        </p:sp>
      </p:grpSp>
      <p:sp>
        <p:nvSpPr>
          <p:cNvPr name="TextBox 8" id="8"/>
          <p:cNvSpPr txBox="true"/>
          <p:nvPr/>
        </p:nvSpPr>
        <p:spPr>
          <a:xfrm rot="0">
            <a:off x="1168421" y="4633318"/>
            <a:ext cx="5345691" cy="1043333"/>
          </a:xfrm>
          <a:prstGeom prst="rect">
            <a:avLst/>
          </a:prstGeom>
        </p:spPr>
        <p:txBody>
          <a:bodyPr anchor="t" rtlCol="false" tIns="0" lIns="0" bIns="0" rIns="0">
            <a:spAutoFit/>
          </a:bodyPr>
          <a:lstStyle/>
          <a:p>
            <a:pPr algn="just" marL="0" indent="0" lvl="0">
              <a:lnSpc>
                <a:spcPts val="2746"/>
              </a:lnSpc>
              <a:spcBef>
                <a:spcPct val="0"/>
              </a:spcBef>
            </a:pPr>
            <a:r>
              <a:rPr lang="en-US" sz="1961">
                <a:solidFill>
                  <a:srgbClr val="000000"/>
                </a:solidFill>
                <a:latin typeface="Public Sans"/>
                <a:ea typeface="Public Sans"/>
                <a:cs typeface="Public Sans"/>
                <a:sym typeface="Public Sans"/>
              </a:rPr>
              <a:t>Formule: MonetaryTotal / (Recency + 1)</a:t>
            </a:r>
          </a:p>
          <a:p>
            <a:pPr algn="just" marL="0" indent="0" lvl="0">
              <a:lnSpc>
                <a:spcPts val="2746"/>
              </a:lnSpc>
              <a:spcBef>
                <a:spcPct val="0"/>
              </a:spcBef>
            </a:pPr>
            <a:r>
              <a:rPr lang="en-US" sz="1961">
                <a:solidFill>
                  <a:srgbClr val="000000"/>
                </a:solidFill>
                <a:latin typeface="Public Sans"/>
                <a:ea typeface="Public Sans"/>
                <a:cs typeface="Public Sans"/>
                <a:sym typeface="Public Sans"/>
              </a:rPr>
              <a:t>Intensité des dépenses récentes — indicateur de fidélité active du client.</a:t>
            </a:r>
          </a:p>
        </p:txBody>
      </p:sp>
      <p:sp>
        <p:nvSpPr>
          <p:cNvPr name="TextBox 9" id="9"/>
          <p:cNvSpPr txBox="true"/>
          <p:nvPr/>
        </p:nvSpPr>
        <p:spPr>
          <a:xfrm rot="0">
            <a:off x="1168421" y="4134385"/>
            <a:ext cx="5288483" cy="487638"/>
          </a:xfrm>
          <a:prstGeom prst="rect">
            <a:avLst/>
          </a:prstGeom>
        </p:spPr>
        <p:txBody>
          <a:bodyPr anchor="t" rtlCol="false" tIns="0" lIns="0" bIns="0" rIns="0">
            <a:spAutoFit/>
          </a:bodyPr>
          <a:lstStyle/>
          <a:p>
            <a:pPr algn="just" marL="0" indent="0" lvl="0">
              <a:lnSpc>
                <a:spcPts val="3920"/>
              </a:lnSpc>
            </a:pPr>
            <a:r>
              <a:rPr lang="en-US" b="true" sz="2800">
                <a:solidFill>
                  <a:srgbClr val="004CCF"/>
                </a:solidFill>
                <a:latin typeface="Public Sans Bold"/>
                <a:ea typeface="Public Sans Bold"/>
                <a:cs typeface="Public Sans Bold"/>
                <a:sym typeface="Public Sans Bold"/>
              </a:rPr>
              <a:t>MonetaryPerDay</a:t>
            </a:r>
          </a:p>
        </p:txBody>
      </p:sp>
      <p:sp>
        <p:nvSpPr>
          <p:cNvPr name="TextBox 10" id="10"/>
          <p:cNvSpPr txBox="true"/>
          <p:nvPr/>
        </p:nvSpPr>
        <p:spPr>
          <a:xfrm rot="0">
            <a:off x="6838981" y="6443138"/>
            <a:ext cx="5134731" cy="1030330"/>
          </a:xfrm>
          <a:prstGeom prst="rect">
            <a:avLst/>
          </a:prstGeom>
        </p:spPr>
        <p:txBody>
          <a:bodyPr anchor="t" rtlCol="false" tIns="0" lIns="0" bIns="0" rIns="0">
            <a:spAutoFit/>
          </a:bodyPr>
          <a:lstStyle/>
          <a:p>
            <a:pPr algn="just" marL="0" indent="0" lvl="0">
              <a:lnSpc>
                <a:spcPts val="2710"/>
              </a:lnSpc>
              <a:spcBef>
                <a:spcPct val="0"/>
              </a:spcBef>
            </a:pPr>
            <a:r>
              <a:rPr lang="en-US" sz="1935">
                <a:solidFill>
                  <a:srgbClr val="000000"/>
                </a:solidFill>
                <a:latin typeface="Public Sans"/>
                <a:ea typeface="Public Sans"/>
                <a:cs typeface="Public Sans"/>
                <a:sym typeface="Public Sans"/>
              </a:rPr>
              <a:t>Formule: MonetaryTotal / Frequency</a:t>
            </a:r>
          </a:p>
          <a:p>
            <a:pPr algn="just" marL="0" indent="0" lvl="0">
              <a:lnSpc>
                <a:spcPts val="2710"/>
              </a:lnSpc>
              <a:spcBef>
                <a:spcPct val="0"/>
              </a:spcBef>
            </a:pPr>
            <a:r>
              <a:rPr lang="en-US" sz="1935">
                <a:solidFill>
                  <a:srgbClr val="000000"/>
                </a:solidFill>
                <a:latin typeface="Public Sans"/>
                <a:ea typeface="Public Sans"/>
                <a:cs typeface="Public Sans"/>
                <a:sym typeface="Public Sans"/>
              </a:rPr>
              <a:t>Valeur moyenne par achat — distingue les petits acheteurs des gros acheteurs.</a:t>
            </a:r>
          </a:p>
        </p:txBody>
      </p:sp>
      <p:sp>
        <p:nvSpPr>
          <p:cNvPr name="TextBox 11" id="11"/>
          <p:cNvSpPr txBox="true"/>
          <p:nvPr/>
        </p:nvSpPr>
        <p:spPr>
          <a:xfrm rot="0">
            <a:off x="6838981" y="5959996"/>
            <a:ext cx="5191193" cy="472616"/>
          </a:xfrm>
          <a:prstGeom prst="rect">
            <a:avLst/>
          </a:prstGeom>
        </p:spPr>
        <p:txBody>
          <a:bodyPr anchor="t" rtlCol="false" tIns="0" lIns="0" bIns="0" rIns="0">
            <a:spAutoFit/>
          </a:bodyPr>
          <a:lstStyle/>
          <a:p>
            <a:pPr algn="just" marL="0" indent="0" lvl="0">
              <a:lnSpc>
                <a:spcPts val="3868"/>
              </a:lnSpc>
            </a:pPr>
            <a:r>
              <a:rPr lang="en-US" b="true" sz="2763">
                <a:solidFill>
                  <a:srgbClr val="004CCF"/>
                </a:solidFill>
                <a:latin typeface="Public Sans Bold"/>
                <a:ea typeface="Public Sans Bold"/>
                <a:cs typeface="Public Sans Bold"/>
                <a:sym typeface="Public Sans Bold"/>
              </a:rPr>
              <a:t>AvgBasketValue</a:t>
            </a:r>
          </a:p>
        </p:txBody>
      </p:sp>
      <p:sp>
        <p:nvSpPr>
          <p:cNvPr name="TextBox 12" id="12"/>
          <p:cNvSpPr txBox="true"/>
          <p:nvPr/>
        </p:nvSpPr>
        <p:spPr>
          <a:xfrm rot="0">
            <a:off x="12509542" y="8332747"/>
            <a:ext cx="5409929" cy="1082999"/>
          </a:xfrm>
          <a:prstGeom prst="rect">
            <a:avLst/>
          </a:prstGeom>
        </p:spPr>
        <p:txBody>
          <a:bodyPr anchor="t" rtlCol="false" tIns="0" lIns="0" bIns="0" rIns="0">
            <a:spAutoFit/>
          </a:bodyPr>
          <a:lstStyle/>
          <a:p>
            <a:pPr algn="just" marL="0" indent="0" lvl="0">
              <a:lnSpc>
                <a:spcPts val="2855"/>
              </a:lnSpc>
              <a:spcBef>
                <a:spcPct val="0"/>
              </a:spcBef>
            </a:pPr>
            <a:r>
              <a:rPr lang="en-US" sz="2039">
                <a:solidFill>
                  <a:srgbClr val="000000"/>
                </a:solidFill>
                <a:latin typeface="Public Sans"/>
                <a:ea typeface="Public Sans"/>
                <a:cs typeface="Public Sans"/>
                <a:sym typeface="Public Sans"/>
              </a:rPr>
              <a:t>Formule: Recency / CustomerTenureDays</a:t>
            </a:r>
          </a:p>
          <a:p>
            <a:pPr algn="just" marL="0" indent="0" lvl="0">
              <a:lnSpc>
                <a:spcPts val="2855"/>
              </a:lnSpc>
              <a:spcBef>
                <a:spcPct val="0"/>
              </a:spcBef>
            </a:pPr>
            <a:r>
              <a:rPr lang="en-US" sz="2039">
                <a:solidFill>
                  <a:srgbClr val="000000"/>
                </a:solidFill>
                <a:latin typeface="Public Sans"/>
                <a:ea typeface="Public Sans"/>
                <a:cs typeface="Public Sans"/>
                <a:sym typeface="Public Sans"/>
              </a:rPr>
              <a:t>Indicateur de désengagement client — signal de risque de churn élevé.</a:t>
            </a:r>
          </a:p>
        </p:txBody>
      </p:sp>
      <p:sp>
        <p:nvSpPr>
          <p:cNvPr name="TextBox 13" id="13"/>
          <p:cNvSpPr txBox="true"/>
          <p:nvPr/>
        </p:nvSpPr>
        <p:spPr>
          <a:xfrm rot="0">
            <a:off x="12509542" y="7814696"/>
            <a:ext cx="5528905" cy="504408"/>
          </a:xfrm>
          <a:prstGeom prst="rect">
            <a:avLst/>
          </a:prstGeom>
        </p:spPr>
        <p:txBody>
          <a:bodyPr anchor="t" rtlCol="false" tIns="0" lIns="0" bIns="0" rIns="0">
            <a:spAutoFit/>
          </a:bodyPr>
          <a:lstStyle/>
          <a:p>
            <a:pPr algn="just" marL="0" indent="0" lvl="0">
              <a:lnSpc>
                <a:spcPts val="4076"/>
              </a:lnSpc>
            </a:pPr>
            <a:r>
              <a:rPr lang="en-US" b="true" sz="2911">
                <a:solidFill>
                  <a:srgbClr val="004CCF"/>
                </a:solidFill>
                <a:latin typeface="Public Sans Bold"/>
                <a:ea typeface="Public Sans Bold"/>
                <a:cs typeface="Public Sans Bold"/>
                <a:sym typeface="Public Sans Bold"/>
              </a:rPr>
              <a:t>TenureRatio</a:t>
            </a:r>
          </a:p>
        </p:txBody>
      </p:sp>
      <p:sp>
        <p:nvSpPr>
          <p:cNvPr name="TextBox 14" id="14"/>
          <p:cNvSpPr txBox="true"/>
          <p:nvPr/>
        </p:nvSpPr>
        <p:spPr>
          <a:xfrm rot="0">
            <a:off x="829149" y="956156"/>
            <a:ext cx="13858483" cy="500748"/>
          </a:xfrm>
          <a:prstGeom prst="rect">
            <a:avLst/>
          </a:prstGeom>
        </p:spPr>
        <p:txBody>
          <a:bodyPr anchor="t" rtlCol="false" tIns="0" lIns="0" bIns="0" rIns="0">
            <a:spAutoFit/>
          </a:bodyPr>
          <a:lstStyle/>
          <a:p>
            <a:pPr algn="r" marL="0" indent="0" lvl="0">
              <a:lnSpc>
                <a:spcPts val="3806"/>
              </a:lnSpc>
              <a:spcBef>
                <a:spcPct val="0"/>
              </a:spcBef>
            </a:pPr>
            <a:r>
              <a:rPr lang="en-US" b="true" sz="3590">
                <a:solidFill>
                  <a:srgbClr val="004CCF"/>
                </a:solidFill>
                <a:latin typeface="Aileron Ultra-Bold"/>
                <a:ea typeface="Aileron Ultra-Bold"/>
                <a:cs typeface="Aileron Ultra-Bold"/>
                <a:sym typeface="Aileron Ultra-Bold"/>
              </a:rPr>
              <a:t>Feature Engineering — Variables Comportementales )</a:t>
            </a:r>
          </a:p>
        </p:txBody>
      </p:sp>
      <p:sp>
        <p:nvSpPr>
          <p:cNvPr name="TextBox 15" id="15"/>
          <p:cNvSpPr txBox="true"/>
          <p:nvPr/>
        </p:nvSpPr>
        <p:spPr>
          <a:xfrm rot="0">
            <a:off x="10861861" y="2570330"/>
            <a:ext cx="6074958" cy="1999016"/>
          </a:xfrm>
          <a:prstGeom prst="rect">
            <a:avLst/>
          </a:prstGeom>
        </p:spPr>
        <p:txBody>
          <a:bodyPr anchor="t" rtlCol="false" tIns="0" lIns="0" bIns="0" rIns="0">
            <a:spAutoFit/>
          </a:bodyPr>
          <a:lstStyle/>
          <a:p>
            <a:pPr algn="just" marL="0" indent="0" lvl="0">
              <a:lnSpc>
                <a:spcPts val="3218"/>
              </a:lnSpc>
            </a:pPr>
            <a:r>
              <a:rPr lang="en-US" sz="2298">
                <a:solidFill>
                  <a:srgbClr val="000000"/>
                </a:solidFill>
                <a:latin typeface="Public Sans"/>
                <a:ea typeface="Public Sans"/>
                <a:cs typeface="Public Sans"/>
                <a:sym typeface="Public Sans"/>
              </a:rPr>
              <a:t>Construction de 3 features comportementales basées sur le modèle RFM (Récence, Fréquence, Montant) pour enrichir la compréhension du comportement client et améliorer la prédiction du churn.</a:t>
            </a:r>
          </a:p>
        </p:txBody>
      </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18</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01253" y="5298741"/>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01253" y="5688002"/>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01253" y="6345046"/>
            <a:ext cx="270958" cy="270958"/>
          </a:xfrm>
          <a:custGeom>
            <a:avLst/>
            <a:gdLst/>
            <a:ahLst/>
            <a:cxnLst/>
            <a:rect r="r" b="b" t="t" l="l"/>
            <a:pathLst>
              <a:path h="270958" w="270958">
                <a:moveTo>
                  <a:pt x="0" y="0"/>
                </a:moveTo>
                <a:lnTo>
                  <a:pt x="270958" y="0"/>
                </a:lnTo>
                <a:lnTo>
                  <a:pt x="270958" y="270959"/>
                </a:lnTo>
                <a:lnTo>
                  <a:pt x="0" y="2709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87417" y="895950"/>
            <a:ext cx="9066644" cy="1466206"/>
          </a:xfrm>
          <a:prstGeom prst="rect">
            <a:avLst/>
          </a:prstGeom>
        </p:spPr>
        <p:txBody>
          <a:bodyPr anchor="t" rtlCol="false" tIns="0" lIns="0" bIns="0" rIns="0">
            <a:spAutoFit/>
          </a:bodyPr>
          <a:lstStyle/>
          <a:p>
            <a:pPr algn="l" marL="0" indent="0" lvl="0">
              <a:lnSpc>
                <a:spcPts val="5700"/>
              </a:lnSpc>
              <a:spcBef>
                <a:spcPct val="0"/>
              </a:spcBef>
            </a:pPr>
            <a:r>
              <a:rPr lang="en-US" b="true" sz="5377">
                <a:solidFill>
                  <a:srgbClr val="004CCF"/>
                </a:solidFill>
                <a:latin typeface="Aileron Ultra-Bold"/>
                <a:ea typeface="Aileron Ultra-Bold"/>
                <a:cs typeface="Aileron Ultra-Bold"/>
                <a:sym typeface="Aileron Ultra-Bold"/>
              </a:rPr>
              <a:t>Suppression des Features Inutiles</a:t>
            </a:r>
          </a:p>
        </p:txBody>
      </p:sp>
      <p:sp>
        <p:nvSpPr>
          <p:cNvPr name="TextBox 6" id="6"/>
          <p:cNvSpPr txBox="true"/>
          <p:nvPr/>
        </p:nvSpPr>
        <p:spPr>
          <a:xfrm rot="0">
            <a:off x="687417" y="2835511"/>
            <a:ext cx="9307007" cy="1355336"/>
          </a:xfrm>
          <a:prstGeom prst="rect">
            <a:avLst/>
          </a:prstGeom>
        </p:spPr>
        <p:txBody>
          <a:bodyPr anchor="t" rtlCol="false" tIns="0" lIns="0" bIns="0" rIns="0">
            <a:spAutoFit/>
          </a:bodyPr>
          <a:lstStyle/>
          <a:p>
            <a:pPr algn="just" marL="0" indent="0" lvl="0">
              <a:lnSpc>
                <a:spcPts val="2739"/>
              </a:lnSpc>
            </a:pPr>
            <a:r>
              <a:rPr lang="en-US" sz="1957">
                <a:solidFill>
                  <a:srgbClr val="000000"/>
                </a:solidFill>
                <a:latin typeface="Public Sans"/>
                <a:ea typeface="Public Sans"/>
                <a:cs typeface="Public Sans"/>
                <a:sym typeface="Public Sans"/>
              </a:rPr>
              <a:t>La suppression des variables non pertinentes est essentielle pour éviter les biais et améliorer la généralisation du modèle. Certaines colonnes doivent être retirées car elles introduisent des fuites de données (data leakage) ou n'apportent aucune valeur prédictive.</a:t>
            </a:r>
          </a:p>
        </p:txBody>
      </p:sp>
      <p:sp>
        <p:nvSpPr>
          <p:cNvPr name="TextBox 7" id="7"/>
          <p:cNvSpPr txBox="true"/>
          <p:nvPr/>
        </p:nvSpPr>
        <p:spPr>
          <a:xfrm rot="0">
            <a:off x="1062029" y="5219912"/>
            <a:ext cx="9307007" cy="337270"/>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CustomerID : Identifiant unique sans pouvoir prédictif.</a:t>
            </a:r>
          </a:p>
        </p:txBody>
      </p:sp>
      <p:sp>
        <p:nvSpPr>
          <p:cNvPr name="TextBox 8" id="8"/>
          <p:cNvSpPr txBox="true"/>
          <p:nvPr/>
        </p:nvSpPr>
        <p:spPr>
          <a:xfrm rot="0">
            <a:off x="1062029" y="5609172"/>
            <a:ext cx="9307007" cy="676625"/>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NewsletterSubscribed : Variable à variance nulle (100% "Oui"), non informative.</a:t>
            </a:r>
          </a:p>
        </p:txBody>
      </p:sp>
      <p:sp>
        <p:nvSpPr>
          <p:cNvPr name="TextBox 9" id="9"/>
          <p:cNvSpPr txBox="true"/>
          <p:nvPr/>
        </p:nvSpPr>
        <p:spPr>
          <a:xfrm rot="0">
            <a:off x="1062029" y="6288078"/>
            <a:ext cx="9307007" cy="676625"/>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ChurnRiskCategory : Particulièrement critique car dérivée de la cible ( Contient déjà la réponse du problème)</a:t>
            </a:r>
          </a:p>
        </p:txBody>
      </p:sp>
      <p:sp>
        <p:nvSpPr>
          <p:cNvPr name="TextBox 10" id="10"/>
          <p:cNvSpPr txBox="true"/>
          <p:nvPr/>
        </p:nvSpPr>
        <p:spPr>
          <a:xfrm rot="0">
            <a:off x="687417" y="4648047"/>
            <a:ext cx="9307007" cy="493915"/>
          </a:xfrm>
          <a:prstGeom prst="rect">
            <a:avLst/>
          </a:prstGeom>
        </p:spPr>
        <p:txBody>
          <a:bodyPr anchor="t" rtlCol="false" tIns="0" lIns="0" bIns="0" rIns="0">
            <a:spAutoFit/>
          </a:bodyPr>
          <a:lstStyle/>
          <a:p>
            <a:pPr algn="just" marL="0" indent="0" lvl="0">
              <a:lnSpc>
                <a:spcPts val="3958"/>
              </a:lnSpc>
            </a:pPr>
            <a:r>
              <a:rPr lang="en-US" b="true" sz="2827">
                <a:solidFill>
                  <a:srgbClr val="004CCF"/>
                </a:solidFill>
                <a:latin typeface="Public Sans Bold"/>
                <a:ea typeface="Public Sans Bold"/>
                <a:cs typeface="Public Sans Bold"/>
                <a:sym typeface="Public Sans Bold"/>
              </a:rPr>
              <a:t>Colonnes supprimées :</a:t>
            </a:r>
          </a:p>
        </p:txBody>
      </p:sp>
      <p:grpSp>
        <p:nvGrpSpPr>
          <p:cNvPr name="Group 11" id="11"/>
          <p:cNvGrpSpPr/>
          <p:nvPr/>
        </p:nvGrpSpPr>
        <p:grpSpPr>
          <a:xfrm rot="0">
            <a:off x="12194484" y="0"/>
            <a:ext cx="6086066" cy="10287000"/>
            <a:chOff x="0" y="0"/>
            <a:chExt cx="1602914" cy="2709333"/>
          </a:xfrm>
        </p:grpSpPr>
        <p:sp>
          <p:nvSpPr>
            <p:cNvPr name="Freeform 12" id="12"/>
            <p:cNvSpPr/>
            <p:nvPr/>
          </p:nvSpPr>
          <p:spPr>
            <a:xfrm flipH="false" flipV="false" rot="0">
              <a:off x="0" y="0"/>
              <a:ext cx="1602914" cy="2709333"/>
            </a:xfrm>
            <a:custGeom>
              <a:avLst/>
              <a:gdLst/>
              <a:ahLst/>
              <a:cxnLst/>
              <a:rect r="r" b="b" t="t" l="l"/>
              <a:pathLst>
                <a:path h="2709333" w="1602914">
                  <a:moveTo>
                    <a:pt x="0" y="0"/>
                  </a:moveTo>
                  <a:lnTo>
                    <a:pt x="1602914" y="0"/>
                  </a:lnTo>
                  <a:lnTo>
                    <a:pt x="1602914" y="2709333"/>
                  </a:lnTo>
                  <a:lnTo>
                    <a:pt x="0" y="2709333"/>
                  </a:lnTo>
                  <a:close/>
                </a:path>
              </a:pathLst>
            </a:custGeom>
            <a:solidFill>
              <a:srgbClr val="0E62F2"/>
            </a:solidFill>
          </p:spPr>
        </p:sp>
        <p:sp>
          <p:nvSpPr>
            <p:cNvPr name="TextBox 13" id="13"/>
            <p:cNvSpPr txBox="true"/>
            <p:nvPr/>
          </p:nvSpPr>
          <p:spPr>
            <a:xfrm>
              <a:off x="0" y="-47625"/>
              <a:ext cx="1602914" cy="2756958"/>
            </a:xfrm>
            <a:prstGeom prst="rect">
              <a:avLst/>
            </a:prstGeom>
          </p:spPr>
          <p:txBody>
            <a:bodyPr anchor="ctr" rtlCol="false" tIns="50800" lIns="50800" bIns="50800" rIns="50800"/>
            <a:lstStyle/>
            <a:p>
              <a:pPr algn="l" marL="0" indent="0" lvl="0">
                <a:lnSpc>
                  <a:spcPts val="3258"/>
                </a:lnSpc>
              </a:pPr>
            </a:p>
          </p:txBody>
        </p:sp>
      </p:grpSp>
      <p:sp>
        <p:nvSpPr>
          <p:cNvPr name="Freeform 14" id="14"/>
          <p:cNvSpPr/>
          <p:nvPr/>
        </p:nvSpPr>
        <p:spPr>
          <a:xfrm flipH="false" flipV="false" rot="0">
            <a:off x="720303" y="7078737"/>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062029" y="7040903"/>
            <a:ext cx="9307007" cy="337270"/>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ChurnRisk: calculé à partir de règles liées au churn</a:t>
            </a:r>
          </a:p>
        </p:txBody>
      </p:sp>
      <p:sp>
        <p:nvSpPr>
          <p:cNvPr name="Freeform 16" id="16"/>
          <p:cNvSpPr/>
          <p:nvPr/>
        </p:nvSpPr>
        <p:spPr>
          <a:xfrm flipH="false" flipV="false" rot="0">
            <a:off x="720303" y="7539917"/>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1081079" y="7482948"/>
            <a:ext cx="9307007" cy="676625"/>
          </a:xfrm>
          <a:prstGeom prst="rect">
            <a:avLst/>
          </a:prstGeom>
        </p:spPr>
        <p:txBody>
          <a:bodyPr anchor="t" rtlCol="false" tIns="0" lIns="0" bIns="0" rIns="0">
            <a:spAutoFit/>
          </a:bodyPr>
          <a:lstStyle/>
          <a:p>
            <a:pPr algn="just">
              <a:lnSpc>
                <a:spcPts val="2739"/>
              </a:lnSpc>
            </a:pPr>
            <a:r>
              <a:rPr lang="en-US" sz="1957" b="true">
                <a:solidFill>
                  <a:srgbClr val="000000"/>
                </a:solidFill>
                <a:latin typeface="Public Sans Bold"/>
                <a:ea typeface="Public Sans Bold"/>
                <a:cs typeface="Public Sans Bold"/>
                <a:sym typeface="Public Sans Bold"/>
              </a:rPr>
              <a:t>C</a:t>
            </a:r>
            <a:r>
              <a:rPr lang="en-US" b="true" sz="1957">
                <a:solidFill>
                  <a:srgbClr val="000000"/>
                </a:solidFill>
                <a:latin typeface="Public Sans Bold"/>
                <a:ea typeface="Public Sans Bold"/>
                <a:cs typeface="Public Sans Bold"/>
                <a:sym typeface="Public Sans Bold"/>
              </a:rPr>
              <a:t>ustomerType : ex:  "Perdu" → 100% churn   , "Régulier" → 0% churn</a:t>
            </a:r>
          </a:p>
          <a:p>
            <a:pPr algn="just" marL="0" indent="0" lvl="0">
              <a:lnSpc>
                <a:spcPts val="2739"/>
              </a:lnSpc>
            </a:pPr>
          </a:p>
        </p:txBody>
      </p:sp>
      <p:sp>
        <p:nvSpPr>
          <p:cNvPr name="Freeform 18" id="18"/>
          <p:cNvSpPr/>
          <p:nvPr/>
        </p:nvSpPr>
        <p:spPr>
          <a:xfrm flipH="false" flipV="false" rot="0">
            <a:off x="720303" y="7943862"/>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081079" y="7886893"/>
            <a:ext cx="13213554" cy="676625"/>
          </a:xfrm>
          <a:prstGeom prst="rect">
            <a:avLst/>
          </a:prstGeom>
        </p:spPr>
        <p:txBody>
          <a:bodyPr anchor="t" rtlCol="false" tIns="0" lIns="0" bIns="0" rIns="0">
            <a:spAutoFit/>
          </a:bodyPr>
          <a:lstStyle/>
          <a:p>
            <a:pPr algn="just">
              <a:lnSpc>
                <a:spcPts val="2739"/>
              </a:lnSpc>
            </a:pPr>
            <a:r>
              <a:rPr lang="en-US" sz="1957" b="true">
                <a:solidFill>
                  <a:srgbClr val="000000"/>
                </a:solidFill>
                <a:latin typeface="Public Sans Bold"/>
                <a:ea typeface="Public Sans Bold"/>
                <a:cs typeface="Public Sans Bold"/>
                <a:sym typeface="Public Sans Bold"/>
              </a:rPr>
              <a:t>RFMSegme</a:t>
            </a:r>
            <a:r>
              <a:rPr lang="en-US" b="true" sz="1957">
                <a:solidFill>
                  <a:srgbClr val="000000"/>
                </a:solidFill>
                <a:latin typeface="Public Sans Bold"/>
                <a:ea typeface="Public Sans Bold"/>
                <a:cs typeface="Public Sans Bold"/>
                <a:sym typeface="Public Sans Bold"/>
              </a:rPr>
              <a:t>nt : comportement futur/past : "Dormants" → churn ,"Champions" → non churn</a:t>
            </a:r>
          </a:p>
          <a:p>
            <a:pPr algn="just" marL="0" indent="0" lvl="0">
              <a:lnSpc>
                <a:spcPts val="2739"/>
              </a:lnSpc>
            </a:pPr>
          </a:p>
        </p:txBody>
      </p:sp>
      <p:sp>
        <p:nvSpPr>
          <p:cNvPr name="Freeform 20" id="20"/>
          <p:cNvSpPr/>
          <p:nvPr/>
        </p:nvSpPr>
        <p:spPr>
          <a:xfrm flipH="false" flipV="false" rot="0">
            <a:off x="720303" y="8347807"/>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081079" y="8290838"/>
            <a:ext cx="9307007" cy="337270"/>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Loy</a:t>
            </a:r>
            <a:r>
              <a:rPr lang="en-US" b="true" sz="1957">
                <a:solidFill>
                  <a:srgbClr val="000000"/>
                </a:solidFill>
                <a:latin typeface="Public Sans Bold"/>
                <a:ea typeface="Public Sans Bold"/>
                <a:cs typeface="Public Sans Bold"/>
                <a:sym typeface="Public Sans Bold"/>
              </a:rPr>
              <a:t>altyLevel: dérivé de l’ancienneté et du comportement client</a:t>
            </a:r>
          </a:p>
        </p:txBody>
      </p:sp>
      <p:sp>
        <p:nvSpPr>
          <p:cNvPr name="Freeform 22" id="22"/>
          <p:cNvSpPr/>
          <p:nvPr/>
        </p:nvSpPr>
        <p:spPr>
          <a:xfrm flipH="false" flipV="false" rot="0">
            <a:off x="720303" y="8751752"/>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081079" y="8694783"/>
            <a:ext cx="9307007" cy="337270"/>
          </a:xfrm>
          <a:prstGeom prst="rect">
            <a:avLst/>
          </a:prstGeom>
        </p:spPr>
        <p:txBody>
          <a:bodyPr anchor="t" rtlCol="false" tIns="0" lIns="0" bIns="0" rIns="0">
            <a:spAutoFit/>
          </a:bodyPr>
          <a:lstStyle/>
          <a:p>
            <a:pPr algn="just" marL="0" indent="0" lvl="0">
              <a:lnSpc>
                <a:spcPts val="2739"/>
              </a:lnSpc>
            </a:pPr>
            <a:r>
              <a:rPr lang="en-US" b="true" sz="1957">
                <a:solidFill>
                  <a:srgbClr val="000000"/>
                </a:solidFill>
                <a:latin typeface="Public Sans Bold"/>
                <a:ea typeface="Public Sans Bold"/>
                <a:cs typeface="Public Sans Bold"/>
                <a:sym typeface="Public Sans Bold"/>
              </a:rPr>
              <a:t>Favori</a:t>
            </a:r>
            <a:r>
              <a:rPr lang="en-US" b="true" sz="1957">
                <a:solidFill>
                  <a:srgbClr val="000000"/>
                </a:solidFill>
                <a:latin typeface="Public Sans Bold"/>
                <a:ea typeface="Public Sans Bold"/>
                <a:cs typeface="Public Sans Bold"/>
                <a:sym typeface="Public Sans Bold"/>
              </a:rPr>
              <a:t>teSeason: variable artificiellement corrélée au churn</a:t>
            </a:r>
          </a:p>
        </p:txBody>
      </p:sp>
      <p:sp>
        <p:nvSpPr>
          <p:cNvPr name="Freeform 24" id="24"/>
          <p:cNvSpPr/>
          <p:nvPr/>
        </p:nvSpPr>
        <p:spPr>
          <a:xfrm flipH="false" flipV="false" rot="0">
            <a:off x="720303" y="9155697"/>
            <a:ext cx="270958" cy="270958"/>
          </a:xfrm>
          <a:custGeom>
            <a:avLst/>
            <a:gdLst/>
            <a:ahLst/>
            <a:cxnLst/>
            <a:rect r="r" b="b" t="t" l="l"/>
            <a:pathLst>
              <a:path h="270958" w="270958">
                <a:moveTo>
                  <a:pt x="0" y="0"/>
                </a:moveTo>
                <a:lnTo>
                  <a:pt x="270958" y="0"/>
                </a:lnTo>
                <a:lnTo>
                  <a:pt x="270958" y="270958"/>
                </a:lnTo>
                <a:lnTo>
                  <a:pt x="0" y="2709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1081079" y="9098728"/>
            <a:ext cx="9307007" cy="676625"/>
          </a:xfrm>
          <a:prstGeom prst="rect">
            <a:avLst/>
          </a:prstGeom>
        </p:spPr>
        <p:txBody>
          <a:bodyPr anchor="t" rtlCol="false" tIns="0" lIns="0" bIns="0" rIns="0">
            <a:spAutoFit/>
          </a:bodyPr>
          <a:lstStyle/>
          <a:p>
            <a:pPr algn="just">
              <a:lnSpc>
                <a:spcPts val="2739"/>
              </a:lnSpc>
            </a:pPr>
            <a:r>
              <a:rPr lang="en-US" sz="1957" b="true">
                <a:solidFill>
                  <a:srgbClr val="000000"/>
                </a:solidFill>
                <a:latin typeface="Public Sans Bold"/>
                <a:ea typeface="Public Sans Bold"/>
                <a:cs typeface="Public Sans Bold"/>
                <a:sym typeface="Public Sans Bold"/>
              </a:rPr>
              <a:t>Rece</a:t>
            </a:r>
            <a:r>
              <a:rPr lang="en-US" b="true" sz="1957">
                <a:solidFill>
                  <a:srgbClr val="000000"/>
                </a:solidFill>
                <a:latin typeface="Public Sans Bold"/>
                <a:ea typeface="Public Sans Bold"/>
                <a:cs typeface="Public Sans Bold"/>
                <a:sym typeface="Public Sans Bold"/>
              </a:rPr>
              <a:t>ncy: ex : Recency &gt; 90 → churn = 1 donc fuite directe de la cible</a:t>
            </a:r>
          </a:p>
          <a:p>
            <a:pPr algn="just" marL="0" indent="0" lvl="0">
              <a:lnSpc>
                <a:spcPts val="2739"/>
              </a:lnSpc>
            </a:pPr>
          </a:p>
        </p:txBody>
      </p:sp>
      <p:sp>
        <p:nvSpPr>
          <p:cNvPr name="TextBox 26" id="26"/>
          <p:cNvSpPr txBox="true"/>
          <p:nvPr/>
        </p:nvSpPr>
        <p:spPr>
          <a:xfrm rot="0">
            <a:off x="12526982" y="715061"/>
            <a:ext cx="6100967" cy="667747"/>
          </a:xfrm>
          <a:prstGeom prst="rect">
            <a:avLst/>
          </a:prstGeom>
        </p:spPr>
        <p:txBody>
          <a:bodyPr anchor="t" rtlCol="false" tIns="0" lIns="0" bIns="0" rIns="0">
            <a:spAutoFit/>
          </a:bodyPr>
          <a:lstStyle/>
          <a:p>
            <a:pPr algn="l" marL="0" indent="0" lvl="0">
              <a:lnSpc>
                <a:spcPts val="5170"/>
              </a:lnSpc>
              <a:spcBef>
                <a:spcPct val="0"/>
              </a:spcBef>
            </a:pPr>
            <a:r>
              <a:rPr lang="en-US" b="true" sz="4877">
                <a:solidFill>
                  <a:srgbClr val="FFFFFF"/>
                </a:solidFill>
                <a:latin typeface="Aileron Ultra-Bold"/>
                <a:ea typeface="Aileron Ultra-Bold"/>
                <a:cs typeface="Aileron Ultra-Bold"/>
                <a:sym typeface="Aileron Ultra-Bold"/>
              </a:rPr>
              <a:t>Data</a:t>
            </a:r>
            <a:r>
              <a:rPr lang="en-US" b="true" sz="4877">
                <a:solidFill>
                  <a:srgbClr val="FFFFFF"/>
                </a:solidFill>
                <a:latin typeface="Aileron Ultra-Bold"/>
                <a:ea typeface="Aileron Ultra-Bold"/>
                <a:cs typeface="Aileron Ultra-Bold"/>
                <a:sym typeface="Aileron Ultra-Bold"/>
              </a:rPr>
              <a:t> Leakage</a:t>
            </a:r>
          </a:p>
        </p:txBody>
      </p:sp>
      <p:sp>
        <p:nvSpPr>
          <p:cNvPr name="TextBox 27" id="27"/>
          <p:cNvSpPr txBox="true"/>
          <p:nvPr/>
        </p:nvSpPr>
        <p:spPr>
          <a:xfrm rot="0">
            <a:off x="12975939" y="1912285"/>
            <a:ext cx="4487871" cy="6722908"/>
          </a:xfrm>
          <a:prstGeom prst="rect">
            <a:avLst/>
          </a:prstGeom>
        </p:spPr>
        <p:txBody>
          <a:bodyPr anchor="t" rtlCol="false" tIns="0" lIns="0" bIns="0" rIns="0">
            <a:spAutoFit/>
          </a:bodyPr>
          <a:lstStyle/>
          <a:p>
            <a:pPr algn="just" marL="0" indent="0" lvl="0">
              <a:lnSpc>
                <a:spcPts val="3359"/>
              </a:lnSpc>
            </a:pPr>
            <a:r>
              <a:rPr lang="en-US" sz="2399">
                <a:solidFill>
                  <a:srgbClr val="FFFFFF"/>
                </a:solidFill>
                <a:latin typeface="Public Sans"/>
                <a:ea typeface="Public Sans"/>
                <a:cs typeface="Public Sans"/>
                <a:sym typeface="Public Sans"/>
              </a:rPr>
              <a:t>Le data leakage est une situation où le modèle utilise des informations qu’il ne devrait pas avoir au moment de la prédiction, souvent liées directement ou indirectement à la cible. Cela entraîne des performances artificiellement élevées pendant l’entraînement mais mauvaises en conditions réelles. Pour éviter ce problème, les variables dérivées de la cible ou disponibles uniquement après l’événement sont supprimées du dataset.</a:t>
            </a:r>
          </a:p>
        </p:txBody>
      </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19</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996759" y="0"/>
            <a:ext cx="5291241" cy="10287000"/>
            <a:chOff x="0" y="0"/>
            <a:chExt cx="1393578" cy="2709333"/>
          </a:xfrm>
        </p:grpSpPr>
        <p:sp>
          <p:nvSpPr>
            <p:cNvPr name="Freeform 3" id="3"/>
            <p:cNvSpPr/>
            <p:nvPr/>
          </p:nvSpPr>
          <p:spPr>
            <a:xfrm flipH="false" flipV="false" rot="0">
              <a:off x="0" y="0"/>
              <a:ext cx="1393578" cy="2709333"/>
            </a:xfrm>
            <a:custGeom>
              <a:avLst/>
              <a:gdLst/>
              <a:ahLst/>
              <a:cxnLst/>
              <a:rect r="r" b="b" t="t" l="l"/>
              <a:pathLst>
                <a:path h="2709333" w="1393578">
                  <a:moveTo>
                    <a:pt x="0" y="0"/>
                  </a:moveTo>
                  <a:lnTo>
                    <a:pt x="1393578" y="0"/>
                  </a:lnTo>
                  <a:lnTo>
                    <a:pt x="1393578" y="2709333"/>
                  </a:lnTo>
                  <a:lnTo>
                    <a:pt x="0" y="2709333"/>
                  </a:lnTo>
                  <a:close/>
                </a:path>
              </a:pathLst>
            </a:custGeom>
            <a:solidFill>
              <a:srgbClr val="0E62F2"/>
            </a:solidFill>
          </p:spPr>
        </p:sp>
        <p:sp>
          <p:nvSpPr>
            <p:cNvPr name="TextBox 4" id="4"/>
            <p:cNvSpPr txBox="true"/>
            <p:nvPr/>
          </p:nvSpPr>
          <p:spPr>
            <a:xfrm>
              <a:off x="0" y="-47625"/>
              <a:ext cx="1393578" cy="2756958"/>
            </a:xfrm>
            <a:prstGeom prst="rect">
              <a:avLst/>
            </a:prstGeom>
          </p:spPr>
          <p:txBody>
            <a:bodyPr anchor="ctr" rtlCol="false" tIns="50800" lIns="50800" bIns="50800" rIns="50800"/>
            <a:lstStyle/>
            <a:p>
              <a:pPr algn="ctr" marL="0" indent="0" lvl="0">
                <a:lnSpc>
                  <a:spcPts val="3258"/>
                </a:lnSpc>
              </a:pPr>
            </a:p>
          </p:txBody>
        </p:sp>
      </p:grpSp>
      <p:grpSp>
        <p:nvGrpSpPr>
          <p:cNvPr name="Group 5" id="5"/>
          <p:cNvGrpSpPr/>
          <p:nvPr/>
        </p:nvGrpSpPr>
        <p:grpSpPr>
          <a:xfrm rot="0">
            <a:off x="7096887" y="748901"/>
            <a:ext cx="10543320" cy="8226719"/>
            <a:chOff x="0" y="0"/>
            <a:chExt cx="3764398" cy="2937277"/>
          </a:xfrm>
        </p:grpSpPr>
        <p:sp>
          <p:nvSpPr>
            <p:cNvPr name="Freeform 6" id="6"/>
            <p:cNvSpPr/>
            <p:nvPr/>
          </p:nvSpPr>
          <p:spPr>
            <a:xfrm flipH="false" flipV="false" rot="0">
              <a:off x="0" y="0"/>
              <a:ext cx="3764398" cy="2937277"/>
            </a:xfrm>
            <a:custGeom>
              <a:avLst/>
              <a:gdLst/>
              <a:ahLst/>
              <a:cxnLst/>
              <a:rect r="r" b="b" t="t" l="l"/>
              <a:pathLst>
                <a:path h="2937277" w="3764398">
                  <a:moveTo>
                    <a:pt x="29372" y="0"/>
                  </a:moveTo>
                  <a:lnTo>
                    <a:pt x="3735026" y="0"/>
                  </a:lnTo>
                  <a:cubicBezTo>
                    <a:pt x="3742816" y="0"/>
                    <a:pt x="3750287" y="3095"/>
                    <a:pt x="3755795" y="8603"/>
                  </a:cubicBezTo>
                  <a:cubicBezTo>
                    <a:pt x="3761304" y="14111"/>
                    <a:pt x="3764398" y="21582"/>
                    <a:pt x="3764398" y="29372"/>
                  </a:cubicBezTo>
                  <a:lnTo>
                    <a:pt x="3764398" y="2907905"/>
                  </a:lnTo>
                  <a:cubicBezTo>
                    <a:pt x="3764398" y="2924127"/>
                    <a:pt x="3751248" y="2937277"/>
                    <a:pt x="3735026" y="2937277"/>
                  </a:cubicBezTo>
                  <a:lnTo>
                    <a:pt x="29372" y="2937277"/>
                  </a:lnTo>
                  <a:cubicBezTo>
                    <a:pt x="13150" y="2937277"/>
                    <a:pt x="0" y="2924127"/>
                    <a:pt x="0" y="2907905"/>
                  </a:cubicBezTo>
                  <a:lnTo>
                    <a:pt x="0" y="29372"/>
                  </a:lnTo>
                  <a:cubicBezTo>
                    <a:pt x="0" y="13150"/>
                    <a:pt x="13150" y="0"/>
                    <a:pt x="29372" y="0"/>
                  </a:cubicBezTo>
                  <a:close/>
                </a:path>
              </a:pathLst>
            </a:custGeom>
            <a:solidFill>
              <a:srgbClr val="F2F2F2"/>
            </a:solidFill>
          </p:spPr>
        </p:sp>
        <p:sp>
          <p:nvSpPr>
            <p:cNvPr name="TextBox 7" id="7"/>
            <p:cNvSpPr txBox="true"/>
            <p:nvPr/>
          </p:nvSpPr>
          <p:spPr>
            <a:xfrm>
              <a:off x="0" y="-47625"/>
              <a:ext cx="3764398" cy="2984902"/>
            </a:xfrm>
            <a:prstGeom prst="rect">
              <a:avLst/>
            </a:prstGeom>
          </p:spPr>
          <p:txBody>
            <a:bodyPr anchor="ctr" rtlCol="false" tIns="37473" lIns="37473" bIns="37473" rIns="37473"/>
            <a:lstStyle/>
            <a:p>
              <a:pPr algn="ctr" marL="0" indent="0" lvl="0">
                <a:lnSpc>
                  <a:spcPts val="3257"/>
                </a:lnSpc>
              </a:pPr>
            </a:p>
          </p:txBody>
        </p:sp>
      </p:grpSp>
      <p:sp>
        <p:nvSpPr>
          <p:cNvPr name="TextBox 8" id="8"/>
          <p:cNvSpPr txBox="true"/>
          <p:nvPr/>
        </p:nvSpPr>
        <p:spPr>
          <a:xfrm rot="0">
            <a:off x="7464302" y="4481543"/>
            <a:ext cx="10175905" cy="4084095"/>
          </a:xfrm>
          <a:prstGeom prst="rect">
            <a:avLst/>
          </a:prstGeom>
        </p:spPr>
        <p:txBody>
          <a:bodyPr anchor="t" rtlCol="false" tIns="0" lIns="0" bIns="0" rIns="0">
            <a:spAutoFit/>
          </a:bodyPr>
          <a:lstStyle/>
          <a:p>
            <a:pPr algn="just" marL="0" indent="0" lvl="0">
              <a:lnSpc>
                <a:spcPts val="3267"/>
              </a:lnSpc>
              <a:spcBef>
                <a:spcPct val="0"/>
              </a:spcBef>
            </a:pPr>
            <a:r>
              <a:rPr lang="en-US" sz="2333">
                <a:solidFill>
                  <a:srgbClr val="000000"/>
                </a:solidFill>
                <a:latin typeface="Public Sans"/>
                <a:ea typeface="Public Sans"/>
                <a:cs typeface="Public Sans"/>
                <a:sym typeface="Public Sans"/>
              </a:rPr>
              <a:t>Ga</a:t>
            </a:r>
            <a:r>
              <a:rPr lang="en-US" sz="2333">
                <a:solidFill>
                  <a:srgbClr val="000000"/>
                </a:solidFill>
                <a:latin typeface="Public Sans"/>
                <a:ea typeface="Public Sans"/>
                <a:cs typeface="Public Sans"/>
                <a:sym typeface="Public Sans"/>
              </a:rPr>
              <a:t>rder seulement les variables numériques :</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numeric_df = X.select_dtypes(include=[np.</a:t>
            </a:r>
            <a:r>
              <a:rPr lang="en-US" b="true" sz="2333">
                <a:solidFill>
                  <a:srgbClr val="000000"/>
                </a:solidFill>
                <a:latin typeface="Public Sans Bold"/>
                <a:ea typeface="Public Sans Bold"/>
                <a:cs typeface="Public Sans Bold"/>
                <a:sym typeface="Public Sans Bold"/>
              </a:rPr>
              <a:t>number</a:t>
            </a:r>
            <a:r>
              <a:rPr lang="en-US" sz="2333">
                <a:solidFill>
                  <a:srgbClr val="000000"/>
                </a:solidFill>
                <a:latin typeface="Public Sans"/>
                <a:ea typeface="Public Sans"/>
                <a:cs typeface="Public Sans"/>
                <a:sym typeface="Public Sans"/>
              </a:rPr>
              <a:t>])</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Calculer la corrélation : corr_matrix = numeric_df.</a:t>
            </a:r>
            <a:r>
              <a:rPr lang="en-US" b="true" sz="2333">
                <a:solidFill>
                  <a:srgbClr val="000000"/>
                </a:solidFill>
                <a:latin typeface="Public Sans Bold"/>
                <a:ea typeface="Public Sans Bold"/>
                <a:cs typeface="Public Sans Bold"/>
                <a:sym typeface="Public Sans Bold"/>
              </a:rPr>
              <a:t>corr</a:t>
            </a:r>
            <a:r>
              <a:rPr lang="en-US" sz="2333">
                <a:solidFill>
                  <a:srgbClr val="000000"/>
                </a:solidFill>
                <a:latin typeface="Public Sans"/>
                <a:ea typeface="Public Sans"/>
                <a:cs typeface="Public Sans"/>
                <a:sym typeface="Public Sans"/>
              </a:rPr>
              <a:t>().abs()</a:t>
            </a:r>
          </a:p>
          <a:p>
            <a:pPr algn="just">
              <a:lnSpc>
                <a:spcPts val="3267"/>
              </a:lnSpc>
              <a:spcBef>
                <a:spcPct val="0"/>
              </a:spcBef>
            </a:pPr>
            <a:r>
              <a:rPr lang="en-US" sz="2333">
                <a:solidFill>
                  <a:srgbClr val="000000"/>
                </a:solidFill>
                <a:latin typeface="Public Sans"/>
                <a:ea typeface="Public Sans"/>
                <a:cs typeface="Public Sans"/>
                <a:sym typeface="Public Sans"/>
              </a:rPr>
              <a:t>Prendre uniquement la moitié du tableau  car la matrice est symétrique</a:t>
            </a:r>
          </a:p>
          <a:p>
            <a:pPr algn="just">
              <a:lnSpc>
                <a:spcPts val="3267"/>
              </a:lnSpc>
              <a:spcBef>
                <a:spcPct val="0"/>
              </a:spcBef>
            </a:pPr>
            <a:r>
              <a:rPr lang="en-US" sz="2333">
                <a:solidFill>
                  <a:srgbClr val="000000"/>
                </a:solidFill>
                <a:latin typeface="Public Sans"/>
                <a:ea typeface="Public Sans"/>
                <a:cs typeface="Public Sans"/>
                <a:sym typeface="Public Sans"/>
              </a:rPr>
              <a:t>Trouver les variables trop corrélées :</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 MonetaryTotal ↔ MonetaryAvg</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 Frequency ↔ UniqueInvoices</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 UniqueProducts ↔ UniqueDescriptions (r ≈ 0.99)</a:t>
            </a:r>
          </a:p>
          <a:p>
            <a:pPr algn="just" marL="0" indent="0" lvl="0">
              <a:lnSpc>
                <a:spcPts val="3267"/>
              </a:lnSpc>
              <a:spcBef>
                <a:spcPct val="0"/>
              </a:spcBef>
            </a:pPr>
            <a:r>
              <a:rPr lang="en-US" sz="2333">
                <a:solidFill>
                  <a:srgbClr val="000000"/>
                </a:solidFill>
                <a:latin typeface="Public Sans"/>
                <a:ea typeface="Public Sans"/>
                <a:cs typeface="Public Sans"/>
                <a:sym typeface="Public Sans"/>
              </a:rPr>
              <a:t> on enlève variables redondantes</a:t>
            </a:r>
          </a:p>
          <a:p>
            <a:pPr algn="just" marL="0" indent="0" lvl="0">
              <a:lnSpc>
                <a:spcPts val="3267"/>
              </a:lnSpc>
              <a:spcBef>
                <a:spcPct val="0"/>
              </a:spcBef>
            </a:pPr>
          </a:p>
        </p:txBody>
      </p:sp>
      <p:sp>
        <p:nvSpPr>
          <p:cNvPr name="TextBox 9" id="9"/>
          <p:cNvSpPr txBox="true"/>
          <p:nvPr/>
        </p:nvSpPr>
        <p:spPr>
          <a:xfrm rot="0">
            <a:off x="7464302" y="3518279"/>
            <a:ext cx="7666784" cy="559215"/>
          </a:xfrm>
          <a:prstGeom prst="rect">
            <a:avLst/>
          </a:prstGeom>
        </p:spPr>
        <p:txBody>
          <a:bodyPr anchor="t" rtlCol="false" tIns="0" lIns="0" bIns="0" rIns="0">
            <a:spAutoFit/>
          </a:bodyPr>
          <a:lstStyle/>
          <a:p>
            <a:pPr algn="just" marL="0" indent="0" lvl="0">
              <a:lnSpc>
                <a:spcPts val="4586"/>
              </a:lnSpc>
            </a:pPr>
            <a:r>
              <a:rPr lang="en-US" b="true" sz="3276">
                <a:solidFill>
                  <a:srgbClr val="004CCF"/>
                </a:solidFill>
                <a:latin typeface="Public Sans Bold"/>
                <a:ea typeface="Public Sans Bold"/>
                <a:cs typeface="Public Sans Bold"/>
                <a:sym typeface="Public Sans Bold"/>
              </a:rPr>
              <a:t>Corrélation de Pearson</a:t>
            </a:r>
          </a:p>
        </p:txBody>
      </p:sp>
      <p:sp>
        <p:nvSpPr>
          <p:cNvPr name="Freeform 10" id="10"/>
          <p:cNvSpPr/>
          <p:nvPr/>
        </p:nvSpPr>
        <p:spPr>
          <a:xfrm flipH="false" flipV="false" rot="3580241">
            <a:off x="-3509711" y="8545363"/>
            <a:ext cx="5106485" cy="5151561"/>
          </a:xfrm>
          <a:custGeom>
            <a:avLst/>
            <a:gdLst/>
            <a:ahLst/>
            <a:cxnLst/>
            <a:rect r="r" b="b" t="t" l="l"/>
            <a:pathLst>
              <a:path h="5151561" w="5106485">
                <a:moveTo>
                  <a:pt x="0" y="0"/>
                </a:moveTo>
                <a:lnTo>
                  <a:pt x="5106484" y="0"/>
                </a:lnTo>
                <a:lnTo>
                  <a:pt x="5106484" y="5151561"/>
                </a:lnTo>
                <a:lnTo>
                  <a:pt x="0" y="51515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3580241">
            <a:off x="-6564967" y="-3721068"/>
            <a:ext cx="7678545" cy="7746326"/>
          </a:xfrm>
          <a:custGeom>
            <a:avLst/>
            <a:gdLst/>
            <a:ahLst/>
            <a:cxnLst/>
            <a:rect r="r" b="b" t="t" l="l"/>
            <a:pathLst>
              <a:path h="7746326" w="7678545">
                <a:moveTo>
                  <a:pt x="0" y="0"/>
                </a:moveTo>
                <a:lnTo>
                  <a:pt x="7678545" y="0"/>
                </a:lnTo>
                <a:lnTo>
                  <a:pt x="7678545" y="7746326"/>
                </a:lnTo>
                <a:lnTo>
                  <a:pt x="0" y="77463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12" id="12"/>
          <p:cNvSpPr txBox="true"/>
          <p:nvPr/>
        </p:nvSpPr>
        <p:spPr>
          <a:xfrm rot="0">
            <a:off x="1028700" y="4123885"/>
            <a:ext cx="5163753" cy="2423518"/>
          </a:xfrm>
          <a:prstGeom prst="rect">
            <a:avLst/>
          </a:prstGeom>
        </p:spPr>
        <p:txBody>
          <a:bodyPr anchor="t" rtlCol="false" tIns="0" lIns="0" bIns="0" rIns="0">
            <a:spAutoFit/>
          </a:bodyPr>
          <a:lstStyle/>
          <a:p>
            <a:pPr algn="l" marL="0" indent="0" lvl="0">
              <a:lnSpc>
                <a:spcPts val="4791"/>
              </a:lnSpc>
              <a:spcBef>
                <a:spcPct val="0"/>
              </a:spcBef>
            </a:pPr>
            <a:r>
              <a:rPr lang="en-US" b="true" sz="4520">
                <a:solidFill>
                  <a:srgbClr val="004CCF"/>
                </a:solidFill>
                <a:latin typeface="Aileron Ultra-Bold"/>
                <a:ea typeface="Aileron Ultra-Bold"/>
                <a:cs typeface="Aileron Ultra-Bold"/>
                <a:sym typeface="Aileron Ultra-Bold"/>
              </a:rPr>
              <a:t>Analyse de Corrélation et Multicolinéarité  </a:t>
            </a:r>
          </a:p>
          <a:p>
            <a:pPr algn="l" marL="0" indent="0" lvl="0">
              <a:lnSpc>
                <a:spcPts val="4791"/>
              </a:lnSpc>
              <a:spcBef>
                <a:spcPct val="0"/>
              </a:spcBef>
            </a:pPr>
          </a:p>
        </p:txBody>
      </p:sp>
      <p:sp>
        <p:nvSpPr>
          <p:cNvPr name="TextBox 13" id="13"/>
          <p:cNvSpPr txBox="true"/>
          <p:nvPr/>
        </p:nvSpPr>
        <p:spPr>
          <a:xfrm rot="0">
            <a:off x="7464302" y="1236404"/>
            <a:ext cx="9412468" cy="3264945"/>
          </a:xfrm>
          <a:prstGeom prst="rect">
            <a:avLst/>
          </a:prstGeom>
        </p:spPr>
        <p:txBody>
          <a:bodyPr anchor="t" rtlCol="false" tIns="0" lIns="0" bIns="0" rIns="0">
            <a:spAutoFit/>
          </a:bodyPr>
          <a:lstStyle/>
          <a:p>
            <a:pPr algn="just">
              <a:lnSpc>
                <a:spcPts val="3267"/>
              </a:lnSpc>
            </a:pPr>
            <a:r>
              <a:rPr lang="en-US" sz="2333">
                <a:solidFill>
                  <a:srgbClr val="000000"/>
                </a:solidFill>
                <a:latin typeface="Public Sans"/>
                <a:ea typeface="Public Sans"/>
                <a:cs typeface="Public Sans"/>
                <a:sym typeface="Public Sans"/>
              </a:rPr>
              <a:t>On fait la séparation X / y avant le calcul des corrélations</a:t>
            </a:r>
          </a:p>
          <a:p>
            <a:pPr algn="just">
              <a:lnSpc>
                <a:spcPts val="3267"/>
              </a:lnSpc>
            </a:pPr>
            <a:r>
              <a:rPr lang="en-US" sz="2333">
                <a:solidFill>
                  <a:srgbClr val="000000"/>
                </a:solidFill>
                <a:latin typeface="Public Sans"/>
                <a:ea typeface="Public Sans"/>
                <a:cs typeface="Public Sans"/>
                <a:sym typeface="Public Sans"/>
              </a:rPr>
              <a:t>y = df['Churn'] (</a:t>
            </a:r>
            <a:r>
              <a:rPr lang="en-US" sz="2333" b="true">
                <a:solidFill>
                  <a:srgbClr val="000000"/>
                </a:solidFill>
                <a:latin typeface="Public Sans Bold"/>
                <a:ea typeface="Public Sans Bold"/>
                <a:cs typeface="Public Sans Bold"/>
                <a:sym typeface="Public Sans Bold"/>
              </a:rPr>
              <a:t>cible</a:t>
            </a:r>
            <a:r>
              <a:rPr lang="en-US" sz="2333">
                <a:solidFill>
                  <a:srgbClr val="000000"/>
                </a:solidFill>
                <a:latin typeface="Public Sans"/>
                <a:ea typeface="Public Sans"/>
                <a:cs typeface="Public Sans"/>
                <a:sym typeface="Public Sans"/>
              </a:rPr>
              <a:t>)</a:t>
            </a:r>
          </a:p>
          <a:p>
            <a:pPr algn="just">
              <a:lnSpc>
                <a:spcPts val="3267"/>
              </a:lnSpc>
            </a:pPr>
            <a:r>
              <a:rPr lang="en-US" sz="2333">
                <a:solidFill>
                  <a:srgbClr val="000000"/>
                </a:solidFill>
                <a:latin typeface="Public Sans"/>
                <a:ea typeface="Public Sans"/>
                <a:cs typeface="Public Sans"/>
                <a:sym typeface="Public Sans"/>
              </a:rPr>
              <a:t>X = df.drop(columns=[</a:t>
            </a:r>
            <a:r>
              <a:rPr lang="en-US" sz="2333">
                <a:solidFill>
                  <a:srgbClr val="000000"/>
                </a:solidFill>
                <a:latin typeface="Public Sans"/>
                <a:ea typeface="Public Sans"/>
                <a:cs typeface="Public Sans"/>
                <a:sym typeface="Public Sans"/>
              </a:rPr>
              <a:t>'C</a:t>
            </a:r>
            <a:r>
              <a:rPr lang="en-US" sz="2333">
                <a:solidFill>
                  <a:srgbClr val="000000"/>
                </a:solidFill>
                <a:latin typeface="Public Sans"/>
                <a:ea typeface="Public Sans"/>
                <a:cs typeface="Public Sans"/>
                <a:sym typeface="Public Sans"/>
              </a:rPr>
              <a:t>hurn']) (</a:t>
            </a:r>
            <a:r>
              <a:rPr lang="en-US" sz="2333" b="true">
                <a:solidFill>
                  <a:srgbClr val="000000"/>
                </a:solidFill>
                <a:latin typeface="Public Sans Bold"/>
                <a:ea typeface="Public Sans Bold"/>
                <a:cs typeface="Public Sans Bold"/>
                <a:sym typeface="Public Sans Bold"/>
              </a:rPr>
              <a:t>features</a:t>
            </a:r>
            <a:r>
              <a:rPr lang="en-US" sz="2333">
                <a:solidFill>
                  <a:srgbClr val="000000"/>
                </a:solidFill>
                <a:latin typeface="Public Sans"/>
                <a:ea typeface="Public Sans"/>
                <a:cs typeface="Public Sans"/>
                <a:sym typeface="Public Sans"/>
              </a:rPr>
              <a:t>)</a:t>
            </a:r>
          </a:p>
          <a:p>
            <a:pPr algn="just">
              <a:lnSpc>
                <a:spcPts val="3267"/>
              </a:lnSpc>
            </a:pPr>
            <a:r>
              <a:rPr lang="en-US" sz="2333">
                <a:solidFill>
                  <a:srgbClr val="000000"/>
                </a:solidFill>
                <a:latin typeface="Public Sans"/>
                <a:ea typeface="Public Sans"/>
                <a:cs typeface="Public Sans"/>
                <a:sym typeface="Public Sans"/>
              </a:rPr>
              <a:t>pour éviter toute fuite d’information (data leakage) et le risque d’identifier des variables trop liées à la réponse(churn)</a:t>
            </a:r>
          </a:p>
          <a:p>
            <a:pPr algn="just">
              <a:lnSpc>
                <a:spcPts val="3267"/>
              </a:lnSpc>
            </a:pPr>
            <a:r>
              <a:rPr lang="en-US" sz="2333">
                <a:solidFill>
                  <a:srgbClr val="000000"/>
                </a:solidFill>
                <a:latin typeface="Public Sans"/>
                <a:ea typeface="Public Sans"/>
                <a:cs typeface="Public Sans"/>
                <a:sym typeface="Public Sans"/>
              </a:rPr>
              <a:t> </a:t>
            </a:r>
          </a:p>
          <a:p>
            <a:pPr algn="just">
              <a:lnSpc>
                <a:spcPts val="3267"/>
              </a:lnSpc>
            </a:pPr>
          </a:p>
          <a:p>
            <a:pPr algn="just" marL="0" indent="0" lvl="0">
              <a:lnSpc>
                <a:spcPts val="3267"/>
              </a:lnSpc>
              <a:spcBef>
                <a:spcPct val="0"/>
              </a:spcBef>
            </a:pP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20</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77767" y="1028700"/>
            <a:ext cx="5675835" cy="1317102"/>
            <a:chOff x="0" y="0"/>
            <a:chExt cx="2137744" cy="496073"/>
          </a:xfrm>
        </p:grpSpPr>
        <p:sp>
          <p:nvSpPr>
            <p:cNvPr name="Freeform 3" id="3"/>
            <p:cNvSpPr/>
            <p:nvPr/>
          </p:nvSpPr>
          <p:spPr>
            <a:xfrm flipH="false" flipV="false" rot="0">
              <a:off x="0" y="0"/>
              <a:ext cx="2137744" cy="496073"/>
            </a:xfrm>
            <a:custGeom>
              <a:avLst/>
              <a:gdLst/>
              <a:ahLst/>
              <a:cxnLst/>
              <a:rect r="r" b="b" t="t" l="l"/>
              <a:pathLst>
                <a:path h="496073" w="2137744">
                  <a:moveTo>
                    <a:pt x="136401" y="0"/>
                  </a:moveTo>
                  <a:lnTo>
                    <a:pt x="2001343" y="0"/>
                  </a:lnTo>
                  <a:cubicBezTo>
                    <a:pt x="2076675" y="0"/>
                    <a:pt x="2137744" y="61069"/>
                    <a:pt x="2137744" y="136401"/>
                  </a:cubicBezTo>
                  <a:lnTo>
                    <a:pt x="2137744" y="359671"/>
                  </a:lnTo>
                  <a:cubicBezTo>
                    <a:pt x="2137744" y="395847"/>
                    <a:pt x="2123373" y="430542"/>
                    <a:pt x="2097793" y="456122"/>
                  </a:cubicBezTo>
                  <a:cubicBezTo>
                    <a:pt x="2072213" y="481702"/>
                    <a:pt x="2037519" y="496073"/>
                    <a:pt x="2001343" y="496073"/>
                  </a:cubicBezTo>
                  <a:lnTo>
                    <a:pt x="136401" y="496073"/>
                  </a:lnTo>
                  <a:cubicBezTo>
                    <a:pt x="61069" y="496073"/>
                    <a:pt x="0" y="435004"/>
                    <a:pt x="0" y="359671"/>
                  </a:cubicBezTo>
                  <a:lnTo>
                    <a:pt x="0" y="136401"/>
                  </a:lnTo>
                  <a:cubicBezTo>
                    <a:pt x="0" y="61069"/>
                    <a:pt x="61069" y="0"/>
                    <a:pt x="136401" y="0"/>
                  </a:cubicBezTo>
                  <a:close/>
                </a:path>
              </a:pathLst>
            </a:custGeom>
            <a:ln w="66675" cap="rnd">
              <a:solidFill>
                <a:srgbClr val="004CCF"/>
              </a:solidFill>
              <a:prstDash val="solid"/>
              <a:round/>
            </a:ln>
          </p:spPr>
        </p:sp>
        <p:sp>
          <p:nvSpPr>
            <p:cNvPr name="TextBox 4" id="4"/>
            <p:cNvSpPr txBox="true"/>
            <p:nvPr/>
          </p:nvSpPr>
          <p:spPr>
            <a:xfrm>
              <a:off x="0" y="-47625"/>
              <a:ext cx="2137744" cy="543698"/>
            </a:xfrm>
            <a:prstGeom prst="rect">
              <a:avLst/>
            </a:prstGeom>
          </p:spPr>
          <p:txBody>
            <a:bodyPr anchor="ctr" rtlCol="false" tIns="50800" lIns="50800" bIns="50800" rIns="50800"/>
            <a:lstStyle/>
            <a:p>
              <a:pPr algn="ctr" marL="0" indent="0" lvl="0">
                <a:lnSpc>
                  <a:spcPts val="3258"/>
                </a:lnSpc>
              </a:pPr>
            </a:p>
          </p:txBody>
        </p:sp>
      </p:grpSp>
      <p:grpSp>
        <p:nvGrpSpPr>
          <p:cNvPr name="Group 5" id="5"/>
          <p:cNvGrpSpPr/>
          <p:nvPr/>
        </p:nvGrpSpPr>
        <p:grpSpPr>
          <a:xfrm rot="0">
            <a:off x="10649322" y="1028700"/>
            <a:ext cx="5675835" cy="1317102"/>
            <a:chOff x="0" y="0"/>
            <a:chExt cx="2137744" cy="496073"/>
          </a:xfrm>
        </p:grpSpPr>
        <p:sp>
          <p:nvSpPr>
            <p:cNvPr name="Freeform 6" id="6"/>
            <p:cNvSpPr/>
            <p:nvPr/>
          </p:nvSpPr>
          <p:spPr>
            <a:xfrm flipH="false" flipV="false" rot="0">
              <a:off x="0" y="0"/>
              <a:ext cx="2137744" cy="496073"/>
            </a:xfrm>
            <a:custGeom>
              <a:avLst/>
              <a:gdLst/>
              <a:ahLst/>
              <a:cxnLst/>
              <a:rect r="r" b="b" t="t" l="l"/>
              <a:pathLst>
                <a:path h="496073" w="2137744">
                  <a:moveTo>
                    <a:pt x="136401" y="0"/>
                  </a:moveTo>
                  <a:lnTo>
                    <a:pt x="2001343" y="0"/>
                  </a:lnTo>
                  <a:cubicBezTo>
                    <a:pt x="2076675" y="0"/>
                    <a:pt x="2137744" y="61069"/>
                    <a:pt x="2137744" y="136401"/>
                  </a:cubicBezTo>
                  <a:lnTo>
                    <a:pt x="2137744" y="359671"/>
                  </a:lnTo>
                  <a:cubicBezTo>
                    <a:pt x="2137744" y="395847"/>
                    <a:pt x="2123373" y="430542"/>
                    <a:pt x="2097793" y="456122"/>
                  </a:cubicBezTo>
                  <a:cubicBezTo>
                    <a:pt x="2072213" y="481702"/>
                    <a:pt x="2037519" y="496073"/>
                    <a:pt x="2001343" y="496073"/>
                  </a:cubicBezTo>
                  <a:lnTo>
                    <a:pt x="136401" y="496073"/>
                  </a:lnTo>
                  <a:cubicBezTo>
                    <a:pt x="61069" y="496073"/>
                    <a:pt x="0" y="435004"/>
                    <a:pt x="0" y="359671"/>
                  </a:cubicBezTo>
                  <a:lnTo>
                    <a:pt x="0" y="136401"/>
                  </a:lnTo>
                  <a:cubicBezTo>
                    <a:pt x="0" y="61069"/>
                    <a:pt x="61069" y="0"/>
                    <a:pt x="136401" y="0"/>
                  </a:cubicBezTo>
                  <a:close/>
                </a:path>
              </a:pathLst>
            </a:custGeom>
            <a:ln w="66675" cap="rnd">
              <a:solidFill>
                <a:srgbClr val="004CCF"/>
              </a:solidFill>
              <a:prstDash val="solid"/>
              <a:round/>
            </a:ln>
          </p:spPr>
        </p:sp>
        <p:sp>
          <p:nvSpPr>
            <p:cNvPr name="TextBox 7" id="7"/>
            <p:cNvSpPr txBox="true"/>
            <p:nvPr/>
          </p:nvSpPr>
          <p:spPr>
            <a:xfrm>
              <a:off x="0" y="-47625"/>
              <a:ext cx="2137744" cy="543698"/>
            </a:xfrm>
            <a:prstGeom prst="rect">
              <a:avLst/>
            </a:prstGeom>
          </p:spPr>
          <p:txBody>
            <a:bodyPr anchor="ctr" rtlCol="false" tIns="50800" lIns="50800" bIns="50800" rIns="50800"/>
            <a:lstStyle/>
            <a:p>
              <a:pPr algn="ctr" marL="0" indent="0" lvl="0">
                <a:lnSpc>
                  <a:spcPts val="3258"/>
                </a:lnSpc>
              </a:pPr>
            </a:p>
          </p:txBody>
        </p:sp>
      </p:grpSp>
      <p:sp>
        <p:nvSpPr>
          <p:cNvPr name="TextBox 8" id="8"/>
          <p:cNvSpPr txBox="true"/>
          <p:nvPr/>
        </p:nvSpPr>
        <p:spPr>
          <a:xfrm rot="0">
            <a:off x="1857035" y="1247590"/>
            <a:ext cx="5317299" cy="906873"/>
          </a:xfrm>
          <a:prstGeom prst="rect">
            <a:avLst/>
          </a:prstGeom>
        </p:spPr>
        <p:txBody>
          <a:bodyPr anchor="t" rtlCol="false" tIns="0" lIns="0" bIns="0" rIns="0">
            <a:spAutoFit/>
          </a:bodyPr>
          <a:lstStyle/>
          <a:p>
            <a:pPr algn="ctr" marL="0" indent="0" lvl="0">
              <a:lnSpc>
                <a:spcPts val="3515"/>
              </a:lnSpc>
            </a:pPr>
            <a:r>
              <a:rPr lang="en-US" b="true" sz="3195">
                <a:solidFill>
                  <a:srgbClr val="004CCF"/>
                </a:solidFill>
                <a:latin typeface="Aileron Ultra-Bold"/>
                <a:ea typeface="Aileron Ultra-Bold"/>
                <a:cs typeface="Aileron Ultra-Bold"/>
                <a:sym typeface="Aileron Ultra-Bold"/>
              </a:rPr>
              <a:t>Séparation Train / Test Stratifiée (80/20)</a:t>
            </a:r>
          </a:p>
        </p:txBody>
      </p:sp>
      <p:sp>
        <p:nvSpPr>
          <p:cNvPr name="TextBox 9" id="9"/>
          <p:cNvSpPr txBox="true"/>
          <p:nvPr/>
        </p:nvSpPr>
        <p:spPr>
          <a:xfrm rot="0">
            <a:off x="2289201" y="3397500"/>
            <a:ext cx="4452966" cy="1222560"/>
          </a:xfrm>
          <a:prstGeom prst="rect">
            <a:avLst/>
          </a:prstGeom>
        </p:spPr>
        <p:txBody>
          <a:bodyPr anchor="t" rtlCol="false" tIns="0" lIns="0" bIns="0" rIns="0">
            <a:spAutoFit/>
          </a:bodyPr>
          <a:lstStyle/>
          <a:p>
            <a:pPr algn="l" marL="0" indent="0" lvl="0">
              <a:lnSpc>
                <a:spcPts val="2439"/>
              </a:lnSpc>
              <a:spcBef>
                <a:spcPct val="0"/>
              </a:spcBef>
            </a:pPr>
            <a:r>
              <a:rPr lang="en-US" sz="1742">
                <a:solidFill>
                  <a:srgbClr val="000000"/>
                </a:solidFill>
                <a:latin typeface="Public Sans"/>
                <a:ea typeface="Public Sans"/>
                <a:cs typeface="Public Sans"/>
                <a:sym typeface="Public Sans"/>
              </a:rPr>
              <a:t>X shape: (4372, 111) features</a:t>
            </a:r>
          </a:p>
          <a:p>
            <a:pPr algn="l" marL="0" indent="0" lvl="0">
              <a:lnSpc>
                <a:spcPts val="2439"/>
              </a:lnSpc>
              <a:spcBef>
                <a:spcPct val="0"/>
              </a:spcBef>
            </a:pPr>
            <a:r>
              <a:rPr lang="en-US" sz="1742">
                <a:solidFill>
                  <a:srgbClr val="000000"/>
                </a:solidFill>
                <a:latin typeface="Public Sans"/>
                <a:ea typeface="Public Sans"/>
                <a:cs typeface="Public Sans"/>
                <a:sym typeface="Public Sans"/>
              </a:rPr>
              <a:t>y distribution: 0 = 2918 (67%), 1 = 1454 (33%)</a:t>
            </a:r>
          </a:p>
          <a:p>
            <a:pPr algn="l" marL="0" indent="0" lvl="0">
              <a:lnSpc>
                <a:spcPts val="2439"/>
              </a:lnSpc>
              <a:spcBef>
                <a:spcPct val="0"/>
              </a:spcBef>
            </a:pPr>
            <a:r>
              <a:rPr lang="en-US" sz="1742">
                <a:solidFill>
                  <a:srgbClr val="000000"/>
                </a:solidFill>
                <a:latin typeface="Public Sans"/>
                <a:ea typeface="Public Sans"/>
                <a:cs typeface="Public Sans"/>
                <a:sym typeface="Public Sans"/>
              </a:rPr>
              <a:t>test_size = 0.20, random_state = 42</a:t>
            </a:r>
          </a:p>
        </p:txBody>
      </p:sp>
      <p:sp>
        <p:nvSpPr>
          <p:cNvPr name="TextBox 10" id="10"/>
          <p:cNvSpPr txBox="true"/>
          <p:nvPr/>
        </p:nvSpPr>
        <p:spPr>
          <a:xfrm rot="0">
            <a:off x="2289201" y="2804857"/>
            <a:ext cx="4452966" cy="421061"/>
          </a:xfrm>
          <a:prstGeom prst="rect">
            <a:avLst/>
          </a:prstGeom>
        </p:spPr>
        <p:txBody>
          <a:bodyPr anchor="t" rtlCol="false" tIns="0" lIns="0" bIns="0" rIns="0">
            <a:spAutoFit/>
          </a:bodyPr>
          <a:lstStyle/>
          <a:p>
            <a:pPr algn="just" marL="0" indent="0" lvl="0">
              <a:lnSpc>
                <a:spcPts val="3388"/>
              </a:lnSpc>
            </a:pPr>
            <a:r>
              <a:rPr lang="en-US" b="true" sz="2420">
                <a:solidFill>
                  <a:srgbClr val="004CCF"/>
                </a:solidFill>
                <a:latin typeface="Public Sans Bold"/>
                <a:ea typeface="Public Sans Bold"/>
                <a:cs typeface="Public Sans Bold"/>
                <a:sym typeface="Public Sans Bold"/>
              </a:rPr>
              <a:t>Dimensions du Dataset</a:t>
            </a:r>
          </a:p>
        </p:txBody>
      </p:sp>
      <p:sp>
        <p:nvSpPr>
          <p:cNvPr name="TextBox 11" id="11"/>
          <p:cNvSpPr txBox="true"/>
          <p:nvPr/>
        </p:nvSpPr>
        <p:spPr>
          <a:xfrm rot="0">
            <a:off x="2289201" y="5669903"/>
            <a:ext cx="4452966" cy="1222560"/>
          </a:xfrm>
          <a:prstGeom prst="rect">
            <a:avLst/>
          </a:prstGeom>
        </p:spPr>
        <p:txBody>
          <a:bodyPr anchor="t" rtlCol="false" tIns="0" lIns="0" bIns="0" rIns="0">
            <a:spAutoFit/>
          </a:bodyPr>
          <a:lstStyle/>
          <a:p>
            <a:pPr algn="l" marL="0" indent="0" lvl="0">
              <a:lnSpc>
                <a:spcPts val="2439"/>
              </a:lnSpc>
              <a:spcBef>
                <a:spcPct val="0"/>
              </a:spcBef>
            </a:pPr>
            <a:r>
              <a:rPr lang="en-US" sz="1742">
                <a:solidFill>
                  <a:srgbClr val="000000"/>
                </a:solidFill>
                <a:latin typeface="Public Sans"/>
                <a:ea typeface="Public Sans"/>
                <a:cs typeface="Public Sans"/>
                <a:sym typeface="Public Sans"/>
              </a:rPr>
              <a:t>X_train: (3497, 111)</a:t>
            </a:r>
          </a:p>
          <a:p>
            <a:pPr algn="l" marL="0" indent="0" lvl="0">
              <a:lnSpc>
                <a:spcPts val="2439"/>
              </a:lnSpc>
              <a:spcBef>
                <a:spcPct val="0"/>
              </a:spcBef>
            </a:pPr>
            <a:r>
              <a:rPr lang="en-US" sz="1742">
                <a:solidFill>
                  <a:srgbClr val="000000"/>
                </a:solidFill>
                <a:latin typeface="Public Sans"/>
                <a:ea typeface="Public Sans"/>
                <a:cs typeface="Public Sans"/>
                <a:sym typeface="Public Sans"/>
              </a:rPr>
              <a:t>X_test: (875, 111)</a:t>
            </a:r>
          </a:p>
          <a:p>
            <a:pPr algn="l" marL="0" indent="0" lvl="0">
              <a:lnSpc>
                <a:spcPts val="2439"/>
              </a:lnSpc>
              <a:spcBef>
                <a:spcPct val="0"/>
              </a:spcBef>
            </a:pPr>
            <a:r>
              <a:rPr lang="en-US" sz="1742">
                <a:solidFill>
                  <a:srgbClr val="000000"/>
                </a:solidFill>
                <a:latin typeface="Public Sans"/>
                <a:ea typeface="Public Sans"/>
                <a:cs typeface="Public Sans"/>
                <a:sym typeface="Public Sans"/>
              </a:rPr>
              <a:t>Churn train: 33.3%</a:t>
            </a:r>
          </a:p>
          <a:p>
            <a:pPr algn="l" marL="0" indent="0" lvl="0">
              <a:lnSpc>
                <a:spcPts val="2439"/>
              </a:lnSpc>
              <a:spcBef>
                <a:spcPct val="0"/>
              </a:spcBef>
            </a:pPr>
            <a:r>
              <a:rPr lang="en-US" sz="1742">
                <a:solidFill>
                  <a:srgbClr val="000000"/>
                </a:solidFill>
                <a:latin typeface="Public Sans"/>
                <a:ea typeface="Public Sans"/>
                <a:cs typeface="Public Sans"/>
                <a:sym typeface="Public Sans"/>
              </a:rPr>
              <a:t>Churn test: 33.2%</a:t>
            </a:r>
          </a:p>
        </p:txBody>
      </p:sp>
      <p:sp>
        <p:nvSpPr>
          <p:cNvPr name="TextBox 12" id="12"/>
          <p:cNvSpPr txBox="true"/>
          <p:nvPr/>
        </p:nvSpPr>
        <p:spPr>
          <a:xfrm rot="0">
            <a:off x="2289201" y="4972485"/>
            <a:ext cx="4452966" cy="421061"/>
          </a:xfrm>
          <a:prstGeom prst="rect">
            <a:avLst/>
          </a:prstGeom>
        </p:spPr>
        <p:txBody>
          <a:bodyPr anchor="t" rtlCol="false" tIns="0" lIns="0" bIns="0" rIns="0">
            <a:spAutoFit/>
          </a:bodyPr>
          <a:lstStyle/>
          <a:p>
            <a:pPr algn="just" marL="0" indent="0" lvl="0">
              <a:lnSpc>
                <a:spcPts val="3388"/>
              </a:lnSpc>
            </a:pPr>
            <a:r>
              <a:rPr lang="en-US" b="true" sz="2420">
                <a:solidFill>
                  <a:srgbClr val="004CCF"/>
                </a:solidFill>
                <a:latin typeface="Public Sans Bold"/>
                <a:ea typeface="Public Sans Bold"/>
                <a:cs typeface="Public Sans Bold"/>
                <a:sym typeface="Public Sans Bold"/>
              </a:rPr>
              <a:t>Résultats du Split</a:t>
            </a:r>
          </a:p>
        </p:txBody>
      </p:sp>
      <p:sp>
        <p:nvSpPr>
          <p:cNvPr name="TextBox 13" id="13"/>
          <p:cNvSpPr txBox="true"/>
          <p:nvPr/>
        </p:nvSpPr>
        <p:spPr>
          <a:xfrm rot="0">
            <a:off x="2289201" y="7837531"/>
            <a:ext cx="4858920" cy="1527360"/>
          </a:xfrm>
          <a:prstGeom prst="rect">
            <a:avLst/>
          </a:prstGeom>
        </p:spPr>
        <p:txBody>
          <a:bodyPr anchor="t" rtlCol="false" tIns="0" lIns="0" bIns="0" rIns="0">
            <a:spAutoFit/>
          </a:bodyPr>
          <a:lstStyle/>
          <a:p>
            <a:pPr algn="l" marL="0" indent="0" lvl="0">
              <a:lnSpc>
                <a:spcPts val="2439"/>
              </a:lnSpc>
              <a:spcBef>
                <a:spcPct val="0"/>
              </a:spcBef>
            </a:pPr>
            <a:r>
              <a:rPr lang="en-US" sz="1742">
                <a:solidFill>
                  <a:srgbClr val="000000"/>
                </a:solidFill>
                <a:latin typeface="Public Sans"/>
                <a:ea typeface="Public Sans"/>
                <a:cs typeface="Public Sans"/>
                <a:sym typeface="Public Sans"/>
              </a:rPr>
              <a:t>stratify=y permet de conserver la même proportion des classes (ex : churn / non-churn) dans les ensembles d’entraînement et de test, assurant ainsi une évaluation plus fiable du modèle.</a:t>
            </a:r>
          </a:p>
        </p:txBody>
      </p:sp>
      <p:sp>
        <p:nvSpPr>
          <p:cNvPr name="TextBox 14" id="14"/>
          <p:cNvSpPr txBox="true"/>
          <p:nvPr/>
        </p:nvSpPr>
        <p:spPr>
          <a:xfrm rot="0">
            <a:off x="2289201" y="7244888"/>
            <a:ext cx="5256577" cy="421061"/>
          </a:xfrm>
          <a:prstGeom prst="rect">
            <a:avLst/>
          </a:prstGeom>
        </p:spPr>
        <p:txBody>
          <a:bodyPr anchor="t" rtlCol="false" tIns="0" lIns="0" bIns="0" rIns="0">
            <a:spAutoFit/>
          </a:bodyPr>
          <a:lstStyle/>
          <a:p>
            <a:pPr algn="just" marL="0" indent="0" lvl="0">
              <a:lnSpc>
                <a:spcPts val="3388"/>
              </a:lnSpc>
            </a:pPr>
            <a:r>
              <a:rPr lang="en-US" b="true" sz="2420">
                <a:solidFill>
                  <a:srgbClr val="004CCF"/>
                </a:solidFill>
                <a:latin typeface="Public Sans Bold"/>
                <a:ea typeface="Public Sans Bold"/>
                <a:cs typeface="Public Sans Bold"/>
                <a:sym typeface="Public Sans Bold"/>
              </a:rPr>
              <a:t>Importance de stratify=y</a:t>
            </a:r>
          </a:p>
        </p:txBody>
      </p:sp>
      <p:sp>
        <p:nvSpPr>
          <p:cNvPr name="TextBox 15" id="15"/>
          <p:cNvSpPr txBox="true"/>
          <p:nvPr/>
        </p:nvSpPr>
        <p:spPr>
          <a:xfrm rot="0">
            <a:off x="10649322" y="1243339"/>
            <a:ext cx="5317299" cy="906873"/>
          </a:xfrm>
          <a:prstGeom prst="rect">
            <a:avLst/>
          </a:prstGeom>
        </p:spPr>
        <p:txBody>
          <a:bodyPr anchor="t" rtlCol="false" tIns="0" lIns="0" bIns="0" rIns="0">
            <a:spAutoFit/>
          </a:bodyPr>
          <a:lstStyle/>
          <a:p>
            <a:pPr algn="ctr" marL="0" indent="0" lvl="0">
              <a:lnSpc>
                <a:spcPts val="3515"/>
              </a:lnSpc>
            </a:pPr>
            <a:r>
              <a:rPr lang="en-US" b="true" sz="3195">
                <a:solidFill>
                  <a:srgbClr val="004CCF"/>
                </a:solidFill>
                <a:latin typeface="Aileron Ultra-Bold"/>
                <a:ea typeface="Aileron Ultra-Bold"/>
                <a:cs typeface="Aileron Ultra-Bold"/>
                <a:sym typeface="Aileron Ultra-Bold"/>
              </a:rPr>
              <a:t>Const</a:t>
            </a:r>
            <a:r>
              <a:rPr lang="en-US" b="true" sz="3195">
                <a:solidFill>
                  <a:srgbClr val="004CCF"/>
                </a:solidFill>
                <a:latin typeface="Aileron Ultra-Bold"/>
                <a:ea typeface="Aileron Ultra-Bold"/>
                <a:cs typeface="Aileron Ultra-Bold"/>
                <a:sym typeface="Aileron Ultra-Bold"/>
              </a:rPr>
              <a:t>ruction du pipeline de preprocessing</a:t>
            </a:r>
          </a:p>
        </p:txBody>
      </p:sp>
      <p:sp>
        <p:nvSpPr>
          <p:cNvPr name="TextBox 16" id="16"/>
          <p:cNvSpPr txBox="true"/>
          <p:nvPr/>
        </p:nvSpPr>
        <p:spPr>
          <a:xfrm rot="0">
            <a:off x="11187350" y="2661956"/>
            <a:ext cx="6276001" cy="6907605"/>
          </a:xfrm>
          <a:prstGeom prst="rect">
            <a:avLst/>
          </a:prstGeom>
        </p:spPr>
        <p:txBody>
          <a:bodyPr anchor="t" rtlCol="false" tIns="0" lIns="0" bIns="0" rIns="0">
            <a:spAutoFit/>
          </a:bodyPr>
          <a:lstStyle/>
          <a:p>
            <a:pPr algn="l">
              <a:lnSpc>
                <a:spcPts val="2515"/>
              </a:lnSpc>
              <a:spcBef>
                <a:spcPct val="0"/>
              </a:spcBef>
            </a:pPr>
            <a:r>
              <a:rPr lang="en-US" sz="1797">
                <a:solidFill>
                  <a:srgbClr val="000000"/>
                </a:solidFill>
                <a:latin typeface="Public Sans"/>
                <a:ea typeface="Public Sans"/>
                <a:cs typeface="Public Sans"/>
                <a:sym typeface="Public Sans"/>
              </a:rPr>
              <a:t>pipeline = create_pipeline(X_train)</a:t>
            </a:r>
          </a:p>
          <a:p>
            <a:pPr algn="l">
              <a:lnSpc>
                <a:spcPts val="2515"/>
              </a:lnSpc>
              <a:spcBef>
                <a:spcPct val="0"/>
              </a:spcBef>
            </a:pPr>
          </a:p>
          <a:p>
            <a:pPr algn="l">
              <a:lnSpc>
                <a:spcPts val="2515"/>
              </a:lnSpc>
              <a:spcBef>
                <a:spcPct val="0"/>
              </a:spcBef>
            </a:pPr>
            <a:r>
              <a:rPr lang="en-US" sz="1797">
                <a:solidFill>
                  <a:srgbClr val="000000"/>
                </a:solidFill>
                <a:latin typeface="Public Sans"/>
                <a:ea typeface="Public Sans"/>
                <a:cs typeface="Public Sans"/>
                <a:sym typeface="Public Sans"/>
              </a:rPr>
              <a:t>les transformations :</a:t>
            </a:r>
          </a:p>
          <a:p>
            <a:pPr algn="l">
              <a:lnSpc>
                <a:spcPts val="2515"/>
              </a:lnSpc>
              <a:spcBef>
                <a:spcPct val="0"/>
              </a:spcBef>
            </a:pPr>
            <a:r>
              <a:rPr lang="en-US" b="true" sz="1797">
                <a:solidFill>
                  <a:srgbClr val="004CCF"/>
                </a:solidFill>
                <a:latin typeface="Public Sans Bold"/>
                <a:ea typeface="Public Sans Bold"/>
                <a:cs typeface="Public Sans Bold"/>
                <a:sym typeface="Public Sans Bold"/>
              </a:rPr>
              <a:t>numérique </a:t>
            </a:r>
            <a:r>
              <a:rPr lang="en-US" sz="1797">
                <a:solidFill>
                  <a:srgbClr val="000000"/>
                </a:solidFill>
                <a:latin typeface="Public Sans"/>
                <a:ea typeface="Public Sans"/>
                <a:cs typeface="Public Sans"/>
                <a:sym typeface="Public Sans"/>
              </a:rPr>
              <a:t>: </a:t>
            </a:r>
            <a:r>
              <a:rPr lang="en-US" b="true" sz="1797">
                <a:solidFill>
                  <a:srgbClr val="000000"/>
                </a:solidFill>
                <a:latin typeface="Public Sans Bold"/>
                <a:ea typeface="Public Sans Bold"/>
                <a:cs typeface="Public Sans Bold"/>
                <a:sym typeface="Public Sans Bold"/>
              </a:rPr>
              <a:t>imputation +StandardScaler </a:t>
            </a:r>
          </a:p>
          <a:p>
            <a:pPr algn="l">
              <a:lnSpc>
                <a:spcPts val="2515"/>
              </a:lnSpc>
              <a:spcBef>
                <a:spcPct val="0"/>
              </a:spcBef>
            </a:pPr>
          </a:p>
          <a:p>
            <a:pPr algn="l">
              <a:lnSpc>
                <a:spcPts val="2515"/>
              </a:lnSpc>
              <a:spcBef>
                <a:spcPct val="0"/>
              </a:spcBef>
            </a:pPr>
            <a:r>
              <a:rPr lang="en-US" sz="1797">
                <a:solidFill>
                  <a:srgbClr val="000000"/>
                </a:solidFill>
                <a:latin typeface="Public Sans"/>
                <a:ea typeface="Public Sans"/>
                <a:cs typeface="Public Sans"/>
                <a:sym typeface="Public Sans"/>
              </a:rPr>
              <a:t>standardisation avec </a:t>
            </a:r>
            <a:r>
              <a:rPr lang="en-US" b="true" sz="1797">
                <a:solidFill>
                  <a:srgbClr val="000000"/>
                </a:solidFill>
                <a:latin typeface="Public Sans Bold"/>
                <a:ea typeface="Public Sans Bold"/>
                <a:cs typeface="Public Sans Bold"/>
                <a:sym typeface="Public Sans Bold"/>
              </a:rPr>
              <a:t>StandardScaler qui standardise les variables numériques en les transformant pour avoir une moyenne = 0 et un écart-type = 1.</a:t>
            </a:r>
          </a:p>
          <a:p>
            <a:pPr algn="l">
              <a:lnSpc>
                <a:spcPts val="2515"/>
              </a:lnSpc>
              <a:spcBef>
                <a:spcPct val="0"/>
              </a:spcBef>
            </a:pPr>
            <a:r>
              <a:rPr lang="en-US" b="true" sz="1797">
                <a:solidFill>
                  <a:srgbClr val="000000"/>
                </a:solidFill>
                <a:latin typeface="Public Sans Bold"/>
                <a:ea typeface="Public Sans Bold"/>
                <a:cs typeface="Public Sans Bold"/>
                <a:sym typeface="Public Sans Bold"/>
              </a:rPr>
              <a:t>Chaque valeur est centrée puis réduite, ce qui met toutes les variables sur la même échelle.</a:t>
            </a:r>
          </a:p>
          <a:p>
            <a:pPr algn="l">
              <a:lnSpc>
                <a:spcPts val="2515"/>
              </a:lnSpc>
              <a:spcBef>
                <a:spcPct val="0"/>
              </a:spcBef>
            </a:pPr>
          </a:p>
          <a:p>
            <a:pPr algn="l">
              <a:lnSpc>
                <a:spcPts val="2515"/>
              </a:lnSpc>
              <a:spcBef>
                <a:spcPct val="0"/>
              </a:spcBef>
            </a:pPr>
            <a:r>
              <a:rPr lang="en-US" b="true" sz="1797">
                <a:solidFill>
                  <a:srgbClr val="004CCF"/>
                </a:solidFill>
                <a:latin typeface="Public Sans Bold"/>
                <a:ea typeface="Public Sans Bold"/>
                <a:cs typeface="Public Sans Bold"/>
                <a:sym typeface="Public Sans Bold"/>
              </a:rPr>
              <a:t>catégoriel </a:t>
            </a:r>
            <a:r>
              <a:rPr lang="en-US" sz="1797">
                <a:solidFill>
                  <a:srgbClr val="000000"/>
                </a:solidFill>
                <a:latin typeface="Public Sans"/>
                <a:ea typeface="Public Sans"/>
                <a:cs typeface="Public Sans"/>
                <a:sym typeface="Public Sans"/>
              </a:rPr>
              <a:t>: </a:t>
            </a:r>
            <a:r>
              <a:rPr lang="en-US" b="true" sz="1797">
                <a:solidFill>
                  <a:srgbClr val="000000"/>
                </a:solidFill>
                <a:latin typeface="Public Sans Bold"/>
                <a:ea typeface="Public Sans Bold"/>
                <a:cs typeface="Public Sans Bold"/>
                <a:sym typeface="Public Sans Bold"/>
              </a:rPr>
              <a:t>imputation + one-Hot Encoding</a:t>
            </a:r>
          </a:p>
          <a:p>
            <a:pPr algn="l">
              <a:lnSpc>
                <a:spcPts val="2515"/>
              </a:lnSpc>
              <a:spcBef>
                <a:spcPct val="0"/>
              </a:spcBef>
            </a:pPr>
            <a:r>
              <a:rPr lang="en-US" sz="1797">
                <a:solidFill>
                  <a:srgbClr val="000000"/>
                </a:solidFill>
                <a:latin typeface="Public Sans"/>
                <a:ea typeface="Public Sans"/>
                <a:cs typeface="Public Sans"/>
                <a:sym typeface="Public Sans"/>
              </a:rPr>
              <a:t>('imputer', SimpleImputer(strategy='</a:t>
            </a:r>
            <a:r>
              <a:rPr lang="en-US" b="true" sz="1797">
                <a:solidFill>
                  <a:srgbClr val="000000"/>
                </a:solidFill>
                <a:latin typeface="Public Sans Bold"/>
                <a:ea typeface="Public Sans Bold"/>
                <a:cs typeface="Public Sans Bold"/>
                <a:sym typeface="Public Sans Bold"/>
              </a:rPr>
              <a:t>most_frequent</a:t>
            </a:r>
            <a:r>
              <a:rPr lang="en-US" sz="1797">
                <a:solidFill>
                  <a:srgbClr val="000000"/>
                </a:solidFill>
                <a:latin typeface="Public Sans"/>
                <a:ea typeface="Public Sans"/>
                <a:cs typeface="Public Sans"/>
                <a:sym typeface="Public Sans"/>
              </a:rPr>
              <a:t>')),</a:t>
            </a:r>
          </a:p>
          <a:p>
            <a:pPr algn="l">
              <a:lnSpc>
                <a:spcPts val="2515"/>
              </a:lnSpc>
              <a:spcBef>
                <a:spcPct val="0"/>
              </a:spcBef>
            </a:pPr>
          </a:p>
          <a:p>
            <a:pPr algn="l">
              <a:lnSpc>
                <a:spcPts val="2515"/>
              </a:lnSpc>
              <a:spcBef>
                <a:spcPct val="0"/>
              </a:spcBef>
            </a:pPr>
            <a:r>
              <a:rPr lang="en-US" b="true" sz="1797">
                <a:solidFill>
                  <a:srgbClr val="000000"/>
                </a:solidFill>
                <a:latin typeface="Public Sans Bold"/>
                <a:ea typeface="Public Sans Bold"/>
                <a:cs typeface="Public Sans Bold"/>
                <a:sym typeface="Public Sans Bold"/>
              </a:rPr>
              <a:t>one-Hot Encoding transforme une variable catégorielle en plusieurs variables binaires (0/1), une par modalité.</a:t>
            </a:r>
          </a:p>
          <a:p>
            <a:pPr algn="l">
              <a:lnSpc>
                <a:spcPts val="2515"/>
              </a:lnSpc>
              <a:spcBef>
                <a:spcPct val="0"/>
              </a:spcBef>
            </a:pPr>
          </a:p>
          <a:p>
            <a:pPr algn="l">
              <a:lnSpc>
                <a:spcPts val="2515"/>
              </a:lnSpc>
              <a:spcBef>
                <a:spcPct val="0"/>
              </a:spcBef>
            </a:pPr>
            <a:r>
              <a:rPr lang="en-US" b="true" sz="1797">
                <a:solidFill>
                  <a:srgbClr val="004CCF"/>
                </a:solidFill>
                <a:latin typeface="Public Sans Bold"/>
                <a:ea typeface="Public Sans Bold"/>
                <a:cs typeface="Public Sans Bold"/>
                <a:sym typeface="Public Sans Bold"/>
              </a:rPr>
              <a:t>PCA  :  PCA(n_components=0.95) </a:t>
            </a:r>
          </a:p>
          <a:p>
            <a:pPr algn="l">
              <a:lnSpc>
                <a:spcPts val="2515"/>
              </a:lnSpc>
              <a:spcBef>
                <a:spcPct val="0"/>
              </a:spcBef>
            </a:pPr>
            <a:r>
              <a:rPr lang="en-US" b="true" sz="1797">
                <a:solidFill>
                  <a:srgbClr val="000000"/>
                </a:solidFill>
                <a:latin typeface="Public Sans Bold"/>
                <a:ea typeface="Public Sans Bold"/>
                <a:cs typeface="Public Sans Bold"/>
                <a:sym typeface="Public Sans Bold"/>
              </a:rPr>
              <a:t>A réduit le nombre de variables en conservant l’essentiel de l’information (95% de la variance) afin de simplifier le modèle et améliorer ses performances.</a:t>
            </a:r>
          </a:p>
          <a:p>
            <a:pPr algn="l">
              <a:lnSpc>
                <a:spcPts val="2515"/>
              </a:lnSpc>
              <a:spcBef>
                <a:spcPct val="0"/>
              </a:spcBef>
            </a:pPr>
          </a:p>
        </p:txBody>
      </p:sp>
      <p:grpSp>
        <p:nvGrpSpPr>
          <p:cNvPr name="Group 17" id="17"/>
          <p:cNvGrpSpPr/>
          <p:nvPr/>
        </p:nvGrpSpPr>
        <p:grpSpPr>
          <a:xfrm rot="0">
            <a:off x="8633375" y="68090"/>
            <a:ext cx="764313" cy="10287000"/>
            <a:chOff x="0" y="0"/>
            <a:chExt cx="201301" cy="2709333"/>
          </a:xfrm>
        </p:grpSpPr>
        <p:sp>
          <p:nvSpPr>
            <p:cNvPr name="Freeform 18" id="18"/>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19" id="19"/>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sp>
        <p:nvSpPr>
          <p:cNvPr name="TextBox 20" id="2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21</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1849" y="7006156"/>
            <a:ext cx="18449849" cy="3280844"/>
            <a:chOff x="0" y="0"/>
            <a:chExt cx="4859220" cy="864091"/>
          </a:xfrm>
        </p:grpSpPr>
        <p:sp>
          <p:nvSpPr>
            <p:cNvPr name="Freeform 3" id="3"/>
            <p:cNvSpPr/>
            <p:nvPr/>
          </p:nvSpPr>
          <p:spPr>
            <a:xfrm flipH="false" flipV="false" rot="0">
              <a:off x="0" y="0"/>
              <a:ext cx="4859220" cy="864091"/>
            </a:xfrm>
            <a:custGeom>
              <a:avLst/>
              <a:gdLst/>
              <a:ahLst/>
              <a:cxnLst/>
              <a:rect r="r" b="b" t="t" l="l"/>
              <a:pathLst>
                <a:path h="864091" w="4859220">
                  <a:moveTo>
                    <a:pt x="0" y="0"/>
                  </a:moveTo>
                  <a:lnTo>
                    <a:pt x="4859220" y="0"/>
                  </a:lnTo>
                  <a:lnTo>
                    <a:pt x="4859220" y="864091"/>
                  </a:lnTo>
                  <a:lnTo>
                    <a:pt x="0" y="864091"/>
                  </a:lnTo>
                  <a:close/>
                </a:path>
              </a:pathLst>
            </a:custGeom>
            <a:solidFill>
              <a:srgbClr val="004CCF"/>
            </a:solidFill>
          </p:spPr>
        </p:sp>
        <p:sp>
          <p:nvSpPr>
            <p:cNvPr name="TextBox 4" id="4"/>
            <p:cNvSpPr txBox="true"/>
            <p:nvPr/>
          </p:nvSpPr>
          <p:spPr>
            <a:xfrm>
              <a:off x="0" y="-47625"/>
              <a:ext cx="4859220" cy="911716"/>
            </a:xfrm>
            <a:prstGeom prst="rect">
              <a:avLst/>
            </a:prstGeom>
          </p:spPr>
          <p:txBody>
            <a:bodyPr anchor="ctr" rtlCol="false" tIns="50800" lIns="50800" bIns="50800" rIns="50800"/>
            <a:lstStyle/>
            <a:p>
              <a:pPr algn="ctr" marL="0" indent="0" lvl="0">
                <a:lnSpc>
                  <a:spcPts val="2886"/>
                </a:lnSpc>
              </a:pPr>
            </a:p>
          </p:txBody>
        </p:sp>
      </p:grpSp>
      <p:grpSp>
        <p:nvGrpSpPr>
          <p:cNvPr name="Group 5" id="5"/>
          <p:cNvGrpSpPr/>
          <p:nvPr/>
        </p:nvGrpSpPr>
        <p:grpSpPr>
          <a:xfrm rot="0">
            <a:off x="1028700" y="5045679"/>
            <a:ext cx="7889911" cy="4374546"/>
            <a:chOff x="0" y="0"/>
            <a:chExt cx="3007683" cy="1667604"/>
          </a:xfrm>
        </p:grpSpPr>
        <p:sp>
          <p:nvSpPr>
            <p:cNvPr name="Freeform 6" id="6"/>
            <p:cNvSpPr/>
            <p:nvPr/>
          </p:nvSpPr>
          <p:spPr>
            <a:xfrm flipH="false" flipV="false" rot="0">
              <a:off x="0" y="0"/>
              <a:ext cx="3007683" cy="1667604"/>
            </a:xfrm>
            <a:custGeom>
              <a:avLst/>
              <a:gdLst/>
              <a:ahLst/>
              <a:cxnLst/>
              <a:rect r="r" b="b" t="t" l="l"/>
              <a:pathLst>
                <a:path h="1667604" w="3007683">
                  <a:moveTo>
                    <a:pt x="39250" y="0"/>
                  </a:moveTo>
                  <a:lnTo>
                    <a:pt x="2968433" y="0"/>
                  </a:lnTo>
                  <a:cubicBezTo>
                    <a:pt x="2990110" y="0"/>
                    <a:pt x="3007683" y="17573"/>
                    <a:pt x="3007683" y="39250"/>
                  </a:cubicBezTo>
                  <a:lnTo>
                    <a:pt x="3007683" y="1628355"/>
                  </a:lnTo>
                  <a:cubicBezTo>
                    <a:pt x="3007683" y="1638764"/>
                    <a:pt x="3003548" y="1648748"/>
                    <a:pt x="2996187" y="1656108"/>
                  </a:cubicBezTo>
                  <a:cubicBezTo>
                    <a:pt x="2988826" y="1663469"/>
                    <a:pt x="2978843" y="1667604"/>
                    <a:pt x="2968433" y="1667604"/>
                  </a:cubicBezTo>
                  <a:lnTo>
                    <a:pt x="39250" y="1667604"/>
                  </a:lnTo>
                  <a:cubicBezTo>
                    <a:pt x="28840" y="1667604"/>
                    <a:pt x="18857" y="1663469"/>
                    <a:pt x="11496" y="1656108"/>
                  </a:cubicBezTo>
                  <a:cubicBezTo>
                    <a:pt x="4135" y="1648748"/>
                    <a:pt x="0" y="1638764"/>
                    <a:pt x="0" y="1628355"/>
                  </a:cubicBezTo>
                  <a:lnTo>
                    <a:pt x="0" y="39250"/>
                  </a:lnTo>
                  <a:cubicBezTo>
                    <a:pt x="0" y="28840"/>
                    <a:pt x="4135" y="18857"/>
                    <a:pt x="11496" y="11496"/>
                  </a:cubicBezTo>
                  <a:cubicBezTo>
                    <a:pt x="18857" y="4135"/>
                    <a:pt x="28840" y="0"/>
                    <a:pt x="39250" y="0"/>
                  </a:cubicBezTo>
                  <a:close/>
                </a:path>
              </a:pathLst>
            </a:custGeom>
            <a:solidFill>
              <a:srgbClr val="F2F2F2"/>
            </a:solidFill>
          </p:spPr>
        </p:sp>
        <p:sp>
          <p:nvSpPr>
            <p:cNvPr name="TextBox 7" id="7"/>
            <p:cNvSpPr txBox="true"/>
            <p:nvPr/>
          </p:nvSpPr>
          <p:spPr>
            <a:xfrm>
              <a:off x="0" y="-47625"/>
              <a:ext cx="3007683" cy="1715229"/>
            </a:xfrm>
            <a:prstGeom prst="rect">
              <a:avLst/>
            </a:prstGeom>
          </p:spPr>
          <p:txBody>
            <a:bodyPr anchor="ctr" rtlCol="false" tIns="35098" lIns="35098" bIns="35098" rIns="35098"/>
            <a:lstStyle/>
            <a:p>
              <a:pPr algn="ctr" marL="0" indent="0" lvl="0">
                <a:lnSpc>
                  <a:spcPts val="3257"/>
                </a:lnSpc>
              </a:pPr>
            </a:p>
          </p:txBody>
        </p:sp>
      </p:grpSp>
      <p:grpSp>
        <p:nvGrpSpPr>
          <p:cNvPr name="Group 8" id="8"/>
          <p:cNvGrpSpPr/>
          <p:nvPr/>
        </p:nvGrpSpPr>
        <p:grpSpPr>
          <a:xfrm rot="0">
            <a:off x="9309640" y="5045679"/>
            <a:ext cx="7889911" cy="4374546"/>
            <a:chOff x="0" y="0"/>
            <a:chExt cx="3007683" cy="1667604"/>
          </a:xfrm>
        </p:grpSpPr>
        <p:sp>
          <p:nvSpPr>
            <p:cNvPr name="Freeform 9" id="9"/>
            <p:cNvSpPr/>
            <p:nvPr/>
          </p:nvSpPr>
          <p:spPr>
            <a:xfrm flipH="false" flipV="false" rot="0">
              <a:off x="0" y="0"/>
              <a:ext cx="3007683" cy="1667604"/>
            </a:xfrm>
            <a:custGeom>
              <a:avLst/>
              <a:gdLst/>
              <a:ahLst/>
              <a:cxnLst/>
              <a:rect r="r" b="b" t="t" l="l"/>
              <a:pathLst>
                <a:path h="1667604" w="3007683">
                  <a:moveTo>
                    <a:pt x="39250" y="0"/>
                  </a:moveTo>
                  <a:lnTo>
                    <a:pt x="2968433" y="0"/>
                  </a:lnTo>
                  <a:cubicBezTo>
                    <a:pt x="2990110" y="0"/>
                    <a:pt x="3007683" y="17573"/>
                    <a:pt x="3007683" y="39250"/>
                  </a:cubicBezTo>
                  <a:lnTo>
                    <a:pt x="3007683" y="1628355"/>
                  </a:lnTo>
                  <a:cubicBezTo>
                    <a:pt x="3007683" y="1638764"/>
                    <a:pt x="3003548" y="1648748"/>
                    <a:pt x="2996187" y="1656108"/>
                  </a:cubicBezTo>
                  <a:cubicBezTo>
                    <a:pt x="2988826" y="1663469"/>
                    <a:pt x="2978843" y="1667604"/>
                    <a:pt x="2968433" y="1667604"/>
                  </a:cubicBezTo>
                  <a:lnTo>
                    <a:pt x="39250" y="1667604"/>
                  </a:lnTo>
                  <a:cubicBezTo>
                    <a:pt x="28840" y="1667604"/>
                    <a:pt x="18857" y="1663469"/>
                    <a:pt x="11496" y="1656108"/>
                  </a:cubicBezTo>
                  <a:cubicBezTo>
                    <a:pt x="4135" y="1648748"/>
                    <a:pt x="0" y="1638764"/>
                    <a:pt x="0" y="1628355"/>
                  </a:cubicBezTo>
                  <a:lnTo>
                    <a:pt x="0" y="39250"/>
                  </a:lnTo>
                  <a:cubicBezTo>
                    <a:pt x="0" y="28840"/>
                    <a:pt x="4135" y="18857"/>
                    <a:pt x="11496" y="11496"/>
                  </a:cubicBezTo>
                  <a:cubicBezTo>
                    <a:pt x="18857" y="4135"/>
                    <a:pt x="28840" y="0"/>
                    <a:pt x="39250" y="0"/>
                  </a:cubicBezTo>
                  <a:close/>
                </a:path>
              </a:pathLst>
            </a:custGeom>
            <a:solidFill>
              <a:srgbClr val="F2F2F2"/>
            </a:solidFill>
          </p:spPr>
        </p:sp>
        <p:sp>
          <p:nvSpPr>
            <p:cNvPr name="TextBox 10" id="10"/>
            <p:cNvSpPr txBox="true"/>
            <p:nvPr/>
          </p:nvSpPr>
          <p:spPr>
            <a:xfrm>
              <a:off x="0" y="-47625"/>
              <a:ext cx="3007683" cy="1715229"/>
            </a:xfrm>
            <a:prstGeom prst="rect">
              <a:avLst/>
            </a:prstGeom>
          </p:spPr>
          <p:txBody>
            <a:bodyPr anchor="ctr" rtlCol="false" tIns="35098" lIns="35098" bIns="35098" rIns="35098"/>
            <a:lstStyle/>
            <a:p>
              <a:pPr algn="ctr" marL="0" indent="0" lvl="0">
                <a:lnSpc>
                  <a:spcPts val="3257"/>
                </a:lnSpc>
              </a:pPr>
            </a:p>
          </p:txBody>
        </p:sp>
      </p:grpSp>
      <p:sp>
        <p:nvSpPr>
          <p:cNvPr name="TextBox 11" id="11"/>
          <p:cNvSpPr txBox="true"/>
          <p:nvPr/>
        </p:nvSpPr>
        <p:spPr>
          <a:xfrm rot="0">
            <a:off x="1088449" y="1865916"/>
            <a:ext cx="6753342" cy="1423226"/>
          </a:xfrm>
          <a:prstGeom prst="rect">
            <a:avLst/>
          </a:prstGeom>
        </p:spPr>
        <p:txBody>
          <a:bodyPr anchor="t" rtlCol="false" tIns="0" lIns="0" bIns="0" rIns="0">
            <a:spAutoFit/>
          </a:bodyPr>
          <a:lstStyle/>
          <a:p>
            <a:pPr algn="l" marL="0" indent="0" lvl="0">
              <a:lnSpc>
                <a:spcPts val="5504"/>
              </a:lnSpc>
              <a:spcBef>
                <a:spcPct val="0"/>
              </a:spcBef>
            </a:pPr>
            <a:r>
              <a:rPr lang="en-US" b="true" sz="5193">
                <a:solidFill>
                  <a:srgbClr val="004CCF"/>
                </a:solidFill>
                <a:latin typeface="Aileron Ultra-Bold"/>
                <a:ea typeface="Aileron Ultra-Bold"/>
                <a:cs typeface="Aileron Ultra-Bold"/>
                <a:sym typeface="Aileron Ultra-Bold"/>
              </a:rPr>
              <a:t>Imputation des Valeurs Manquantes</a:t>
            </a:r>
          </a:p>
        </p:txBody>
      </p:sp>
      <p:sp>
        <p:nvSpPr>
          <p:cNvPr name="TextBox 12" id="12"/>
          <p:cNvSpPr txBox="true"/>
          <p:nvPr/>
        </p:nvSpPr>
        <p:spPr>
          <a:xfrm rot="0">
            <a:off x="1088449" y="3494069"/>
            <a:ext cx="16111101" cy="701675"/>
          </a:xfrm>
          <a:prstGeom prst="rect">
            <a:avLst/>
          </a:prstGeom>
        </p:spPr>
        <p:txBody>
          <a:bodyPr anchor="t" rtlCol="false" tIns="0" lIns="0" bIns="0" rIns="0">
            <a:spAutoFit/>
          </a:bodyPr>
          <a:lstStyle/>
          <a:p>
            <a:pPr algn="just" marL="0" indent="0" lvl="0">
              <a:lnSpc>
                <a:spcPts val="2799"/>
              </a:lnSpc>
            </a:pPr>
            <a:r>
              <a:rPr lang="en-US" sz="1999">
                <a:solidFill>
                  <a:srgbClr val="000000"/>
                </a:solidFill>
                <a:latin typeface="Public Sans"/>
                <a:ea typeface="Public Sans"/>
                <a:cs typeface="Public Sans"/>
                <a:sym typeface="Public Sans"/>
              </a:rPr>
              <a:t>Le remplacement des valeurs manquantes est une étape cruciale du prétraitement. Deux variables nécessitent une imputation dans notre jeu de données, chacune avec une stratégie adaptée à sa nature et à son contexte métier.</a:t>
            </a:r>
          </a:p>
        </p:txBody>
      </p:sp>
      <p:sp>
        <p:nvSpPr>
          <p:cNvPr name="TextBox 13" id="13"/>
          <p:cNvSpPr txBox="true"/>
          <p:nvPr/>
        </p:nvSpPr>
        <p:spPr>
          <a:xfrm rot="0">
            <a:off x="1373742" y="5938052"/>
            <a:ext cx="7180777" cy="3431141"/>
          </a:xfrm>
          <a:prstGeom prst="rect">
            <a:avLst/>
          </a:prstGeom>
        </p:spPr>
        <p:txBody>
          <a:bodyPr anchor="t" rtlCol="false" tIns="0" lIns="0" bIns="0" rIns="0">
            <a:spAutoFit/>
          </a:bodyPr>
          <a:lstStyle/>
          <a:p>
            <a:pPr algn="just" marL="0" indent="0" lvl="0">
              <a:lnSpc>
                <a:spcPts val="3031"/>
              </a:lnSpc>
              <a:spcBef>
                <a:spcPct val="0"/>
              </a:spcBef>
            </a:pPr>
            <a:r>
              <a:rPr lang="en-US" sz="2165">
                <a:solidFill>
                  <a:srgbClr val="000000"/>
                </a:solidFill>
                <a:latin typeface="Public Sans"/>
                <a:ea typeface="Public Sans"/>
                <a:cs typeface="Public Sans"/>
                <a:sym typeface="Public Sans"/>
              </a:rPr>
              <a:t>• Stratégie : Imputation par la médiane</a:t>
            </a:r>
          </a:p>
          <a:p>
            <a:pPr algn="just">
              <a:lnSpc>
                <a:spcPts val="3031"/>
              </a:lnSpc>
              <a:spcBef>
                <a:spcPct val="0"/>
              </a:spcBef>
            </a:pPr>
            <a:r>
              <a:rPr lang="en-US" sz="2165">
                <a:solidFill>
                  <a:srgbClr val="000000"/>
                </a:solidFill>
                <a:latin typeface="Public Sans"/>
                <a:ea typeface="Public Sans"/>
                <a:cs typeface="Public Sans"/>
                <a:sym typeface="Public Sans"/>
              </a:rPr>
              <a:t>• Justification : </a:t>
            </a:r>
            <a:r>
              <a:rPr lang="en-US" sz="2165">
                <a:solidFill>
                  <a:srgbClr val="000000"/>
                </a:solidFill>
                <a:latin typeface="Public Sans"/>
                <a:ea typeface="Public Sans"/>
                <a:cs typeface="Public Sans"/>
                <a:sym typeface="Public Sans"/>
              </a:rPr>
              <a:t>La médiane est robuste aux valeurs aberrantes (contrairement à la moyenne)</a:t>
            </a:r>
          </a:p>
          <a:p>
            <a:pPr algn="just" marL="0" indent="0" lvl="0">
              <a:lnSpc>
                <a:spcPts val="3031"/>
              </a:lnSpc>
              <a:spcBef>
                <a:spcPct val="0"/>
              </a:spcBef>
            </a:pPr>
            <a:r>
              <a:rPr lang="en-US" sz="2165">
                <a:solidFill>
                  <a:srgbClr val="000000"/>
                </a:solidFill>
                <a:latin typeface="Public Sans"/>
                <a:ea typeface="Public Sans"/>
                <a:cs typeface="Public Sans"/>
                <a:sym typeface="Public Sans"/>
              </a:rPr>
              <a:t>• Résultat : Valeur imputée ≈ 49 ans</a:t>
            </a:r>
          </a:p>
          <a:p>
            <a:pPr algn="just" marL="0" indent="0" lvl="0">
              <a:lnSpc>
                <a:spcPts val="3031"/>
              </a:lnSpc>
              <a:spcBef>
                <a:spcPct val="0"/>
              </a:spcBef>
            </a:pPr>
            <a:r>
              <a:rPr lang="en-US" sz="2165">
                <a:solidFill>
                  <a:srgbClr val="000000"/>
                </a:solidFill>
                <a:latin typeface="Public Sans"/>
                <a:ea typeface="Public Sans"/>
                <a:cs typeface="Public Sans"/>
                <a:sym typeface="Public Sans"/>
              </a:rPr>
              <a:t>• Avantage : Préserve la distribution centrale sans être influencée par les âges extrêmes</a:t>
            </a:r>
          </a:p>
          <a:p>
            <a:pPr algn="just" marL="0" indent="0" lvl="0">
              <a:lnSpc>
                <a:spcPts val="3031"/>
              </a:lnSpc>
              <a:spcBef>
                <a:spcPct val="0"/>
              </a:spcBef>
            </a:pPr>
            <a:r>
              <a:rPr lang="en-US" sz="2165">
                <a:solidFill>
                  <a:srgbClr val="000000"/>
                </a:solidFill>
                <a:latin typeface="Public Sans"/>
                <a:ea typeface="Public Sans"/>
                <a:cs typeface="Public Sans"/>
                <a:sym typeface="Public Sans"/>
              </a:rPr>
              <a:t> ('imputer', </a:t>
            </a:r>
            <a:r>
              <a:rPr lang="en-US" b="true" sz="2165">
                <a:solidFill>
                  <a:srgbClr val="000000"/>
                </a:solidFill>
                <a:latin typeface="Public Sans Bold"/>
                <a:ea typeface="Public Sans Bold"/>
                <a:cs typeface="Public Sans Bold"/>
                <a:sym typeface="Public Sans Bold"/>
              </a:rPr>
              <a:t>SimpleImputer</a:t>
            </a:r>
            <a:r>
              <a:rPr lang="en-US" sz="2165">
                <a:solidFill>
                  <a:srgbClr val="000000"/>
                </a:solidFill>
                <a:latin typeface="Public Sans"/>
                <a:ea typeface="Public Sans"/>
                <a:cs typeface="Public Sans"/>
                <a:sym typeface="Public Sans"/>
              </a:rPr>
              <a:t>(</a:t>
            </a:r>
            <a:r>
              <a:rPr lang="en-US" b="true" sz="2165">
                <a:solidFill>
                  <a:srgbClr val="000000"/>
                </a:solidFill>
                <a:latin typeface="Public Sans Bold"/>
                <a:ea typeface="Public Sans Bold"/>
                <a:cs typeface="Public Sans Bold"/>
                <a:sym typeface="Public Sans Bold"/>
              </a:rPr>
              <a:t>strategy</a:t>
            </a:r>
            <a:r>
              <a:rPr lang="en-US" sz="2165">
                <a:solidFill>
                  <a:srgbClr val="000000"/>
                </a:solidFill>
                <a:latin typeface="Public Sans"/>
                <a:ea typeface="Public Sans"/>
                <a:cs typeface="Public Sans"/>
                <a:sym typeface="Public Sans"/>
              </a:rPr>
              <a:t>='median')),</a:t>
            </a:r>
          </a:p>
          <a:p>
            <a:pPr algn="just" marL="0" indent="0" lvl="0">
              <a:lnSpc>
                <a:spcPts val="3031"/>
              </a:lnSpc>
              <a:spcBef>
                <a:spcPct val="0"/>
              </a:spcBef>
            </a:pPr>
          </a:p>
          <a:p>
            <a:pPr algn="just" marL="0" indent="0" lvl="0">
              <a:lnSpc>
                <a:spcPts val="3031"/>
              </a:lnSpc>
              <a:spcBef>
                <a:spcPct val="0"/>
              </a:spcBef>
            </a:pPr>
          </a:p>
        </p:txBody>
      </p:sp>
      <p:sp>
        <p:nvSpPr>
          <p:cNvPr name="TextBox 14" id="14"/>
          <p:cNvSpPr txBox="true"/>
          <p:nvPr/>
        </p:nvSpPr>
        <p:spPr>
          <a:xfrm rot="0">
            <a:off x="1373742" y="5249460"/>
            <a:ext cx="7180777" cy="457163"/>
          </a:xfrm>
          <a:prstGeom prst="rect">
            <a:avLst/>
          </a:prstGeom>
        </p:spPr>
        <p:txBody>
          <a:bodyPr anchor="t" rtlCol="false" tIns="0" lIns="0" bIns="0" rIns="0">
            <a:spAutoFit/>
          </a:bodyPr>
          <a:lstStyle/>
          <a:p>
            <a:pPr algn="just" marL="0" indent="0" lvl="0">
              <a:lnSpc>
                <a:spcPts val="3665"/>
              </a:lnSpc>
            </a:pPr>
            <a:r>
              <a:rPr lang="en-US" b="true" sz="2618">
                <a:solidFill>
                  <a:srgbClr val="004CCF"/>
                </a:solidFill>
                <a:latin typeface="Public Sans Bold"/>
                <a:ea typeface="Public Sans Bold"/>
                <a:cs typeface="Public Sans Bold"/>
                <a:sym typeface="Public Sans Bold"/>
              </a:rPr>
              <a:t>Age (30% manquant)</a:t>
            </a:r>
          </a:p>
        </p:txBody>
      </p:sp>
      <p:sp>
        <p:nvSpPr>
          <p:cNvPr name="TextBox 15" id="15"/>
          <p:cNvSpPr txBox="true"/>
          <p:nvPr/>
        </p:nvSpPr>
        <p:spPr>
          <a:xfrm rot="0">
            <a:off x="9654682" y="5938052"/>
            <a:ext cx="7180777" cy="3087892"/>
          </a:xfrm>
          <a:prstGeom prst="rect">
            <a:avLst/>
          </a:prstGeom>
        </p:spPr>
        <p:txBody>
          <a:bodyPr anchor="t" rtlCol="false" tIns="0" lIns="0" bIns="0" rIns="0">
            <a:spAutoFit/>
          </a:bodyPr>
          <a:lstStyle/>
          <a:p>
            <a:pPr algn="just" marL="0" indent="0" lvl="0">
              <a:lnSpc>
                <a:spcPts val="3065"/>
              </a:lnSpc>
              <a:spcBef>
                <a:spcPct val="0"/>
              </a:spcBef>
            </a:pPr>
            <a:r>
              <a:rPr lang="en-US" sz="2189">
                <a:solidFill>
                  <a:srgbClr val="000000"/>
                </a:solidFill>
                <a:latin typeface="Public Sans"/>
                <a:ea typeface="Public Sans"/>
                <a:cs typeface="Public Sans"/>
                <a:sym typeface="Public Sans"/>
              </a:rPr>
              <a:t>• Stratégie : Imputation par 0</a:t>
            </a:r>
          </a:p>
          <a:p>
            <a:pPr algn="just" marL="0" indent="0" lvl="0">
              <a:lnSpc>
                <a:spcPts val="3065"/>
              </a:lnSpc>
              <a:spcBef>
                <a:spcPct val="0"/>
              </a:spcBef>
            </a:pPr>
            <a:r>
              <a:rPr lang="en-US" sz="2189">
                <a:solidFill>
                  <a:srgbClr val="000000"/>
                </a:solidFill>
                <a:latin typeface="Public Sans"/>
                <a:ea typeface="Public Sans"/>
                <a:cs typeface="Public Sans"/>
                <a:sym typeface="Public Sans"/>
              </a:rPr>
              <a:t>• Justification :</a:t>
            </a:r>
          </a:p>
          <a:p>
            <a:pPr algn="just" marL="472685" indent="-236343" lvl="1">
              <a:lnSpc>
                <a:spcPts val="3065"/>
              </a:lnSpc>
              <a:spcBef>
                <a:spcPct val="0"/>
              </a:spcBef>
              <a:buFont typeface="Arial"/>
              <a:buChar char="•"/>
            </a:pPr>
            <a:r>
              <a:rPr lang="en-US" sz="2189">
                <a:solidFill>
                  <a:srgbClr val="000000"/>
                </a:solidFill>
                <a:latin typeface="Public Sans"/>
                <a:ea typeface="Public Sans"/>
                <a:cs typeface="Public Sans"/>
                <a:sym typeface="Public Sans"/>
              </a:rPr>
              <a:t>Valeurs indéfinies pour les clients avec un seul achat</a:t>
            </a:r>
          </a:p>
          <a:p>
            <a:pPr algn="just" marL="472685" indent="-236343" lvl="1">
              <a:lnSpc>
                <a:spcPts val="3065"/>
              </a:lnSpc>
              <a:spcBef>
                <a:spcPct val="0"/>
              </a:spcBef>
              <a:buFont typeface="Arial"/>
              <a:buChar char="•"/>
            </a:pPr>
            <a:r>
              <a:rPr lang="en-US" sz="2189">
                <a:solidFill>
                  <a:srgbClr val="000000"/>
                </a:solidFill>
                <a:latin typeface="Public Sans"/>
                <a:ea typeface="Public Sans"/>
                <a:cs typeface="Public Sans"/>
                <a:sym typeface="Public Sans"/>
              </a:rPr>
              <a:t>Pas d'intervalle entre achats = 0 jours</a:t>
            </a:r>
          </a:p>
          <a:p>
            <a:pPr algn="just" marL="0" indent="0" lvl="0">
              <a:lnSpc>
                <a:spcPts val="3065"/>
              </a:lnSpc>
              <a:spcBef>
                <a:spcPct val="0"/>
              </a:spcBef>
            </a:pPr>
            <a:r>
              <a:rPr lang="en-US" sz="2189">
                <a:solidFill>
                  <a:srgbClr val="000000"/>
                </a:solidFill>
                <a:latin typeface="Public Sans"/>
                <a:ea typeface="Public Sans"/>
                <a:cs typeface="Public Sans"/>
                <a:sym typeface="Public Sans"/>
              </a:rPr>
              <a:t>• Résultat : Sémantiquement correct</a:t>
            </a:r>
          </a:p>
          <a:p>
            <a:pPr algn="just" marL="0" indent="0" lvl="0">
              <a:lnSpc>
                <a:spcPts val="3065"/>
              </a:lnSpc>
              <a:spcBef>
                <a:spcPct val="0"/>
              </a:spcBef>
            </a:pPr>
            <a:r>
              <a:rPr lang="en-US" sz="2189">
                <a:solidFill>
                  <a:srgbClr val="000000"/>
                </a:solidFill>
                <a:latin typeface="Public Sans"/>
                <a:ea typeface="Public Sans"/>
                <a:cs typeface="Public Sans"/>
                <a:sym typeface="Public Sans"/>
              </a:rPr>
              <a:t>• Avantage : Reflète la réalité métier plutôt qu'une estimation statistique arbitraire</a:t>
            </a:r>
          </a:p>
        </p:txBody>
      </p:sp>
      <p:sp>
        <p:nvSpPr>
          <p:cNvPr name="TextBox 16" id="16"/>
          <p:cNvSpPr txBox="true"/>
          <p:nvPr/>
        </p:nvSpPr>
        <p:spPr>
          <a:xfrm rot="0">
            <a:off x="9654682" y="5249460"/>
            <a:ext cx="7180777" cy="457163"/>
          </a:xfrm>
          <a:prstGeom prst="rect">
            <a:avLst/>
          </a:prstGeom>
        </p:spPr>
        <p:txBody>
          <a:bodyPr anchor="t" rtlCol="false" tIns="0" lIns="0" bIns="0" rIns="0">
            <a:spAutoFit/>
          </a:bodyPr>
          <a:lstStyle/>
          <a:p>
            <a:pPr algn="just" marL="0" indent="0" lvl="0">
              <a:lnSpc>
                <a:spcPts val="3665"/>
              </a:lnSpc>
            </a:pPr>
            <a:r>
              <a:rPr lang="en-US" b="true" sz="2618">
                <a:solidFill>
                  <a:srgbClr val="004CCF"/>
                </a:solidFill>
                <a:latin typeface="Public Sans Bold"/>
                <a:ea typeface="Public Sans Bold"/>
                <a:cs typeface="Public Sans Bold"/>
                <a:sym typeface="Public Sans Bold"/>
              </a:rPr>
              <a:t>AvgDaysBetweenPurchases (1.8% manquant)</a:t>
            </a:r>
          </a:p>
        </p:txBody>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22</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906974" y="7232491"/>
            <a:ext cx="11658757" cy="116587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2F2"/>
            </a:soli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marL="0" indent="0" lvl="0">
                <a:lnSpc>
                  <a:spcPts val="3258"/>
                </a:lnSpc>
              </a:pPr>
            </a:p>
          </p:txBody>
        </p:sp>
      </p:grpSp>
      <p:grpSp>
        <p:nvGrpSpPr>
          <p:cNvPr name="Group 5" id="5"/>
          <p:cNvGrpSpPr/>
          <p:nvPr/>
        </p:nvGrpSpPr>
        <p:grpSpPr>
          <a:xfrm rot="0">
            <a:off x="12785091" y="9626600"/>
            <a:ext cx="1686526" cy="168652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B8F6"/>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marL="0" indent="0" lvl="0">
                <a:lnSpc>
                  <a:spcPts val="3258"/>
                </a:lnSpc>
              </a:pPr>
            </a:p>
          </p:txBody>
        </p:sp>
      </p:grpSp>
      <p:sp>
        <p:nvSpPr>
          <p:cNvPr name="TextBox 8" id="8"/>
          <p:cNvSpPr txBox="true"/>
          <p:nvPr/>
        </p:nvSpPr>
        <p:spPr>
          <a:xfrm rot="0">
            <a:off x="1028700" y="1076325"/>
            <a:ext cx="7656288" cy="566886"/>
          </a:xfrm>
          <a:prstGeom prst="rect">
            <a:avLst/>
          </a:prstGeom>
        </p:spPr>
        <p:txBody>
          <a:bodyPr anchor="t" rtlCol="false" tIns="0" lIns="0" bIns="0" rIns="0">
            <a:spAutoFit/>
          </a:bodyPr>
          <a:lstStyle/>
          <a:p>
            <a:pPr algn="l" marL="0" indent="0" lvl="0">
              <a:lnSpc>
                <a:spcPts val="4341"/>
              </a:lnSpc>
              <a:spcBef>
                <a:spcPct val="0"/>
              </a:spcBef>
            </a:pPr>
            <a:r>
              <a:rPr lang="en-US" b="true" sz="4095">
                <a:solidFill>
                  <a:srgbClr val="004CCF"/>
                </a:solidFill>
                <a:latin typeface="Aileron Ultra-Bold"/>
                <a:ea typeface="Aileron Ultra-Bold"/>
                <a:cs typeface="Aileron Ultra-Bold"/>
                <a:sym typeface="Aileron Ultra-Bold"/>
              </a:rPr>
              <a:t>Appli</a:t>
            </a:r>
            <a:r>
              <a:rPr lang="en-US" b="true" sz="4095">
                <a:solidFill>
                  <a:srgbClr val="004CCF"/>
                </a:solidFill>
                <a:latin typeface="Aileron Ultra-Bold"/>
                <a:ea typeface="Aileron Ultra-Bold"/>
                <a:cs typeface="Aileron Ultra-Bold"/>
                <a:sym typeface="Aileron Ultra-Bold"/>
              </a:rPr>
              <a:t>cation du pipeline</a:t>
            </a:r>
          </a:p>
        </p:txBody>
      </p:sp>
      <p:sp>
        <p:nvSpPr>
          <p:cNvPr name="TextBox 9" id="9"/>
          <p:cNvSpPr txBox="true"/>
          <p:nvPr/>
        </p:nvSpPr>
        <p:spPr>
          <a:xfrm rot="0">
            <a:off x="1028700" y="2130434"/>
            <a:ext cx="6848333" cy="3515995"/>
          </a:xfrm>
          <a:prstGeom prst="rect">
            <a:avLst/>
          </a:prstGeom>
        </p:spPr>
        <p:txBody>
          <a:bodyPr anchor="t" rtlCol="false" tIns="0" lIns="0" bIns="0" rIns="0">
            <a:spAutoFit/>
          </a:bodyPr>
          <a:lstStyle/>
          <a:p>
            <a:pPr algn="just" marL="0" indent="0" lvl="0">
              <a:lnSpc>
                <a:spcPts val="3079"/>
              </a:lnSpc>
            </a:pPr>
            <a:r>
              <a:rPr lang="en-US" sz="2199">
                <a:solidFill>
                  <a:srgbClr val="000000"/>
                </a:solidFill>
                <a:latin typeface="Public Sans"/>
                <a:ea typeface="Public Sans"/>
                <a:cs typeface="Public Sans"/>
                <a:sym typeface="Public Sans"/>
              </a:rPr>
              <a:t>train  : </a:t>
            </a:r>
            <a:r>
              <a:rPr lang="en-US" b="true" sz="2199">
                <a:solidFill>
                  <a:srgbClr val="000000"/>
                </a:solidFill>
                <a:latin typeface="Public Sans Bold"/>
                <a:ea typeface="Public Sans Bold"/>
                <a:cs typeface="Public Sans Bold"/>
                <a:sym typeface="Public Sans Bold"/>
              </a:rPr>
              <a:t>fit_transform</a:t>
            </a:r>
            <a:r>
              <a:rPr lang="en-US" sz="2199">
                <a:solidFill>
                  <a:srgbClr val="000000"/>
                </a:solidFill>
                <a:latin typeface="Public Sans"/>
                <a:ea typeface="Public Sans"/>
                <a:cs typeface="Public Sans"/>
                <a:sym typeface="Public Sans"/>
              </a:rPr>
              <a:t>(X_train) : apprend les paramètres du preprocessingsur les données d’entraînement puis les applique.</a:t>
            </a:r>
          </a:p>
          <a:p>
            <a:pPr algn="just" marL="0" indent="0" lvl="0">
              <a:lnSpc>
                <a:spcPts val="3079"/>
              </a:lnSpc>
            </a:pPr>
          </a:p>
          <a:p>
            <a:pPr algn="just" marL="0" indent="0" lvl="0">
              <a:lnSpc>
                <a:spcPts val="3079"/>
              </a:lnSpc>
            </a:pPr>
            <a:r>
              <a:rPr lang="en-US" sz="2199">
                <a:solidFill>
                  <a:srgbClr val="000000"/>
                </a:solidFill>
                <a:latin typeface="Public Sans"/>
                <a:ea typeface="Public Sans"/>
                <a:cs typeface="Public Sans"/>
                <a:sym typeface="Public Sans"/>
              </a:rPr>
              <a:t>test : </a:t>
            </a:r>
            <a:r>
              <a:rPr lang="en-US" b="true" sz="2199">
                <a:solidFill>
                  <a:srgbClr val="000000"/>
                </a:solidFill>
                <a:latin typeface="Public Sans Bold"/>
                <a:ea typeface="Public Sans Bold"/>
                <a:cs typeface="Public Sans Bold"/>
                <a:sym typeface="Public Sans Bold"/>
              </a:rPr>
              <a:t>transform</a:t>
            </a:r>
            <a:r>
              <a:rPr lang="en-US" sz="2199">
                <a:solidFill>
                  <a:srgbClr val="000000"/>
                </a:solidFill>
                <a:latin typeface="Public Sans"/>
                <a:ea typeface="Public Sans"/>
                <a:cs typeface="Public Sans"/>
                <a:sym typeface="Public Sans"/>
              </a:rPr>
              <a:t>(X_test) : applique exactement les mêmes transformations apprises sur le train aux données de test, sans réapprendre.</a:t>
            </a:r>
          </a:p>
          <a:p>
            <a:pPr algn="just" marL="0" indent="0" lvl="0">
              <a:lnSpc>
                <a:spcPts val="3079"/>
              </a:lnSpc>
            </a:pPr>
          </a:p>
          <a:p>
            <a:pPr algn="just" marL="0" indent="0" lvl="0">
              <a:lnSpc>
                <a:spcPts val="3079"/>
              </a:lnSpc>
            </a:pPr>
          </a:p>
        </p:txBody>
      </p:sp>
      <p:sp>
        <p:nvSpPr>
          <p:cNvPr name="TextBox 10" id="10"/>
          <p:cNvSpPr txBox="true"/>
          <p:nvPr/>
        </p:nvSpPr>
        <p:spPr>
          <a:xfrm rot="0">
            <a:off x="9603012" y="1076325"/>
            <a:ext cx="7656288" cy="566886"/>
          </a:xfrm>
          <a:prstGeom prst="rect">
            <a:avLst/>
          </a:prstGeom>
        </p:spPr>
        <p:txBody>
          <a:bodyPr anchor="t" rtlCol="false" tIns="0" lIns="0" bIns="0" rIns="0">
            <a:spAutoFit/>
          </a:bodyPr>
          <a:lstStyle/>
          <a:p>
            <a:pPr algn="l" marL="0" indent="0" lvl="0">
              <a:lnSpc>
                <a:spcPts val="4341"/>
              </a:lnSpc>
              <a:spcBef>
                <a:spcPct val="0"/>
              </a:spcBef>
            </a:pPr>
            <a:r>
              <a:rPr lang="en-US" b="true" sz="4095">
                <a:solidFill>
                  <a:srgbClr val="004CCF"/>
                </a:solidFill>
                <a:latin typeface="Aileron Ultra-Bold"/>
                <a:ea typeface="Aileron Ultra-Bold"/>
                <a:cs typeface="Aileron Ultra-Bold"/>
                <a:sym typeface="Aileron Ultra-Bold"/>
              </a:rPr>
              <a:t>Sa</a:t>
            </a:r>
            <a:r>
              <a:rPr lang="en-US" b="true" sz="4095">
                <a:solidFill>
                  <a:srgbClr val="004CCF"/>
                </a:solidFill>
                <a:latin typeface="Aileron Ultra-Bold"/>
                <a:ea typeface="Aileron Ultra-Bold"/>
                <a:cs typeface="Aileron Ultra-Bold"/>
                <a:sym typeface="Aileron Ultra-Bold"/>
              </a:rPr>
              <a:t>uvegarde datasets finaux</a:t>
            </a:r>
          </a:p>
        </p:txBody>
      </p:sp>
      <p:sp>
        <p:nvSpPr>
          <p:cNvPr name="TextBox 11" id="11"/>
          <p:cNvSpPr txBox="true"/>
          <p:nvPr/>
        </p:nvSpPr>
        <p:spPr>
          <a:xfrm rot="0">
            <a:off x="1028700" y="5694054"/>
            <a:ext cx="7656288" cy="566886"/>
          </a:xfrm>
          <a:prstGeom prst="rect">
            <a:avLst/>
          </a:prstGeom>
        </p:spPr>
        <p:txBody>
          <a:bodyPr anchor="t" rtlCol="false" tIns="0" lIns="0" bIns="0" rIns="0">
            <a:spAutoFit/>
          </a:bodyPr>
          <a:lstStyle/>
          <a:p>
            <a:pPr algn="l" marL="0" indent="0" lvl="0">
              <a:lnSpc>
                <a:spcPts val="4341"/>
              </a:lnSpc>
              <a:spcBef>
                <a:spcPct val="0"/>
              </a:spcBef>
            </a:pPr>
            <a:r>
              <a:rPr lang="en-US" b="true" sz="4095">
                <a:solidFill>
                  <a:srgbClr val="004CCF"/>
                </a:solidFill>
                <a:latin typeface="Aileron Ultra-Bold"/>
                <a:ea typeface="Aileron Ultra-Bold"/>
                <a:cs typeface="Aileron Ultra-Bold"/>
                <a:sym typeface="Aileron Ultra-Bold"/>
              </a:rPr>
              <a:t>SMOTE (</a:t>
            </a:r>
            <a:r>
              <a:rPr lang="en-US" b="true" sz="4095">
                <a:solidFill>
                  <a:srgbClr val="004CCF"/>
                </a:solidFill>
                <a:latin typeface="Aileron Ultra-Bold"/>
                <a:ea typeface="Aileron Ultra-Bold"/>
                <a:cs typeface="Aileron Ultra-Bold"/>
                <a:sym typeface="Aileron Ultra-Bold"/>
              </a:rPr>
              <a:t>équilibrage classes)</a:t>
            </a:r>
          </a:p>
        </p:txBody>
      </p:sp>
      <p:sp>
        <p:nvSpPr>
          <p:cNvPr name="TextBox 12" id="12"/>
          <p:cNvSpPr txBox="true"/>
          <p:nvPr/>
        </p:nvSpPr>
        <p:spPr>
          <a:xfrm rot="0">
            <a:off x="9603660" y="5598804"/>
            <a:ext cx="7656288" cy="566886"/>
          </a:xfrm>
          <a:prstGeom prst="rect">
            <a:avLst/>
          </a:prstGeom>
        </p:spPr>
        <p:txBody>
          <a:bodyPr anchor="t" rtlCol="false" tIns="0" lIns="0" bIns="0" rIns="0">
            <a:spAutoFit/>
          </a:bodyPr>
          <a:lstStyle/>
          <a:p>
            <a:pPr algn="l" marL="0" indent="0" lvl="0">
              <a:lnSpc>
                <a:spcPts val="4341"/>
              </a:lnSpc>
              <a:spcBef>
                <a:spcPct val="0"/>
              </a:spcBef>
            </a:pPr>
            <a:r>
              <a:rPr lang="en-US" b="true" sz="4095">
                <a:solidFill>
                  <a:srgbClr val="004CCF"/>
                </a:solidFill>
                <a:latin typeface="Aileron Ultra-Bold"/>
                <a:ea typeface="Aileron Ultra-Bold"/>
                <a:cs typeface="Aileron Ultra-Bold"/>
                <a:sym typeface="Aileron Ultra-Bold"/>
              </a:rPr>
              <a:t> Sa</a:t>
            </a:r>
            <a:r>
              <a:rPr lang="en-US" b="true" sz="4095">
                <a:solidFill>
                  <a:srgbClr val="004CCF"/>
                </a:solidFill>
                <a:latin typeface="Aileron Ultra-Bold"/>
                <a:ea typeface="Aileron Ultra-Bold"/>
                <a:cs typeface="Aileron Ultra-Bold"/>
                <a:sym typeface="Aileron Ultra-Bold"/>
              </a:rPr>
              <a:t>uvegarde pipeline</a:t>
            </a:r>
          </a:p>
        </p:txBody>
      </p:sp>
      <p:sp>
        <p:nvSpPr>
          <p:cNvPr name="TextBox 13" id="13"/>
          <p:cNvSpPr txBox="true"/>
          <p:nvPr/>
        </p:nvSpPr>
        <p:spPr>
          <a:xfrm rot="0">
            <a:off x="1204458" y="6604030"/>
            <a:ext cx="6848333" cy="2734945"/>
          </a:xfrm>
          <a:prstGeom prst="rect">
            <a:avLst/>
          </a:prstGeom>
        </p:spPr>
        <p:txBody>
          <a:bodyPr anchor="t" rtlCol="false" tIns="0" lIns="0" bIns="0" rIns="0">
            <a:spAutoFit/>
          </a:bodyPr>
          <a:lstStyle/>
          <a:p>
            <a:pPr algn="just" marL="0" indent="0" lvl="0">
              <a:lnSpc>
                <a:spcPts val="3079"/>
              </a:lnSpc>
            </a:pPr>
            <a:r>
              <a:rPr lang="en-US" b="true" sz="2199">
                <a:solidFill>
                  <a:srgbClr val="000000"/>
                </a:solidFill>
                <a:latin typeface="Public Sans Bold"/>
                <a:ea typeface="Public Sans Bold"/>
                <a:cs typeface="Public Sans Bold"/>
                <a:sym typeface="Public Sans Bold"/>
              </a:rPr>
              <a:t>SMOTE.</a:t>
            </a:r>
            <a:r>
              <a:rPr lang="en-US" b="true" sz="2199">
                <a:solidFill>
                  <a:srgbClr val="000000"/>
                </a:solidFill>
                <a:latin typeface="Public Sans Bold"/>
                <a:ea typeface="Public Sans Bold"/>
                <a:cs typeface="Public Sans Bold"/>
                <a:sym typeface="Public Sans Bold"/>
              </a:rPr>
              <a:t>fit_resample() : </a:t>
            </a:r>
            <a:r>
              <a:rPr lang="en-US" sz="2199">
                <a:solidFill>
                  <a:srgbClr val="000000"/>
                </a:solidFill>
                <a:latin typeface="Public Sans"/>
                <a:ea typeface="Public Sans"/>
                <a:cs typeface="Public Sans"/>
                <a:sym typeface="Public Sans"/>
              </a:rPr>
              <a:t>sert à équilibrer</a:t>
            </a:r>
            <a:r>
              <a:rPr lang="en-US" sz="2199">
                <a:solidFill>
                  <a:srgbClr val="000000"/>
                </a:solidFill>
                <a:latin typeface="Public Sans"/>
                <a:ea typeface="Public Sans"/>
                <a:cs typeface="Public Sans"/>
                <a:sym typeface="Public Sans"/>
              </a:rPr>
              <a:t> les cl</a:t>
            </a:r>
            <a:r>
              <a:rPr lang="en-US" sz="2199">
                <a:solidFill>
                  <a:srgbClr val="000000"/>
                </a:solidFill>
                <a:latin typeface="Public Sans"/>
                <a:ea typeface="Public Sans"/>
                <a:cs typeface="Public Sans"/>
                <a:sym typeface="Public Sans"/>
              </a:rPr>
              <a:t>as</a:t>
            </a:r>
            <a:r>
              <a:rPr lang="en-US" sz="2199">
                <a:solidFill>
                  <a:srgbClr val="000000"/>
                </a:solidFill>
                <a:latin typeface="Public Sans"/>
                <a:ea typeface="Public Sans"/>
                <a:cs typeface="Public Sans"/>
                <a:sym typeface="Public Sans"/>
              </a:rPr>
              <a:t>s</a:t>
            </a:r>
            <a:r>
              <a:rPr lang="en-US" sz="2199">
                <a:solidFill>
                  <a:srgbClr val="000000"/>
                </a:solidFill>
                <a:latin typeface="Public Sans"/>
                <a:ea typeface="Public Sans"/>
                <a:cs typeface="Public Sans"/>
                <a:sym typeface="Public Sans"/>
              </a:rPr>
              <a:t>es en générant de nouveaux exemples synthétiques de la classe minoritaire afin d’éviter le déséquilibre des données.  (churn 67% fidèles / 33% ) aprés smote : Train rééquilibré : 50% / 50%</a:t>
            </a:r>
          </a:p>
          <a:p>
            <a:pPr algn="just" marL="0" indent="0" lvl="0">
              <a:lnSpc>
                <a:spcPts val="3079"/>
              </a:lnSpc>
            </a:pPr>
          </a:p>
          <a:p>
            <a:pPr algn="just" marL="0" indent="0" lvl="0">
              <a:lnSpc>
                <a:spcPts val="3079"/>
              </a:lnSpc>
            </a:pPr>
          </a:p>
        </p:txBody>
      </p:sp>
      <p:sp>
        <p:nvSpPr>
          <p:cNvPr name="TextBox 14" id="14"/>
          <p:cNvSpPr txBox="true"/>
          <p:nvPr/>
        </p:nvSpPr>
        <p:spPr>
          <a:xfrm rot="0">
            <a:off x="9825105" y="1835159"/>
            <a:ext cx="6848333" cy="2344420"/>
          </a:xfrm>
          <a:prstGeom prst="rect">
            <a:avLst/>
          </a:prstGeom>
        </p:spPr>
        <p:txBody>
          <a:bodyPr anchor="t" rtlCol="false" tIns="0" lIns="0" bIns="0" rIns="0">
            <a:spAutoFit/>
          </a:bodyPr>
          <a:lstStyle/>
          <a:p>
            <a:pPr algn="just" marL="474979" indent="-237490" lvl="1">
              <a:lnSpc>
                <a:spcPts val="3079"/>
              </a:lnSpc>
              <a:buFont typeface="Arial"/>
              <a:buChar char="•"/>
            </a:pPr>
            <a:r>
              <a:rPr lang="en-US" sz="2199">
                <a:solidFill>
                  <a:srgbClr val="000000"/>
                </a:solidFill>
                <a:latin typeface="Public Sans"/>
                <a:ea typeface="Public Sans"/>
                <a:cs typeface="Public Sans"/>
                <a:sym typeface="Public Sans"/>
              </a:rPr>
              <a:t>X_</a:t>
            </a:r>
            <a:r>
              <a:rPr lang="en-US" sz="2199">
                <a:solidFill>
                  <a:srgbClr val="000000"/>
                </a:solidFill>
                <a:latin typeface="Public Sans"/>
                <a:ea typeface="Public Sans"/>
                <a:cs typeface="Public Sans"/>
                <a:sym typeface="Public Sans"/>
              </a:rPr>
              <a:t>train.csv</a:t>
            </a:r>
          </a:p>
          <a:p>
            <a:pPr algn="just" marL="474979" indent="-237490" lvl="1">
              <a:lnSpc>
                <a:spcPts val="3079"/>
              </a:lnSpc>
              <a:buFont typeface="Arial"/>
              <a:buChar char="•"/>
            </a:pPr>
            <a:r>
              <a:rPr lang="en-US" sz="2199">
                <a:solidFill>
                  <a:srgbClr val="000000"/>
                </a:solidFill>
                <a:latin typeface="Public Sans"/>
                <a:ea typeface="Public Sans"/>
                <a:cs typeface="Public Sans"/>
                <a:sym typeface="Public Sans"/>
              </a:rPr>
              <a:t>X_test.csv</a:t>
            </a:r>
          </a:p>
          <a:p>
            <a:pPr algn="just" marL="474979" indent="-237490" lvl="1">
              <a:lnSpc>
                <a:spcPts val="3079"/>
              </a:lnSpc>
              <a:buFont typeface="Arial"/>
              <a:buChar char="•"/>
            </a:pPr>
            <a:r>
              <a:rPr lang="en-US" sz="2199">
                <a:solidFill>
                  <a:srgbClr val="000000"/>
                </a:solidFill>
                <a:latin typeface="Public Sans"/>
                <a:ea typeface="Public Sans"/>
                <a:cs typeface="Public Sans"/>
                <a:sym typeface="Public Sans"/>
              </a:rPr>
              <a:t>y_train.csv</a:t>
            </a:r>
          </a:p>
          <a:p>
            <a:pPr algn="just" marL="474979" indent="-237490" lvl="1">
              <a:lnSpc>
                <a:spcPts val="3079"/>
              </a:lnSpc>
              <a:buFont typeface="Arial"/>
              <a:buChar char="•"/>
            </a:pPr>
            <a:r>
              <a:rPr lang="en-US" sz="2199">
                <a:solidFill>
                  <a:srgbClr val="000000"/>
                </a:solidFill>
                <a:latin typeface="Public Sans"/>
                <a:ea typeface="Public Sans"/>
                <a:cs typeface="Public Sans"/>
                <a:sym typeface="Public Sans"/>
              </a:rPr>
              <a:t>y_test.csv</a:t>
            </a:r>
          </a:p>
          <a:p>
            <a:pPr algn="just" marL="0" indent="0" lvl="0">
              <a:lnSpc>
                <a:spcPts val="3079"/>
              </a:lnSpc>
            </a:pPr>
          </a:p>
          <a:p>
            <a:pPr algn="just" marL="0" indent="0" lvl="0">
              <a:lnSpc>
                <a:spcPts val="3079"/>
              </a:lnSpc>
            </a:pPr>
          </a:p>
        </p:txBody>
      </p:sp>
      <p:sp>
        <p:nvSpPr>
          <p:cNvPr name="TextBox 15" id="15"/>
          <p:cNvSpPr txBox="true"/>
          <p:nvPr/>
        </p:nvSpPr>
        <p:spPr>
          <a:xfrm rot="0">
            <a:off x="9756060" y="6604030"/>
            <a:ext cx="6848333" cy="1563370"/>
          </a:xfrm>
          <a:prstGeom prst="rect">
            <a:avLst/>
          </a:prstGeom>
        </p:spPr>
        <p:txBody>
          <a:bodyPr anchor="t" rtlCol="false" tIns="0" lIns="0" bIns="0" rIns="0">
            <a:spAutoFit/>
          </a:bodyPr>
          <a:lstStyle/>
          <a:p>
            <a:pPr algn="just" marL="0" indent="0" lvl="0">
              <a:lnSpc>
                <a:spcPts val="3079"/>
              </a:lnSpc>
            </a:pPr>
            <a:r>
              <a:rPr lang="en-US" b="true" sz="2199">
                <a:solidFill>
                  <a:srgbClr val="000000"/>
                </a:solidFill>
                <a:latin typeface="Public Sans Bold"/>
                <a:ea typeface="Public Sans Bold"/>
                <a:cs typeface="Public Sans Bold"/>
                <a:sym typeface="Public Sans Bold"/>
              </a:rPr>
              <a:t>preprocessor_pipeline.pkl et features_meta.pkl (sert à garder une trace de preprocessing pour pouvoir le reproduire plus tard.)</a:t>
            </a:r>
          </a:p>
          <a:p>
            <a:pPr algn="just" marL="0" indent="0" lvl="0">
              <a:lnSpc>
                <a:spcPts val="3079"/>
              </a:lnSpc>
            </a:pPr>
          </a:p>
        </p:txBody>
      </p:sp>
      <p:sp>
        <p:nvSpPr>
          <p:cNvPr name="TextBox 16" id="16"/>
          <p:cNvSpPr txBox="true"/>
          <p:nvPr/>
        </p:nvSpPr>
        <p:spPr>
          <a:xfrm rot="0">
            <a:off x="17259300" y="9338975"/>
            <a:ext cx="152400" cy="190500"/>
          </a:xfrm>
          <a:prstGeom prst="rect">
            <a:avLst/>
          </a:prstGeom>
        </p:spPr>
        <p:txBody>
          <a:bodyPr anchor="t" rtlCol="false" tIns="0" lIns="0" bIns="0" rIns="0" wrap="none">
            <a:spAutoFit/>
          </a:bodyPr>
          <a:lstStyle/>
          <a:p>
            <a:pPr algn="ctr">
              <a:lnSpc>
                <a:spcPts val="3079"/>
              </a:lnSpc>
              <a:spcBef>
                <a:spcPct val="0"/>
              </a:spcBef>
            </a:pPr>
            <a:r>
              <a:rPr lang="en-US" sz="2199">
                <a:solidFill>
                  <a:srgbClr val="FFFFFF"/>
                </a:solidFill>
                <a:latin typeface="Open Sans"/>
                <a:ea typeface="Open Sans"/>
                <a:cs typeface="Open Sans"/>
                <a:sym typeface="Open Sans"/>
              </a:rPr>
              <a:t>23</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144000" y="1943567"/>
            <a:ext cx="7441704" cy="6399865"/>
          </a:xfrm>
          <a:custGeom>
            <a:avLst/>
            <a:gdLst/>
            <a:ahLst/>
            <a:cxnLst/>
            <a:rect r="r" b="b" t="t" l="l"/>
            <a:pathLst>
              <a:path h="6399865" w="7441704">
                <a:moveTo>
                  <a:pt x="0" y="0"/>
                </a:moveTo>
                <a:lnTo>
                  <a:pt x="7441704" y="0"/>
                </a:lnTo>
                <a:lnTo>
                  <a:pt x="7441704" y="6399866"/>
                </a:lnTo>
                <a:lnTo>
                  <a:pt x="0" y="6399866"/>
                </a:lnTo>
                <a:lnTo>
                  <a:pt x="0" y="0"/>
                </a:lnTo>
                <a:close/>
              </a:path>
            </a:pathLst>
          </a:custGeom>
          <a:blipFill>
            <a:blip r:embed="rId3"/>
            <a:stretch>
              <a:fillRect l="0" t="0" r="0" b="0"/>
            </a:stretch>
          </a:blipFill>
        </p:spPr>
      </p:sp>
      <p:sp>
        <p:nvSpPr>
          <p:cNvPr name="TextBox 3" id="3"/>
          <p:cNvSpPr txBox="true"/>
          <p:nvPr/>
        </p:nvSpPr>
        <p:spPr>
          <a:xfrm rot="0">
            <a:off x="1028700" y="2733574"/>
            <a:ext cx="9366499" cy="1094854"/>
          </a:xfrm>
          <a:prstGeom prst="rect">
            <a:avLst/>
          </a:prstGeom>
        </p:spPr>
        <p:txBody>
          <a:bodyPr anchor="t" rtlCol="false" tIns="0" lIns="0" bIns="0" rIns="0">
            <a:spAutoFit/>
          </a:bodyPr>
          <a:lstStyle/>
          <a:p>
            <a:pPr algn="l" marL="0" indent="0" lvl="0">
              <a:lnSpc>
                <a:spcPts val="8953"/>
              </a:lnSpc>
              <a:spcBef>
                <a:spcPct val="0"/>
              </a:spcBef>
            </a:pPr>
            <a:r>
              <a:rPr lang="en-US" sz="6395">
                <a:solidFill>
                  <a:srgbClr val="004CCF"/>
                </a:solidFill>
                <a:latin typeface="Aileron"/>
                <a:ea typeface="Aileron"/>
                <a:cs typeface="Aileron"/>
                <a:sym typeface="Aileron"/>
              </a:rPr>
              <a:t>Modélisation et</a:t>
            </a:r>
          </a:p>
        </p:txBody>
      </p:sp>
      <p:sp>
        <p:nvSpPr>
          <p:cNvPr name="TextBox 4" id="4"/>
          <p:cNvSpPr txBox="true"/>
          <p:nvPr/>
        </p:nvSpPr>
        <p:spPr>
          <a:xfrm rot="0">
            <a:off x="1028700" y="3800414"/>
            <a:ext cx="11075924" cy="1236474"/>
          </a:xfrm>
          <a:prstGeom prst="rect">
            <a:avLst/>
          </a:prstGeom>
        </p:spPr>
        <p:txBody>
          <a:bodyPr anchor="t" rtlCol="false" tIns="0" lIns="0" bIns="0" rIns="0">
            <a:spAutoFit/>
          </a:bodyPr>
          <a:lstStyle/>
          <a:p>
            <a:pPr algn="l" marL="0" indent="0" lvl="0">
              <a:lnSpc>
                <a:spcPts val="10072"/>
              </a:lnSpc>
              <a:spcBef>
                <a:spcPct val="0"/>
              </a:spcBef>
            </a:pPr>
            <a:r>
              <a:rPr lang="en-US" b="true" sz="7194">
                <a:solidFill>
                  <a:srgbClr val="004CCF"/>
                </a:solidFill>
                <a:latin typeface="Aileron Bold"/>
                <a:ea typeface="Aileron Bold"/>
                <a:cs typeface="Aileron Bold"/>
                <a:sym typeface="Aileron Bold"/>
              </a:rPr>
              <a:t>Entraînement</a:t>
            </a:r>
          </a:p>
        </p:txBody>
      </p:sp>
      <p:sp>
        <p:nvSpPr>
          <p:cNvPr name="TextBox 5" id="5"/>
          <p:cNvSpPr txBox="true"/>
          <p:nvPr/>
        </p:nvSpPr>
        <p:spPr>
          <a:xfrm rot="0">
            <a:off x="1028700" y="5839232"/>
            <a:ext cx="7504180" cy="1473314"/>
          </a:xfrm>
          <a:prstGeom prst="rect">
            <a:avLst/>
          </a:prstGeom>
        </p:spPr>
        <p:txBody>
          <a:bodyPr anchor="t" rtlCol="false" tIns="0" lIns="0" bIns="0" rIns="0">
            <a:spAutoFit/>
          </a:bodyPr>
          <a:lstStyle/>
          <a:p>
            <a:pPr algn="l" marL="0" indent="0" lvl="0">
              <a:lnSpc>
                <a:spcPts val="3843"/>
              </a:lnSpc>
              <a:spcBef>
                <a:spcPct val="0"/>
              </a:spcBef>
            </a:pPr>
            <a:r>
              <a:rPr lang="en-US" sz="2745">
                <a:solidFill>
                  <a:srgbClr val="011226"/>
                </a:solidFill>
                <a:latin typeface="Poppins"/>
                <a:ea typeface="Poppins"/>
                <a:cs typeface="Poppins"/>
                <a:sym typeface="Poppins"/>
              </a:rPr>
              <a:t>Comparaison de deux algorithmes supervisés : Régression Logistique et Random Forest pour la prédiction du churn</a:t>
            </a:r>
          </a:p>
        </p:txBody>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24</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711606" y="2677123"/>
            <a:ext cx="13335018" cy="4772477"/>
            <a:chOff x="0" y="0"/>
            <a:chExt cx="1683383" cy="602467"/>
          </a:xfrm>
        </p:grpSpPr>
        <p:sp>
          <p:nvSpPr>
            <p:cNvPr name="Freeform 3" id="3"/>
            <p:cNvSpPr/>
            <p:nvPr/>
          </p:nvSpPr>
          <p:spPr>
            <a:xfrm flipH="false" flipV="false" rot="0">
              <a:off x="0" y="0"/>
              <a:ext cx="1683383" cy="602467"/>
            </a:xfrm>
            <a:custGeom>
              <a:avLst/>
              <a:gdLst/>
              <a:ahLst/>
              <a:cxnLst/>
              <a:rect r="r" b="b" t="t" l="l"/>
              <a:pathLst>
                <a:path h="602467" w="1683383">
                  <a:moveTo>
                    <a:pt x="0" y="0"/>
                  </a:moveTo>
                  <a:lnTo>
                    <a:pt x="1683383" y="0"/>
                  </a:lnTo>
                  <a:lnTo>
                    <a:pt x="1683383" y="602467"/>
                  </a:lnTo>
                  <a:lnTo>
                    <a:pt x="0" y="602467"/>
                  </a:lnTo>
                  <a:close/>
                </a:path>
              </a:pathLst>
            </a:custGeom>
            <a:blipFill>
              <a:blip r:embed="rId3"/>
              <a:stretch>
                <a:fillRect l="0" t="-29633" r="0" b="-29633"/>
              </a:stretch>
            </a:blipFill>
          </p:spPr>
        </p:sp>
      </p:grpSp>
      <p:sp>
        <p:nvSpPr>
          <p:cNvPr name="TextBox 4" id="4"/>
          <p:cNvSpPr txBox="true"/>
          <p:nvPr/>
        </p:nvSpPr>
        <p:spPr>
          <a:xfrm rot="0">
            <a:off x="1028700" y="1168316"/>
            <a:ext cx="8618912" cy="888365"/>
          </a:xfrm>
          <a:prstGeom prst="rect">
            <a:avLst/>
          </a:prstGeom>
        </p:spPr>
        <p:txBody>
          <a:bodyPr anchor="t" rtlCol="false" tIns="0" lIns="0" bIns="0" rIns="0">
            <a:spAutoFit/>
          </a:bodyPr>
          <a:lstStyle/>
          <a:p>
            <a:pPr algn="l" marL="0" indent="0" lvl="0">
              <a:lnSpc>
                <a:spcPts val="7000"/>
              </a:lnSpc>
              <a:spcBef>
                <a:spcPct val="0"/>
              </a:spcBef>
            </a:pPr>
            <a:r>
              <a:rPr lang="en-US" b="true" sz="5600" strike="noStrike" u="none">
                <a:solidFill>
                  <a:srgbClr val="004CCF"/>
                </a:solidFill>
                <a:latin typeface="Aileron Bold"/>
                <a:ea typeface="Aileron Bold"/>
                <a:cs typeface="Aileron Bold"/>
                <a:sym typeface="Aileron Bold"/>
              </a:rPr>
              <a:t>Régression Logistique</a:t>
            </a:r>
          </a:p>
        </p:txBody>
      </p:sp>
      <p:sp>
        <p:nvSpPr>
          <p:cNvPr name="TextBox 5" id="5"/>
          <p:cNvSpPr txBox="true"/>
          <p:nvPr/>
        </p:nvSpPr>
        <p:spPr>
          <a:xfrm rot="0">
            <a:off x="1028700" y="2619973"/>
            <a:ext cx="8291248" cy="5736964"/>
          </a:xfrm>
          <a:prstGeom prst="rect">
            <a:avLst/>
          </a:prstGeom>
        </p:spPr>
        <p:txBody>
          <a:bodyPr anchor="t" rtlCol="false" tIns="0" lIns="0" bIns="0" rIns="0">
            <a:spAutoFit/>
          </a:bodyPr>
          <a:lstStyle/>
          <a:p>
            <a:pPr algn="l" marL="0" indent="0" lvl="0">
              <a:lnSpc>
                <a:spcPts val="3086"/>
              </a:lnSpc>
              <a:spcBef>
                <a:spcPct val="0"/>
              </a:spcBef>
            </a:pPr>
            <a:r>
              <a:rPr lang="en-US" sz="2204">
                <a:solidFill>
                  <a:srgbClr val="011226"/>
                </a:solidFill>
                <a:latin typeface="Poppins"/>
                <a:ea typeface="Poppins"/>
                <a:cs typeface="Poppins"/>
                <a:sym typeface="Poppins"/>
              </a:rPr>
              <a:t>La rég</a:t>
            </a:r>
            <a:r>
              <a:rPr lang="en-US" sz="2204">
                <a:solidFill>
                  <a:srgbClr val="011226"/>
                </a:solidFill>
                <a:latin typeface="Poppins"/>
                <a:ea typeface="Poppins"/>
                <a:cs typeface="Poppins"/>
                <a:sym typeface="Poppins"/>
              </a:rPr>
              <a:t>ression logistique calcule la probabilité qu’une observation appartienne à une classe (0 ou 1) en appliquant une fonction sigmoïde sur une combinaison linéaire des variables.</a:t>
            </a:r>
          </a:p>
          <a:p>
            <a:pPr algn="l" marL="0" indent="0" lvl="0">
              <a:lnSpc>
                <a:spcPts val="3086"/>
              </a:lnSpc>
              <a:spcBef>
                <a:spcPct val="0"/>
              </a:spcBef>
            </a:pPr>
            <a:r>
              <a:rPr lang="en-US" sz="2204">
                <a:solidFill>
                  <a:srgbClr val="011226"/>
                </a:solidFill>
                <a:latin typeface="Poppins"/>
                <a:ea typeface="Poppins"/>
                <a:cs typeface="Poppins"/>
                <a:sym typeface="Poppins"/>
              </a:rPr>
              <a:t> Paramètres importants :</a:t>
            </a:r>
          </a:p>
          <a:p>
            <a:pPr algn="l" marL="475986" indent="-237993" lvl="1">
              <a:lnSpc>
                <a:spcPts val="3086"/>
              </a:lnSpc>
              <a:spcBef>
                <a:spcPct val="0"/>
              </a:spcBef>
              <a:buFont typeface="Arial"/>
              <a:buChar char="•"/>
            </a:pPr>
            <a:r>
              <a:rPr lang="en-US" sz="2204">
                <a:solidFill>
                  <a:srgbClr val="011226"/>
                </a:solidFill>
                <a:latin typeface="Poppins"/>
                <a:ea typeface="Poppins"/>
                <a:cs typeface="Poppins"/>
                <a:sym typeface="Poppins"/>
              </a:rPr>
              <a:t>C : contrôle la complexité du modèle (petit C = modèle plus simple)</a:t>
            </a:r>
          </a:p>
          <a:p>
            <a:pPr algn="l" marL="475986" indent="-237993" lvl="1">
              <a:lnSpc>
                <a:spcPts val="3086"/>
              </a:lnSpc>
              <a:spcBef>
                <a:spcPct val="0"/>
              </a:spcBef>
              <a:buFont typeface="Arial"/>
              <a:buChar char="•"/>
            </a:pPr>
            <a:r>
              <a:rPr lang="en-US" sz="2204">
                <a:solidFill>
                  <a:srgbClr val="011226"/>
                </a:solidFill>
                <a:latin typeface="Poppins"/>
                <a:ea typeface="Poppins"/>
                <a:cs typeface="Poppins"/>
                <a:sym typeface="Poppins"/>
              </a:rPr>
              <a:t>class_weight : aide le modèle quand les classes ne sont pas équilibrées</a:t>
            </a:r>
          </a:p>
          <a:p>
            <a:pPr algn="l" marL="475986" indent="-237993" lvl="1">
              <a:lnSpc>
                <a:spcPts val="3086"/>
              </a:lnSpc>
              <a:spcBef>
                <a:spcPct val="0"/>
              </a:spcBef>
              <a:buFont typeface="Arial"/>
              <a:buChar char="•"/>
            </a:pPr>
            <a:r>
              <a:rPr lang="en-US" sz="2204">
                <a:solidFill>
                  <a:srgbClr val="011226"/>
                </a:solidFill>
                <a:latin typeface="Poppins"/>
                <a:ea typeface="Poppins"/>
                <a:cs typeface="Poppins"/>
                <a:sym typeface="Poppins"/>
              </a:rPr>
              <a:t>penalty : évite le sur-apprentissage en limitant les poids du modèle</a:t>
            </a:r>
          </a:p>
          <a:p>
            <a:pPr algn="l" marL="0" indent="0" lvl="0">
              <a:lnSpc>
                <a:spcPts val="3086"/>
              </a:lnSpc>
              <a:spcBef>
                <a:spcPct val="0"/>
              </a:spcBef>
            </a:pPr>
          </a:p>
          <a:p>
            <a:pPr algn="l" marL="0" indent="0" lvl="0">
              <a:lnSpc>
                <a:spcPts val="3086"/>
              </a:lnSpc>
              <a:spcBef>
                <a:spcPct val="0"/>
              </a:spcBef>
            </a:pPr>
          </a:p>
          <a:p>
            <a:pPr algn="l" marL="0" indent="0" lvl="0">
              <a:lnSpc>
                <a:spcPts val="3086"/>
              </a:lnSpc>
              <a:spcBef>
                <a:spcPct val="0"/>
              </a:spcBef>
            </a:pPr>
          </a:p>
          <a:p>
            <a:pPr algn="l" marL="0" indent="0" lvl="0">
              <a:lnSpc>
                <a:spcPts val="3086"/>
              </a:lnSpc>
              <a:spcBef>
                <a:spcPct val="0"/>
              </a:spcBef>
            </a:pPr>
          </a:p>
        </p:txBody>
      </p:sp>
      <p:grpSp>
        <p:nvGrpSpPr>
          <p:cNvPr name="Group 6" id="6"/>
          <p:cNvGrpSpPr/>
          <p:nvPr/>
        </p:nvGrpSpPr>
        <p:grpSpPr>
          <a:xfrm rot="0">
            <a:off x="-522244" y="9071097"/>
            <a:ext cx="20995038" cy="4776798"/>
            <a:chOff x="0" y="0"/>
            <a:chExt cx="2624305" cy="597083"/>
          </a:xfrm>
        </p:grpSpPr>
        <p:sp>
          <p:nvSpPr>
            <p:cNvPr name="Freeform 7" id="7"/>
            <p:cNvSpPr/>
            <p:nvPr/>
          </p:nvSpPr>
          <p:spPr>
            <a:xfrm flipH="false" flipV="false" rot="0">
              <a:off x="6283" y="0"/>
              <a:ext cx="2611739" cy="597083"/>
            </a:xfrm>
            <a:custGeom>
              <a:avLst/>
              <a:gdLst/>
              <a:ahLst/>
              <a:cxnLst/>
              <a:rect r="r" b="b" t="t" l="l"/>
              <a:pathLst>
                <a:path h="597083" w="2611739">
                  <a:moveTo>
                    <a:pt x="219042" y="0"/>
                  </a:moveTo>
                  <a:lnTo>
                    <a:pt x="2595897" y="0"/>
                  </a:lnTo>
                  <a:cubicBezTo>
                    <a:pt x="2601007" y="0"/>
                    <a:pt x="2605803" y="2465"/>
                    <a:pt x="2608778" y="6619"/>
                  </a:cubicBezTo>
                  <a:cubicBezTo>
                    <a:pt x="2611752" y="10774"/>
                    <a:pt x="2612540" y="16108"/>
                    <a:pt x="2610894" y="20945"/>
                  </a:cubicBezTo>
                  <a:lnTo>
                    <a:pt x="2421950" y="576138"/>
                  </a:lnTo>
                  <a:cubicBezTo>
                    <a:pt x="2417688" y="588661"/>
                    <a:pt x="2405927" y="597083"/>
                    <a:pt x="2392697" y="597083"/>
                  </a:cubicBezTo>
                  <a:lnTo>
                    <a:pt x="15842" y="597083"/>
                  </a:lnTo>
                  <a:cubicBezTo>
                    <a:pt x="10732" y="597083"/>
                    <a:pt x="5936" y="594618"/>
                    <a:pt x="2962" y="590464"/>
                  </a:cubicBezTo>
                  <a:cubicBezTo>
                    <a:pt x="-13" y="586309"/>
                    <a:pt x="-801" y="580975"/>
                    <a:pt x="845" y="576138"/>
                  </a:cubicBezTo>
                  <a:lnTo>
                    <a:pt x="189789" y="20945"/>
                  </a:lnTo>
                  <a:cubicBezTo>
                    <a:pt x="194051" y="8421"/>
                    <a:pt x="205813" y="0"/>
                    <a:pt x="219042" y="0"/>
                  </a:cubicBezTo>
                  <a:close/>
                </a:path>
              </a:pathLst>
            </a:custGeom>
            <a:gradFill rotWithShape="true">
              <a:gsLst>
                <a:gs pos="0">
                  <a:srgbClr val="2B79FF">
                    <a:alpha val="100000"/>
                  </a:srgbClr>
                </a:gs>
                <a:gs pos="100000">
                  <a:srgbClr val="0D1296">
                    <a:alpha val="100000"/>
                  </a:srgbClr>
                </a:gs>
              </a:gsLst>
              <a:lin ang="0"/>
            </a:gradFill>
          </p:spPr>
        </p:sp>
        <p:sp>
          <p:nvSpPr>
            <p:cNvPr name="TextBox 8" id="8"/>
            <p:cNvSpPr txBox="true"/>
            <p:nvPr/>
          </p:nvSpPr>
          <p:spPr>
            <a:xfrm>
              <a:off x="101600" y="-38100"/>
              <a:ext cx="2421105" cy="63518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25</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05025" y="5369563"/>
            <a:ext cx="14277950" cy="3888737"/>
            <a:chOff x="0" y="0"/>
            <a:chExt cx="2212028" cy="602467"/>
          </a:xfrm>
        </p:grpSpPr>
        <p:sp>
          <p:nvSpPr>
            <p:cNvPr name="Freeform 3" id="3"/>
            <p:cNvSpPr/>
            <p:nvPr/>
          </p:nvSpPr>
          <p:spPr>
            <a:xfrm flipH="false" flipV="false" rot="0">
              <a:off x="0" y="0"/>
              <a:ext cx="2212028" cy="602467"/>
            </a:xfrm>
            <a:custGeom>
              <a:avLst/>
              <a:gdLst/>
              <a:ahLst/>
              <a:cxnLst/>
              <a:rect r="r" b="b" t="t" l="l"/>
              <a:pathLst>
                <a:path h="602467" w="2212028">
                  <a:moveTo>
                    <a:pt x="0" y="0"/>
                  </a:moveTo>
                  <a:lnTo>
                    <a:pt x="2212028" y="0"/>
                  </a:lnTo>
                  <a:lnTo>
                    <a:pt x="2212028" y="602467"/>
                  </a:lnTo>
                  <a:lnTo>
                    <a:pt x="0" y="602467"/>
                  </a:lnTo>
                  <a:close/>
                </a:path>
              </a:pathLst>
            </a:custGeom>
            <a:blipFill>
              <a:blip r:embed="rId3"/>
              <a:stretch>
                <a:fillRect l="0" t="-54641" r="0" b="-54641"/>
              </a:stretch>
            </a:blipFill>
          </p:spPr>
        </p:sp>
      </p:grpSp>
      <p:sp>
        <p:nvSpPr>
          <p:cNvPr name="TextBox 4" id="4"/>
          <p:cNvSpPr txBox="true"/>
          <p:nvPr/>
        </p:nvSpPr>
        <p:spPr>
          <a:xfrm rot="0">
            <a:off x="1028700" y="1000125"/>
            <a:ext cx="9315100" cy="878865"/>
          </a:xfrm>
          <a:prstGeom prst="rect">
            <a:avLst/>
          </a:prstGeom>
        </p:spPr>
        <p:txBody>
          <a:bodyPr anchor="t" rtlCol="false" tIns="0" lIns="0" bIns="0" rIns="0">
            <a:spAutoFit/>
          </a:bodyPr>
          <a:lstStyle/>
          <a:p>
            <a:pPr algn="l" marL="0" indent="0" lvl="0">
              <a:lnSpc>
                <a:spcPts val="6995"/>
              </a:lnSpc>
              <a:spcBef>
                <a:spcPct val="0"/>
              </a:spcBef>
            </a:pPr>
            <a:r>
              <a:rPr lang="en-US" b="true" sz="5596" strike="noStrike" u="none">
                <a:solidFill>
                  <a:srgbClr val="004CCF"/>
                </a:solidFill>
                <a:latin typeface="Aileron Bold"/>
                <a:ea typeface="Aileron Bold"/>
                <a:cs typeface="Aileron Bold"/>
                <a:sym typeface="Aileron Bold"/>
              </a:rPr>
              <a:t>Random Forest Classifier</a:t>
            </a:r>
          </a:p>
        </p:txBody>
      </p:sp>
      <p:sp>
        <p:nvSpPr>
          <p:cNvPr name="TextBox 5" id="5"/>
          <p:cNvSpPr txBox="true"/>
          <p:nvPr/>
        </p:nvSpPr>
        <p:spPr>
          <a:xfrm rot="0">
            <a:off x="2071991" y="2715822"/>
            <a:ext cx="13981661" cy="2391440"/>
          </a:xfrm>
          <a:prstGeom prst="rect">
            <a:avLst/>
          </a:prstGeom>
        </p:spPr>
        <p:txBody>
          <a:bodyPr anchor="t" rtlCol="false" tIns="0" lIns="0" bIns="0" rIns="0">
            <a:spAutoFit/>
          </a:bodyPr>
          <a:lstStyle/>
          <a:p>
            <a:pPr algn="l" marL="0" indent="0" lvl="0">
              <a:lnSpc>
                <a:spcPts val="3533"/>
              </a:lnSpc>
              <a:spcBef>
                <a:spcPct val="0"/>
              </a:spcBef>
            </a:pPr>
            <a:r>
              <a:rPr lang="en-US" sz="2523">
                <a:solidFill>
                  <a:srgbClr val="011226"/>
                </a:solidFill>
                <a:latin typeface="Poppins"/>
                <a:ea typeface="Poppins"/>
                <a:cs typeface="Poppins"/>
                <a:sym typeface="Poppins"/>
              </a:rPr>
              <a:t>Principe d'apprentissage ensembliste : la prédiction finale correspond au mode (vote majoritaire) de multiples arbres de décision. Chaque arbre est entraîné sur un échantillon bootstrap des données, réduisant ainsi le surapprentissage et améliorant la robustesse du modèle.</a:t>
            </a:r>
          </a:p>
          <a:p>
            <a:pPr algn="l" marL="0" indent="0" lvl="0">
              <a:lnSpc>
                <a:spcPts val="4793"/>
              </a:lnSpc>
              <a:spcBef>
                <a:spcPct val="0"/>
              </a:spcBef>
            </a:pPr>
          </a:p>
        </p:txBody>
      </p:sp>
      <p:sp>
        <p:nvSpPr>
          <p:cNvPr name="Freeform 6" id="6"/>
          <p:cNvSpPr/>
          <p:nvPr/>
        </p:nvSpPr>
        <p:spPr>
          <a:xfrm flipH="false" flipV="false" rot="2871075">
            <a:off x="15350015" y="-2421040"/>
            <a:ext cx="5078392" cy="5072044"/>
          </a:xfrm>
          <a:custGeom>
            <a:avLst/>
            <a:gdLst/>
            <a:ahLst/>
            <a:cxnLst/>
            <a:rect r="r" b="b" t="t" l="l"/>
            <a:pathLst>
              <a:path h="5072044" w="5078392">
                <a:moveTo>
                  <a:pt x="0" y="0"/>
                </a:moveTo>
                <a:lnTo>
                  <a:pt x="5078392" y="0"/>
                </a:lnTo>
                <a:lnTo>
                  <a:pt x="5078392" y="5072044"/>
                </a:lnTo>
                <a:lnTo>
                  <a:pt x="0" y="50720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26</a:t>
            </a: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2697" y="505714"/>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273F5D"/>
                </a:solidFill>
                <a:latin typeface="Aileron Ultra-Bold"/>
                <a:ea typeface="Aileron Ultra-Bold"/>
                <a:cs typeface="Aileron Ultra-Bold"/>
                <a:sym typeface="Aileron Ultra-Bold"/>
              </a:rPr>
              <a:t>R</a:t>
            </a:r>
            <a:r>
              <a:rPr lang="en-US" b="true" sz="3699">
                <a:solidFill>
                  <a:srgbClr val="273F5D"/>
                </a:solidFill>
                <a:latin typeface="Aileron Ultra-Bold"/>
                <a:ea typeface="Aileron Ultra-Bold"/>
                <a:cs typeface="Aileron Ultra-Bold"/>
                <a:sym typeface="Aileron Ultra-Bold"/>
              </a:rPr>
              <a:t>égression Logistique</a:t>
            </a:r>
          </a:p>
        </p:txBody>
      </p:sp>
      <p:sp>
        <p:nvSpPr>
          <p:cNvPr name="TextBox 3" id="3"/>
          <p:cNvSpPr txBox="true"/>
          <p:nvPr/>
        </p:nvSpPr>
        <p:spPr>
          <a:xfrm rot="0">
            <a:off x="1292697" y="2583923"/>
            <a:ext cx="7851303" cy="1814217"/>
          </a:xfrm>
          <a:prstGeom prst="rect">
            <a:avLst/>
          </a:prstGeom>
        </p:spPr>
        <p:txBody>
          <a:bodyPr anchor="t" rtlCol="false" tIns="0" lIns="0" bIns="0" rIns="0">
            <a:spAutoFit/>
          </a:bodyPr>
          <a:lstStyle/>
          <a:p>
            <a:pPr algn="just" marL="0" indent="0" lvl="0">
              <a:lnSpc>
                <a:spcPts val="2903"/>
              </a:lnSpc>
            </a:pPr>
            <a:r>
              <a:rPr lang="en-US" sz="2074">
                <a:solidFill>
                  <a:srgbClr val="000000"/>
                </a:solidFill>
                <a:latin typeface="Public Sans"/>
                <a:ea typeface="Public Sans"/>
                <a:cs typeface="Public Sans"/>
                <a:sym typeface="Public Sans"/>
              </a:rPr>
              <a:t>fro</a:t>
            </a:r>
            <a:r>
              <a:rPr lang="en-US" sz="2074">
                <a:solidFill>
                  <a:srgbClr val="000000"/>
                </a:solidFill>
                <a:latin typeface="Public Sans"/>
                <a:ea typeface="Public Sans"/>
                <a:cs typeface="Public Sans"/>
                <a:sym typeface="Public Sans"/>
              </a:rPr>
              <a:t>m sklearn.linear_model import LogisticRegression</a:t>
            </a:r>
          </a:p>
          <a:p>
            <a:pPr algn="just" marL="0" indent="0" lvl="0">
              <a:lnSpc>
                <a:spcPts val="2903"/>
              </a:lnSpc>
            </a:pPr>
          </a:p>
          <a:p>
            <a:pPr algn="just" marL="0" indent="0" lvl="0">
              <a:lnSpc>
                <a:spcPts val="2903"/>
              </a:lnSpc>
            </a:pPr>
            <a:r>
              <a:rPr lang="en-US" sz="2074">
                <a:solidFill>
                  <a:srgbClr val="000000"/>
                </a:solidFill>
                <a:latin typeface="Public Sans"/>
                <a:ea typeface="Public Sans"/>
                <a:cs typeface="Public Sans"/>
                <a:sym typeface="Public Sans"/>
              </a:rPr>
              <a:t>model = LogisticRegression(max_iter=1000)</a:t>
            </a:r>
          </a:p>
          <a:p>
            <a:pPr algn="just" marL="0" indent="0" lvl="0">
              <a:lnSpc>
                <a:spcPts val="2903"/>
              </a:lnSpc>
            </a:pPr>
            <a:r>
              <a:rPr lang="en-US" sz="2074">
                <a:solidFill>
                  <a:srgbClr val="000000"/>
                </a:solidFill>
                <a:latin typeface="Public Sans"/>
                <a:ea typeface="Public Sans"/>
                <a:cs typeface="Public Sans"/>
                <a:sym typeface="Public Sans"/>
              </a:rPr>
              <a:t>→ pour éviter que le modèle ne s’arrête trop tôt (convergence)</a:t>
            </a:r>
          </a:p>
          <a:p>
            <a:pPr algn="just" marL="0" indent="0" lvl="0">
              <a:lnSpc>
                <a:spcPts val="2903"/>
              </a:lnSpc>
            </a:pPr>
          </a:p>
        </p:txBody>
      </p:sp>
      <p:sp>
        <p:nvSpPr>
          <p:cNvPr name="TextBox 4" id="4"/>
          <p:cNvSpPr txBox="true"/>
          <p:nvPr/>
        </p:nvSpPr>
        <p:spPr>
          <a:xfrm rot="0">
            <a:off x="1292697" y="5201830"/>
            <a:ext cx="6713864" cy="5071767"/>
          </a:xfrm>
          <a:prstGeom prst="rect">
            <a:avLst/>
          </a:prstGeom>
        </p:spPr>
        <p:txBody>
          <a:bodyPr anchor="t" rtlCol="false" tIns="0" lIns="0" bIns="0" rIns="0">
            <a:spAutoFit/>
          </a:bodyPr>
          <a:lstStyle/>
          <a:p>
            <a:pPr algn="just" marL="0" indent="0" lvl="0">
              <a:lnSpc>
                <a:spcPts val="2903"/>
              </a:lnSpc>
              <a:spcBef>
                <a:spcPct val="0"/>
              </a:spcBef>
            </a:pPr>
            <a:r>
              <a:rPr lang="en-US" sz="2074">
                <a:solidFill>
                  <a:srgbClr val="000000"/>
                </a:solidFill>
                <a:latin typeface="Public Sans"/>
                <a:ea typeface="Public Sans"/>
                <a:cs typeface="Public Sans"/>
                <a:sym typeface="Public Sans"/>
              </a:rPr>
              <a:t>lr_p</a:t>
            </a:r>
            <a:r>
              <a:rPr lang="en-US" sz="2074">
                <a:solidFill>
                  <a:srgbClr val="000000"/>
                </a:solidFill>
                <a:latin typeface="Public Sans"/>
                <a:ea typeface="Public Sans"/>
                <a:cs typeface="Public Sans"/>
                <a:sym typeface="Public Sans"/>
              </a:rPr>
              <a:t>arams = {</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    'C': [0.1, 1.0, 10.0],</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    'class_weight': ['balanced']</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a:t>
            </a:r>
          </a:p>
          <a:p>
            <a:pPr algn="just" marL="0" indent="0" lvl="0">
              <a:lnSpc>
                <a:spcPts val="2903"/>
              </a:lnSpc>
              <a:spcBef>
                <a:spcPct val="0"/>
              </a:spcBef>
            </a:pPr>
          </a:p>
          <a:p>
            <a:pPr algn="just" marL="0" indent="0" lvl="0">
              <a:lnSpc>
                <a:spcPts val="2903"/>
              </a:lnSpc>
              <a:spcBef>
                <a:spcPct val="0"/>
              </a:spcBef>
            </a:pPr>
            <a:r>
              <a:rPr lang="en-US" sz="2074">
                <a:solidFill>
                  <a:srgbClr val="000000"/>
                </a:solidFill>
                <a:latin typeface="Public Sans"/>
                <a:ea typeface="Public Sans"/>
                <a:cs typeface="Public Sans"/>
                <a:sym typeface="Public Sans"/>
              </a:rPr>
              <a:t>On teste plusieurs valeurs de C pour trouver le meilleur équilibre entre simplicité du modèle et performance.</a:t>
            </a:r>
          </a:p>
          <a:p>
            <a:pPr algn="just" marL="447805" indent="-223903" lvl="1">
              <a:lnSpc>
                <a:spcPts val="2903"/>
              </a:lnSpc>
              <a:spcBef>
                <a:spcPct val="0"/>
              </a:spcBef>
              <a:buFont typeface="Arial"/>
              <a:buChar char="•"/>
            </a:pPr>
            <a:r>
              <a:rPr lang="en-US" sz="2074">
                <a:solidFill>
                  <a:srgbClr val="000000"/>
                </a:solidFill>
                <a:latin typeface="Public Sans"/>
                <a:ea typeface="Public Sans"/>
                <a:cs typeface="Public Sans"/>
                <a:sym typeface="Public Sans"/>
              </a:rPr>
              <a:t>C = 0.1 : forte régularisation → modèle très simple, moins sensible aux données</a:t>
            </a:r>
          </a:p>
          <a:p>
            <a:pPr algn="just" marL="447805" indent="-223903" lvl="1">
              <a:lnSpc>
                <a:spcPts val="2903"/>
              </a:lnSpc>
              <a:spcBef>
                <a:spcPct val="0"/>
              </a:spcBef>
              <a:buFont typeface="Arial"/>
              <a:buChar char="•"/>
            </a:pPr>
            <a:r>
              <a:rPr lang="en-US" sz="2074">
                <a:solidFill>
                  <a:srgbClr val="000000"/>
                </a:solidFill>
                <a:latin typeface="Public Sans"/>
                <a:ea typeface="Public Sans"/>
                <a:cs typeface="Public Sans"/>
                <a:sym typeface="Public Sans"/>
              </a:rPr>
              <a:t>C = 1.0 : équilibre standard entre simplicité et flexibilité</a:t>
            </a:r>
          </a:p>
          <a:p>
            <a:pPr algn="just" marL="447805" indent="-223903" lvl="1">
              <a:lnSpc>
                <a:spcPts val="2903"/>
              </a:lnSpc>
              <a:spcBef>
                <a:spcPct val="0"/>
              </a:spcBef>
              <a:buFont typeface="Arial"/>
              <a:buChar char="•"/>
            </a:pPr>
            <a:r>
              <a:rPr lang="en-US" sz="2074">
                <a:solidFill>
                  <a:srgbClr val="000000"/>
                </a:solidFill>
                <a:latin typeface="Public Sans"/>
                <a:ea typeface="Public Sans"/>
                <a:cs typeface="Public Sans"/>
                <a:sym typeface="Public Sans"/>
              </a:rPr>
              <a:t>C = 10.0 : faible régularisation → modèle plus complexe, s’adapte davantage aux données</a:t>
            </a:r>
          </a:p>
          <a:p>
            <a:pPr algn="just" marL="0" indent="0" lvl="0">
              <a:lnSpc>
                <a:spcPts val="2903"/>
              </a:lnSpc>
              <a:spcBef>
                <a:spcPct val="0"/>
              </a:spcBef>
            </a:pPr>
          </a:p>
        </p:txBody>
      </p:sp>
      <p:sp>
        <p:nvSpPr>
          <p:cNvPr name="TextBox 5" id="5"/>
          <p:cNvSpPr txBox="true"/>
          <p:nvPr/>
        </p:nvSpPr>
        <p:spPr>
          <a:xfrm rot="0">
            <a:off x="1292697" y="4350515"/>
            <a:ext cx="10842285" cy="632240"/>
          </a:xfrm>
          <a:prstGeom prst="rect">
            <a:avLst/>
          </a:prstGeom>
        </p:spPr>
        <p:txBody>
          <a:bodyPr anchor="t" rtlCol="false" tIns="0" lIns="0" bIns="0" rIns="0">
            <a:spAutoFit/>
          </a:bodyPr>
          <a:lstStyle/>
          <a:p>
            <a:pPr algn="just" marL="0" indent="0" lvl="0">
              <a:lnSpc>
                <a:spcPts val="5177"/>
              </a:lnSpc>
            </a:pPr>
            <a:r>
              <a:rPr lang="en-US" b="true" sz="3698">
                <a:solidFill>
                  <a:srgbClr val="004CCF"/>
                </a:solidFill>
                <a:latin typeface="Public Sans Bold"/>
                <a:ea typeface="Public Sans Bold"/>
                <a:cs typeface="Public Sans Bold"/>
                <a:sym typeface="Public Sans Bold"/>
              </a:rPr>
              <a:t>Ch</a:t>
            </a:r>
            <a:r>
              <a:rPr lang="en-US" b="true" sz="3698">
                <a:solidFill>
                  <a:srgbClr val="004CCF"/>
                </a:solidFill>
                <a:latin typeface="Public Sans Bold"/>
                <a:ea typeface="Public Sans Bold"/>
                <a:cs typeface="Public Sans Bold"/>
                <a:sym typeface="Public Sans Bold"/>
              </a:rPr>
              <a:t>oisir les hyperparamètres</a:t>
            </a:r>
          </a:p>
        </p:txBody>
      </p:sp>
      <p:sp>
        <p:nvSpPr>
          <p:cNvPr name="TextBox 6" id="6"/>
          <p:cNvSpPr txBox="true"/>
          <p:nvPr/>
        </p:nvSpPr>
        <p:spPr>
          <a:xfrm rot="0">
            <a:off x="1292697" y="1841862"/>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004CCF"/>
                </a:solidFill>
                <a:latin typeface="Aileron Ultra-Bold"/>
                <a:ea typeface="Aileron Ultra-Bold"/>
                <a:cs typeface="Aileron Ultra-Bold"/>
                <a:sym typeface="Aileron Ultra-Bold"/>
              </a:rPr>
              <a:t>P</a:t>
            </a:r>
            <a:r>
              <a:rPr lang="en-US" b="true" sz="3699">
                <a:solidFill>
                  <a:srgbClr val="004CCF"/>
                </a:solidFill>
                <a:latin typeface="Aileron Ultra-Bold"/>
                <a:ea typeface="Aileron Ultra-Bold"/>
                <a:cs typeface="Aileron Ultra-Bold"/>
                <a:sym typeface="Aileron Ultra-Bold"/>
              </a:rPr>
              <a:t>réparer le modèle</a:t>
            </a:r>
          </a:p>
        </p:txBody>
      </p:sp>
      <p:sp>
        <p:nvSpPr>
          <p:cNvPr name="TextBox 7" id="7"/>
          <p:cNvSpPr txBox="true"/>
          <p:nvPr/>
        </p:nvSpPr>
        <p:spPr>
          <a:xfrm rot="0">
            <a:off x="10470974" y="505714"/>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273F5D"/>
                </a:solidFill>
                <a:latin typeface="Aileron Ultra-Bold"/>
                <a:ea typeface="Aileron Ultra-Bold"/>
                <a:cs typeface="Aileron Ultra-Bold"/>
                <a:sym typeface="Aileron Ultra-Bold"/>
              </a:rPr>
              <a:t>Random Fo</a:t>
            </a:r>
            <a:r>
              <a:rPr lang="en-US" b="true" sz="3699">
                <a:solidFill>
                  <a:srgbClr val="273F5D"/>
                </a:solidFill>
                <a:latin typeface="Aileron Ultra-Bold"/>
                <a:ea typeface="Aileron Ultra-Bold"/>
                <a:cs typeface="Aileron Ultra-Bold"/>
                <a:sym typeface="Aileron Ultra-Bold"/>
              </a:rPr>
              <a:t>rest Classifier</a:t>
            </a:r>
          </a:p>
        </p:txBody>
      </p:sp>
      <p:sp>
        <p:nvSpPr>
          <p:cNvPr name="TextBox 8" id="8"/>
          <p:cNvSpPr txBox="true"/>
          <p:nvPr/>
        </p:nvSpPr>
        <p:spPr>
          <a:xfrm rot="0">
            <a:off x="10566224" y="2583923"/>
            <a:ext cx="10842285" cy="1814217"/>
          </a:xfrm>
          <a:prstGeom prst="rect">
            <a:avLst/>
          </a:prstGeom>
        </p:spPr>
        <p:txBody>
          <a:bodyPr anchor="t" rtlCol="false" tIns="0" lIns="0" bIns="0" rIns="0">
            <a:spAutoFit/>
          </a:bodyPr>
          <a:lstStyle/>
          <a:p>
            <a:pPr algn="just" marL="0" indent="0" lvl="0">
              <a:lnSpc>
                <a:spcPts val="2903"/>
              </a:lnSpc>
            </a:pPr>
            <a:r>
              <a:rPr lang="en-US" sz="2074">
                <a:solidFill>
                  <a:srgbClr val="000000"/>
                </a:solidFill>
                <a:latin typeface="Public Sans"/>
                <a:ea typeface="Public Sans"/>
                <a:cs typeface="Public Sans"/>
                <a:sym typeface="Public Sans"/>
              </a:rPr>
              <a:t>fro</a:t>
            </a:r>
            <a:r>
              <a:rPr lang="en-US" sz="2074">
                <a:solidFill>
                  <a:srgbClr val="000000"/>
                </a:solidFill>
                <a:latin typeface="Public Sans"/>
                <a:ea typeface="Public Sans"/>
                <a:cs typeface="Public Sans"/>
                <a:sym typeface="Public Sans"/>
              </a:rPr>
              <a:t>m sklearn.ensemble import RandomForestClassifier</a:t>
            </a:r>
          </a:p>
          <a:p>
            <a:pPr algn="just" marL="0" indent="0" lvl="0">
              <a:lnSpc>
                <a:spcPts val="2903"/>
              </a:lnSpc>
            </a:pPr>
          </a:p>
          <a:p>
            <a:pPr algn="just" marL="0" indent="0" lvl="0">
              <a:lnSpc>
                <a:spcPts val="2903"/>
              </a:lnSpc>
            </a:pPr>
            <a:r>
              <a:rPr lang="en-US" sz="2074">
                <a:solidFill>
                  <a:srgbClr val="000000"/>
                </a:solidFill>
                <a:latin typeface="Public Sans"/>
                <a:ea typeface="Public Sans"/>
                <a:cs typeface="Public Sans"/>
                <a:sym typeface="Public Sans"/>
              </a:rPr>
              <a:t>model = RandomForestClassifier(random_state=42)</a:t>
            </a:r>
          </a:p>
          <a:p>
            <a:pPr algn="just" marL="0" indent="0" lvl="0">
              <a:lnSpc>
                <a:spcPts val="2903"/>
              </a:lnSpc>
            </a:pPr>
            <a:r>
              <a:rPr lang="en-US" sz="2074">
                <a:solidFill>
                  <a:srgbClr val="000000"/>
                </a:solidFill>
                <a:latin typeface="Public Sans"/>
                <a:ea typeface="Public Sans"/>
                <a:cs typeface="Public Sans"/>
                <a:sym typeface="Public Sans"/>
              </a:rPr>
              <a:t>→ pour avoir toujours les mêmes résultats (reproductibilité)</a:t>
            </a:r>
          </a:p>
          <a:p>
            <a:pPr algn="just" marL="0" indent="0" lvl="0">
              <a:lnSpc>
                <a:spcPts val="2903"/>
              </a:lnSpc>
            </a:pPr>
          </a:p>
        </p:txBody>
      </p:sp>
      <p:sp>
        <p:nvSpPr>
          <p:cNvPr name="TextBox 9" id="9"/>
          <p:cNvSpPr txBox="true"/>
          <p:nvPr/>
        </p:nvSpPr>
        <p:spPr>
          <a:xfrm rot="0">
            <a:off x="10566224" y="5230405"/>
            <a:ext cx="6713864" cy="5433717"/>
          </a:xfrm>
          <a:prstGeom prst="rect">
            <a:avLst/>
          </a:prstGeom>
        </p:spPr>
        <p:txBody>
          <a:bodyPr anchor="t" rtlCol="false" tIns="0" lIns="0" bIns="0" rIns="0">
            <a:spAutoFit/>
          </a:bodyPr>
          <a:lstStyle/>
          <a:p>
            <a:pPr algn="just" marL="0" indent="0" lvl="0">
              <a:lnSpc>
                <a:spcPts val="2903"/>
              </a:lnSpc>
              <a:spcBef>
                <a:spcPct val="0"/>
              </a:spcBef>
            </a:pPr>
            <a:r>
              <a:rPr lang="en-US" sz="2074">
                <a:solidFill>
                  <a:srgbClr val="000000"/>
                </a:solidFill>
                <a:latin typeface="Public Sans"/>
                <a:ea typeface="Public Sans"/>
                <a:cs typeface="Public Sans"/>
                <a:sym typeface="Public Sans"/>
              </a:rPr>
              <a:t>lrf_p</a:t>
            </a:r>
            <a:r>
              <a:rPr lang="en-US" sz="2074">
                <a:solidFill>
                  <a:srgbClr val="000000"/>
                </a:solidFill>
                <a:latin typeface="Public Sans"/>
                <a:ea typeface="Public Sans"/>
                <a:cs typeface="Public Sans"/>
                <a:sym typeface="Public Sans"/>
              </a:rPr>
              <a:t>arams = {</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    'n_estimators': [50, 100],</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    'max_depth': [10, 20, None],</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    'class_weight': ['balanced']</a:t>
            </a:r>
          </a:p>
          <a:p>
            <a:pPr algn="just" marL="0" indent="0" lvl="0">
              <a:lnSpc>
                <a:spcPts val="2903"/>
              </a:lnSpc>
              <a:spcBef>
                <a:spcPct val="0"/>
              </a:spcBef>
            </a:pPr>
            <a:r>
              <a:rPr lang="en-US" sz="2074">
                <a:solidFill>
                  <a:srgbClr val="000000"/>
                </a:solidFill>
                <a:latin typeface="Public Sans"/>
                <a:ea typeface="Public Sans"/>
                <a:cs typeface="Public Sans"/>
                <a:sym typeface="Public Sans"/>
              </a:rPr>
              <a:t>}</a:t>
            </a:r>
          </a:p>
          <a:p>
            <a:pPr algn="just" marL="0" indent="0" lvl="0">
              <a:lnSpc>
                <a:spcPts val="2903"/>
              </a:lnSpc>
              <a:spcBef>
                <a:spcPct val="0"/>
              </a:spcBef>
            </a:pPr>
          </a:p>
          <a:p>
            <a:pPr algn="just">
              <a:lnSpc>
                <a:spcPts val="2903"/>
              </a:lnSpc>
              <a:spcBef>
                <a:spcPct val="0"/>
              </a:spcBef>
            </a:pPr>
            <a:r>
              <a:rPr lang="en-US" sz="2074">
                <a:solidFill>
                  <a:srgbClr val="000000"/>
                </a:solidFill>
                <a:latin typeface="Public Sans"/>
                <a:ea typeface="Public Sans"/>
                <a:cs typeface="Public Sans"/>
                <a:sym typeface="Public Sans"/>
              </a:rPr>
              <a:t>n_estimators :  nombre d’arbres dans la forêt</a:t>
            </a:r>
          </a:p>
          <a:p>
            <a:pPr algn="just">
              <a:lnSpc>
                <a:spcPts val="2903"/>
              </a:lnSpc>
              <a:spcBef>
                <a:spcPct val="0"/>
              </a:spcBef>
            </a:pPr>
            <a:r>
              <a:rPr lang="en-US" sz="2074">
                <a:solidFill>
                  <a:srgbClr val="000000"/>
                </a:solidFill>
                <a:latin typeface="Public Sans"/>
                <a:ea typeface="Public Sans"/>
                <a:cs typeface="Public Sans"/>
                <a:sym typeface="Public Sans"/>
              </a:rPr>
              <a:t>       </a:t>
            </a:r>
            <a:r>
              <a:rPr lang="en-US" sz="2074">
                <a:solidFill>
                  <a:srgbClr val="000000"/>
                </a:solidFill>
                <a:latin typeface="Public Sans"/>
                <a:ea typeface="Public Sans"/>
                <a:cs typeface="Public Sans"/>
                <a:sym typeface="Public Sans"/>
              </a:rPr>
              <a:t>(plus = plus stable mais plus lent)</a:t>
            </a:r>
          </a:p>
          <a:p>
            <a:pPr algn="just">
              <a:lnSpc>
                <a:spcPts val="2903"/>
              </a:lnSpc>
              <a:spcBef>
                <a:spcPct val="0"/>
              </a:spcBef>
            </a:pPr>
            <a:r>
              <a:rPr lang="en-US" sz="2074">
                <a:solidFill>
                  <a:srgbClr val="000000"/>
                </a:solidFill>
                <a:latin typeface="Public Sans"/>
                <a:ea typeface="Public Sans"/>
                <a:cs typeface="Public Sans"/>
                <a:sym typeface="Public Sans"/>
              </a:rPr>
              <a:t>max_depth : profondeur des arbres</a:t>
            </a:r>
          </a:p>
          <a:p>
            <a:pPr algn="just" marL="447805" indent="-223903" lvl="1">
              <a:lnSpc>
                <a:spcPts val="2903"/>
              </a:lnSpc>
              <a:spcBef>
                <a:spcPct val="0"/>
              </a:spcBef>
              <a:buFont typeface="Arial"/>
              <a:buChar char="•"/>
            </a:pPr>
            <a:r>
              <a:rPr lang="en-US" sz="2074">
                <a:solidFill>
                  <a:srgbClr val="000000"/>
                </a:solidFill>
                <a:latin typeface="Public Sans"/>
                <a:ea typeface="Public Sans"/>
                <a:cs typeface="Public Sans"/>
                <a:sym typeface="Public Sans"/>
              </a:rPr>
              <a:t>petit → modèle simple</a:t>
            </a:r>
          </a:p>
          <a:p>
            <a:pPr algn="just" marL="447805" indent="-223903" lvl="1">
              <a:lnSpc>
                <a:spcPts val="2903"/>
              </a:lnSpc>
              <a:spcBef>
                <a:spcPct val="0"/>
              </a:spcBef>
              <a:buFont typeface="Arial"/>
              <a:buChar char="•"/>
            </a:pPr>
            <a:r>
              <a:rPr lang="en-US" sz="2074">
                <a:solidFill>
                  <a:srgbClr val="000000"/>
                </a:solidFill>
                <a:latin typeface="Public Sans"/>
                <a:ea typeface="Public Sans"/>
                <a:cs typeface="Public Sans"/>
                <a:sym typeface="Public Sans"/>
              </a:rPr>
              <a:t>grand → modèle complexe</a:t>
            </a:r>
          </a:p>
          <a:p>
            <a:pPr algn="just">
              <a:lnSpc>
                <a:spcPts val="2903"/>
              </a:lnSpc>
              <a:spcBef>
                <a:spcPct val="0"/>
              </a:spcBef>
            </a:pPr>
            <a:r>
              <a:rPr lang="en-US" sz="2074">
                <a:solidFill>
                  <a:srgbClr val="000000"/>
                </a:solidFill>
                <a:latin typeface="Public Sans"/>
                <a:ea typeface="Public Sans"/>
                <a:cs typeface="Public Sans"/>
                <a:sym typeface="Public Sans"/>
              </a:rPr>
              <a:t>class_weight='balanced' : corrige déséquilibre des classes</a:t>
            </a:r>
          </a:p>
          <a:p>
            <a:pPr algn="just">
              <a:lnSpc>
                <a:spcPts val="2903"/>
              </a:lnSpc>
              <a:spcBef>
                <a:spcPct val="0"/>
              </a:spcBef>
            </a:pPr>
          </a:p>
          <a:p>
            <a:pPr algn="just" marL="0" indent="0" lvl="0">
              <a:lnSpc>
                <a:spcPts val="2903"/>
              </a:lnSpc>
              <a:spcBef>
                <a:spcPct val="0"/>
              </a:spcBef>
            </a:pPr>
          </a:p>
        </p:txBody>
      </p:sp>
      <p:grpSp>
        <p:nvGrpSpPr>
          <p:cNvPr name="Group 10" id="10"/>
          <p:cNvGrpSpPr/>
          <p:nvPr/>
        </p:nvGrpSpPr>
        <p:grpSpPr>
          <a:xfrm rot="0">
            <a:off x="-496457" y="-13403"/>
            <a:ext cx="764313" cy="10287000"/>
            <a:chOff x="0" y="0"/>
            <a:chExt cx="201301" cy="2709333"/>
          </a:xfrm>
        </p:grpSpPr>
        <p:sp>
          <p:nvSpPr>
            <p:cNvPr name="Freeform 11" id="11"/>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12" id="12"/>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grpSp>
        <p:nvGrpSpPr>
          <p:cNvPr name="Group 13" id="13"/>
          <p:cNvGrpSpPr/>
          <p:nvPr/>
        </p:nvGrpSpPr>
        <p:grpSpPr>
          <a:xfrm rot="0">
            <a:off x="18039193" y="-13403"/>
            <a:ext cx="764313" cy="10287000"/>
            <a:chOff x="0" y="0"/>
            <a:chExt cx="201301" cy="2709333"/>
          </a:xfrm>
        </p:grpSpPr>
        <p:sp>
          <p:nvSpPr>
            <p:cNvPr name="Freeform 14" id="14"/>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15" id="15"/>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sp>
        <p:nvSpPr>
          <p:cNvPr name="TextBox 16" id="16"/>
          <p:cNvSpPr txBox="true"/>
          <p:nvPr/>
        </p:nvSpPr>
        <p:spPr>
          <a:xfrm rot="0">
            <a:off x="17514385" y="9607607"/>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27</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22244" y="9071097"/>
            <a:ext cx="20995038" cy="4776798"/>
            <a:chOff x="0" y="0"/>
            <a:chExt cx="2624305" cy="597083"/>
          </a:xfrm>
        </p:grpSpPr>
        <p:sp>
          <p:nvSpPr>
            <p:cNvPr name="Freeform 3" id="3"/>
            <p:cNvSpPr/>
            <p:nvPr/>
          </p:nvSpPr>
          <p:spPr>
            <a:xfrm flipH="false" flipV="false" rot="0">
              <a:off x="6283" y="0"/>
              <a:ext cx="2611739" cy="597083"/>
            </a:xfrm>
            <a:custGeom>
              <a:avLst/>
              <a:gdLst/>
              <a:ahLst/>
              <a:cxnLst/>
              <a:rect r="r" b="b" t="t" l="l"/>
              <a:pathLst>
                <a:path h="597083" w="2611739">
                  <a:moveTo>
                    <a:pt x="219042" y="0"/>
                  </a:moveTo>
                  <a:lnTo>
                    <a:pt x="2595897" y="0"/>
                  </a:lnTo>
                  <a:cubicBezTo>
                    <a:pt x="2601007" y="0"/>
                    <a:pt x="2605803" y="2465"/>
                    <a:pt x="2608778" y="6619"/>
                  </a:cubicBezTo>
                  <a:cubicBezTo>
                    <a:pt x="2611752" y="10774"/>
                    <a:pt x="2612540" y="16108"/>
                    <a:pt x="2610894" y="20945"/>
                  </a:cubicBezTo>
                  <a:lnTo>
                    <a:pt x="2421950" y="576138"/>
                  </a:lnTo>
                  <a:cubicBezTo>
                    <a:pt x="2417688" y="588661"/>
                    <a:pt x="2405927" y="597083"/>
                    <a:pt x="2392697" y="597083"/>
                  </a:cubicBezTo>
                  <a:lnTo>
                    <a:pt x="15842" y="597083"/>
                  </a:lnTo>
                  <a:cubicBezTo>
                    <a:pt x="10732" y="597083"/>
                    <a:pt x="5936" y="594618"/>
                    <a:pt x="2962" y="590464"/>
                  </a:cubicBezTo>
                  <a:cubicBezTo>
                    <a:pt x="-13" y="586309"/>
                    <a:pt x="-801" y="580975"/>
                    <a:pt x="845" y="576138"/>
                  </a:cubicBezTo>
                  <a:lnTo>
                    <a:pt x="189789" y="20945"/>
                  </a:lnTo>
                  <a:cubicBezTo>
                    <a:pt x="194051" y="8421"/>
                    <a:pt x="205813" y="0"/>
                    <a:pt x="219042" y="0"/>
                  </a:cubicBezTo>
                  <a:close/>
                </a:path>
              </a:pathLst>
            </a:custGeom>
            <a:gradFill rotWithShape="true">
              <a:gsLst>
                <a:gs pos="0">
                  <a:srgbClr val="2B79FF">
                    <a:alpha val="100000"/>
                  </a:srgbClr>
                </a:gs>
                <a:gs pos="100000">
                  <a:srgbClr val="0D1296">
                    <a:alpha val="100000"/>
                  </a:srgbClr>
                </a:gs>
              </a:gsLst>
              <a:lin ang="0"/>
            </a:gradFill>
          </p:spPr>
        </p:sp>
        <p:sp>
          <p:nvSpPr>
            <p:cNvPr name="TextBox 4" id="4"/>
            <p:cNvSpPr txBox="true"/>
            <p:nvPr/>
          </p:nvSpPr>
          <p:spPr>
            <a:xfrm>
              <a:off x="101600" y="-38100"/>
              <a:ext cx="2421105" cy="63518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144355" y="3221047"/>
            <a:ext cx="7576169" cy="3844906"/>
          </a:xfrm>
          <a:custGeom>
            <a:avLst/>
            <a:gdLst/>
            <a:ahLst/>
            <a:cxnLst/>
            <a:rect r="r" b="b" t="t" l="l"/>
            <a:pathLst>
              <a:path h="3844906" w="7576169">
                <a:moveTo>
                  <a:pt x="0" y="0"/>
                </a:moveTo>
                <a:lnTo>
                  <a:pt x="7576169" y="0"/>
                </a:lnTo>
                <a:lnTo>
                  <a:pt x="7576169" y="3844906"/>
                </a:lnTo>
                <a:lnTo>
                  <a:pt x="0" y="3844906"/>
                </a:lnTo>
                <a:lnTo>
                  <a:pt x="0" y="0"/>
                </a:lnTo>
                <a:close/>
              </a:path>
            </a:pathLst>
          </a:custGeom>
          <a:blipFill>
            <a:blip r:embed="rId3"/>
            <a:stretch>
              <a:fillRect l="0" t="0" r="0" b="0"/>
            </a:stretch>
          </a:blipFill>
        </p:spPr>
      </p:sp>
      <p:sp>
        <p:nvSpPr>
          <p:cNvPr name="TextBox 6" id="6"/>
          <p:cNvSpPr txBox="true"/>
          <p:nvPr/>
        </p:nvSpPr>
        <p:spPr>
          <a:xfrm rot="0">
            <a:off x="1028700" y="1168316"/>
            <a:ext cx="11862241" cy="1774190"/>
          </a:xfrm>
          <a:prstGeom prst="rect">
            <a:avLst/>
          </a:prstGeom>
        </p:spPr>
        <p:txBody>
          <a:bodyPr anchor="t" rtlCol="false" tIns="0" lIns="0" bIns="0" rIns="0">
            <a:spAutoFit/>
          </a:bodyPr>
          <a:lstStyle/>
          <a:p>
            <a:pPr algn="l" marL="0" indent="0" lvl="0">
              <a:lnSpc>
                <a:spcPts val="7000"/>
              </a:lnSpc>
              <a:spcBef>
                <a:spcPct val="0"/>
              </a:spcBef>
            </a:pPr>
            <a:r>
              <a:rPr lang="en-US" b="true" sz="5600">
                <a:solidFill>
                  <a:srgbClr val="004CCF"/>
                </a:solidFill>
                <a:latin typeface="Aileron Bold"/>
                <a:ea typeface="Aileron Bold"/>
                <a:cs typeface="Aileron Bold"/>
                <a:sym typeface="Aileron Bold"/>
              </a:rPr>
              <a:t>Optimi</a:t>
            </a:r>
            <a:r>
              <a:rPr lang="en-US" b="true" sz="5600" strike="noStrike" u="none">
                <a:solidFill>
                  <a:srgbClr val="004CCF"/>
                </a:solidFill>
                <a:latin typeface="Aileron Bold"/>
                <a:ea typeface="Aileron Bold"/>
                <a:cs typeface="Aileron Bold"/>
                <a:sym typeface="Aileron Bold"/>
              </a:rPr>
              <a:t>s</a:t>
            </a:r>
            <a:r>
              <a:rPr lang="en-US" b="true" sz="5600" strike="noStrike" u="none">
                <a:solidFill>
                  <a:srgbClr val="004CCF"/>
                </a:solidFill>
                <a:latin typeface="Aileron Bold"/>
                <a:ea typeface="Aileron Bold"/>
                <a:cs typeface="Aileron Bold"/>
                <a:sym typeface="Aileron Bold"/>
              </a:rPr>
              <a:t>at</a:t>
            </a:r>
            <a:r>
              <a:rPr lang="en-US" b="true" sz="5600" strike="noStrike" u="none">
                <a:solidFill>
                  <a:srgbClr val="004CCF"/>
                </a:solidFill>
                <a:latin typeface="Aileron Bold"/>
                <a:ea typeface="Aileron Bold"/>
                <a:cs typeface="Aileron Bold"/>
                <a:sym typeface="Aileron Bold"/>
              </a:rPr>
              <a:t>ion </a:t>
            </a:r>
            <a:r>
              <a:rPr lang="en-US" b="true" sz="5600" strike="noStrike" u="none">
                <a:solidFill>
                  <a:srgbClr val="004CCF"/>
                </a:solidFill>
                <a:latin typeface="Aileron Bold"/>
                <a:ea typeface="Aileron Bold"/>
                <a:cs typeface="Aileron Bold"/>
                <a:sym typeface="Aileron Bold"/>
              </a:rPr>
              <a:t>Gr</a:t>
            </a:r>
            <a:r>
              <a:rPr lang="en-US" b="true" sz="5600" strike="noStrike" u="none">
                <a:solidFill>
                  <a:srgbClr val="004CCF"/>
                </a:solidFill>
                <a:latin typeface="Aileron Bold"/>
                <a:ea typeface="Aileron Bold"/>
                <a:cs typeface="Aileron Bold"/>
                <a:sym typeface="Aileron Bold"/>
              </a:rPr>
              <a:t>i</a:t>
            </a:r>
            <a:r>
              <a:rPr lang="en-US" b="true" sz="5600" strike="noStrike" u="none">
                <a:solidFill>
                  <a:srgbClr val="004CCF"/>
                </a:solidFill>
                <a:latin typeface="Aileron Bold"/>
                <a:ea typeface="Aileron Bold"/>
                <a:cs typeface="Aileron Bold"/>
                <a:sym typeface="Aileron Bold"/>
              </a:rPr>
              <a:t>dS</a:t>
            </a:r>
            <a:r>
              <a:rPr lang="en-US" b="true" sz="5600" strike="noStrike" u="none">
                <a:solidFill>
                  <a:srgbClr val="004CCF"/>
                </a:solidFill>
                <a:latin typeface="Aileron Bold"/>
                <a:ea typeface="Aileron Bold"/>
                <a:cs typeface="Aileron Bold"/>
                <a:sym typeface="Aileron Bold"/>
              </a:rPr>
              <a:t>e</a:t>
            </a:r>
            <a:r>
              <a:rPr lang="en-US" b="true" sz="5600" strike="noStrike" u="none">
                <a:solidFill>
                  <a:srgbClr val="004CCF"/>
                </a:solidFill>
                <a:latin typeface="Aileron Bold"/>
                <a:ea typeface="Aileron Bold"/>
                <a:cs typeface="Aileron Bold"/>
                <a:sym typeface="Aileron Bold"/>
              </a:rPr>
              <a:t>archCV</a:t>
            </a:r>
          </a:p>
          <a:p>
            <a:pPr algn="l" marL="0" indent="0" lvl="0">
              <a:lnSpc>
                <a:spcPts val="7000"/>
              </a:lnSpc>
              <a:spcBef>
                <a:spcPct val="0"/>
              </a:spcBef>
            </a:pPr>
          </a:p>
        </p:txBody>
      </p:sp>
      <p:sp>
        <p:nvSpPr>
          <p:cNvPr name="TextBox 7" id="7"/>
          <p:cNvSpPr txBox="true"/>
          <p:nvPr/>
        </p:nvSpPr>
        <p:spPr>
          <a:xfrm rot="0">
            <a:off x="1256903" y="2706529"/>
            <a:ext cx="8446082" cy="5383553"/>
          </a:xfrm>
          <a:prstGeom prst="rect">
            <a:avLst/>
          </a:prstGeom>
        </p:spPr>
        <p:txBody>
          <a:bodyPr anchor="t" rtlCol="false" tIns="0" lIns="0" bIns="0" rIns="0">
            <a:spAutoFit/>
          </a:bodyPr>
          <a:lstStyle/>
          <a:p>
            <a:pPr algn="l" marL="0" indent="0" lvl="0">
              <a:lnSpc>
                <a:spcPts val="3568"/>
              </a:lnSpc>
              <a:spcBef>
                <a:spcPct val="0"/>
              </a:spcBef>
            </a:pPr>
            <a:r>
              <a:rPr lang="en-US" sz="2549">
                <a:solidFill>
                  <a:srgbClr val="011226"/>
                </a:solidFill>
                <a:latin typeface="Poppins"/>
                <a:ea typeface="Poppins"/>
                <a:cs typeface="Poppins"/>
                <a:sym typeface="Poppins"/>
              </a:rPr>
              <a:t>La GridSea</a:t>
            </a:r>
            <a:r>
              <a:rPr lang="en-US" sz="2549">
                <a:solidFill>
                  <a:srgbClr val="011226"/>
                </a:solidFill>
                <a:latin typeface="Poppins"/>
                <a:ea typeface="Poppins"/>
                <a:cs typeface="Poppins"/>
                <a:sym typeface="Poppins"/>
              </a:rPr>
              <a:t>rchCV teste automatiquement toutes les combinaisons possibles d’hyperparamètres pour trouver celle qui donne les meilleures performances selon une métrique donnée. Elle valide chaque combinaison avec une validation croisée pour éviter le sur-apprentissage.</a:t>
            </a:r>
          </a:p>
          <a:p>
            <a:pPr algn="l" marL="0" indent="0" lvl="0">
              <a:lnSpc>
                <a:spcPts val="3568"/>
              </a:lnSpc>
              <a:spcBef>
                <a:spcPct val="0"/>
              </a:spcBef>
            </a:pPr>
          </a:p>
          <a:p>
            <a:pPr algn="l" marL="0" indent="0" lvl="0">
              <a:lnSpc>
                <a:spcPts val="3568"/>
              </a:lnSpc>
              <a:spcBef>
                <a:spcPct val="0"/>
              </a:spcBef>
            </a:pPr>
            <a:r>
              <a:rPr lang="en-US" sz="2549">
                <a:solidFill>
                  <a:srgbClr val="011226"/>
                </a:solidFill>
                <a:latin typeface="Poppins"/>
                <a:ea typeface="Poppins"/>
                <a:cs typeface="Poppins"/>
                <a:sym typeface="Poppins"/>
              </a:rPr>
              <a:t>Ses principaux paramètres sont</a:t>
            </a:r>
          </a:p>
          <a:p>
            <a:pPr algn="l" marL="550351" indent="-275175" lvl="1">
              <a:lnSpc>
                <a:spcPts val="3568"/>
              </a:lnSpc>
              <a:buFont typeface="Arial"/>
              <a:buChar char="•"/>
            </a:pPr>
            <a:r>
              <a:rPr lang="en-US" sz="2549">
                <a:solidFill>
                  <a:srgbClr val="011226"/>
                </a:solidFill>
                <a:latin typeface="Poppins"/>
                <a:ea typeface="Poppins"/>
                <a:cs typeface="Poppins"/>
                <a:sym typeface="Poppins"/>
              </a:rPr>
              <a:t>param_grid (les valeurs à tester),</a:t>
            </a:r>
          </a:p>
          <a:p>
            <a:pPr algn="l" marL="550351" indent="-275175" lvl="1">
              <a:lnSpc>
                <a:spcPts val="3568"/>
              </a:lnSpc>
              <a:buFont typeface="Arial"/>
              <a:buChar char="•"/>
            </a:pPr>
            <a:r>
              <a:rPr lang="en-US" sz="2549">
                <a:solidFill>
                  <a:srgbClr val="011226"/>
                </a:solidFill>
                <a:latin typeface="Poppins"/>
                <a:ea typeface="Poppins"/>
                <a:cs typeface="Poppins"/>
                <a:sym typeface="Poppins"/>
              </a:rPr>
              <a:t>cv (nombre de folds de validation croisée)</a:t>
            </a:r>
          </a:p>
          <a:p>
            <a:pPr algn="l" marL="550351" indent="-275175" lvl="1">
              <a:lnSpc>
                <a:spcPts val="3568"/>
              </a:lnSpc>
              <a:buFont typeface="Arial"/>
              <a:buChar char="•"/>
            </a:pPr>
            <a:r>
              <a:rPr lang="en-US" sz="2549">
                <a:solidFill>
                  <a:srgbClr val="011226"/>
                </a:solidFill>
                <a:latin typeface="Poppins"/>
                <a:ea typeface="Poppins"/>
                <a:cs typeface="Poppins"/>
                <a:sym typeface="Poppins"/>
              </a:rPr>
              <a:t>scoring (f1-score).</a:t>
            </a:r>
          </a:p>
          <a:p>
            <a:pPr algn="l" marL="0" indent="0" lvl="0">
              <a:lnSpc>
                <a:spcPts val="3568"/>
              </a:lnSpc>
              <a:spcBef>
                <a:spcPct val="0"/>
              </a:spcBef>
            </a:pP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Open Sans"/>
                <a:ea typeface="Open Sans"/>
                <a:cs typeface="Open Sans"/>
                <a:sym typeface="Open Sans"/>
              </a:rPr>
              <a:t>28</a:t>
            </a: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2697" y="505714"/>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273F5D"/>
                </a:solidFill>
                <a:latin typeface="Aileron Ultra-Bold"/>
                <a:ea typeface="Aileron Ultra-Bold"/>
                <a:cs typeface="Aileron Ultra-Bold"/>
                <a:sym typeface="Aileron Ultra-Bold"/>
              </a:rPr>
              <a:t>R</a:t>
            </a:r>
            <a:r>
              <a:rPr lang="en-US" b="true" sz="3699">
                <a:solidFill>
                  <a:srgbClr val="273F5D"/>
                </a:solidFill>
                <a:latin typeface="Aileron Ultra-Bold"/>
                <a:ea typeface="Aileron Ultra-Bold"/>
                <a:cs typeface="Aileron Ultra-Bold"/>
                <a:sym typeface="Aileron Ultra-Bold"/>
              </a:rPr>
              <a:t>égression Logistique</a:t>
            </a:r>
          </a:p>
        </p:txBody>
      </p:sp>
      <p:sp>
        <p:nvSpPr>
          <p:cNvPr name="TextBox 3" id="3"/>
          <p:cNvSpPr txBox="true"/>
          <p:nvPr/>
        </p:nvSpPr>
        <p:spPr>
          <a:xfrm rot="0">
            <a:off x="1292697" y="2929057"/>
            <a:ext cx="6713864" cy="3190262"/>
          </a:xfrm>
          <a:prstGeom prst="rect">
            <a:avLst/>
          </a:prstGeom>
        </p:spPr>
        <p:txBody>
          <a:bodyPr anchor="t" rtlCol="false" tIns="0" lIns="0" bIns="0" rIns="0">
            <a:spAutoFit/>
          </a:bodyPr>
          <a:lstStyle/>
          <a:p>
            <a:pPr algn="just" marL="0" indent="0" lvl="0">
              <a:lnSpc>
                <a:spcPts val="3183"/>
              </a:lnSpc>
              <a:spcBef>
                <a:spcPct val="0"/>
              </a:spcBef>
            </a:pPr>
            <a:r>
              <a:rPr lang="en-US" sz="2274">
                <a:solidFill>
                  <a:srgbClr val="000000"/>
                </a:solidFill>
                <a:latin typeface="Public Sans"/>
                <a:ea typeface="Public Sans"/>
                <a:cs typeface="Public Sans"/>
                <a:sym typeface="Public Sans"/>
              </a:rPr>
              <a:t>rf_grid = GridSearchCV(</a:t>
            </a:r>
          </a:p>
          <a:p>
            <a:pPr algn="just">
              <a:lnSpc>
                <a:spcPts val="3183"/>
              </a:lnSpc>
              <a:spcBef>
                <a:spcPct val="0"/>
              </a:spcBef>
            </a:pPr>
            <a:r>
              <a:rPr lang="en-US" sz="2274">
                <a:solidFill>
                  <a:srgbClr val="000000"/>
                </a:solidFill>
                <a:latin typeface="Public Sans"/>
                <a:ea typeface="Public Sans"/>
                <a:cs typeface="Public Sans"/>
                <a:sym typeface="Public Sans"/>
              </a:rPr>
              <a:t>    RandomForestClassifier(random_state=42),</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    rf_params,</a:t>
            </a:r>
          </a:p>
          <a:p>
            <a:pPr algn="just">
              <a:lnSpc>
                <a:spcPts val="3183"/>
              </a:lnSpc>
              <a:spcBef>
                <a:spcPct val="0"/>
              </a:spcBef>
            </a:pPr>
            <a:r>
              <a:rPr lang="en-US" sz="2274">
                <a:solidFill>
                  <a:srgbClr val="000000"/>
                </a:solidFill>
                <a:latin typeface="Public Sans"/>
                <a:ea typeface="Public Sans"/>
                <a:cs typeface="Public Sans"/>
                <a:sym typeface="Public Sans"/>
              </a:rPr>
              <a:t>    cv=5,</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    scoring='</a:t>
            </a:r>
            <a:r>
              <a:rPr lang="en-US" b="true" sz="2274">
                <a:solidFill>
                  <a:srgbClr val="000000"/>
                </a:solidFill>
                <a:latin typeface="Public Sans Bold"/>
                <a:ea typeface="Public Sans Bold"/>
                <a:cs typeface="Public Sans Bold"/>
                <a:sym typeface="Public Sans Bold"/>
              </a:rPr>
              <a:t>f1</a:t>
            </a:r>
            <a:r>
              <a:rPr lang="en-US" sz="2274">
                <a:solidFill>
                  <a:srgbClr val="000000"/>
                </a:solidFill>
                <a:latin typeface="Public Sans"/>
                <a:ea typeface="Public Sans"/>
                <a:cs typeface="Public Sans"/>
                <a:sym typeface="Public Sans"/>
              </a:rPr>
              <a:t>'</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a:t>
            </a:r>
          </a:p>
          <a:p>
            <a:pPr algn="just" marL="0" indent="0" lvl="0">
              <a:lnSpc>
                <a:spcPts val="3183"/>
              </a:lnSpc>
              <a:spcBef>
                <a:spcPct val="0"/>
              </a:spcBef>
            </a:pPr>
          </a:p>
          <a:p>
            <a:pPr algn="just" marL="0" indent="0" lvl="0">
              <a:lnSpc>
                <a:spcPts val="3183"/>
              </a:lnSpc>
              <a:spcBef>
                <a:spcPct val="0"/>
              </a:spcBef>
            </a:pPr>
            <a:r>
              <a:rPr lang="en-US" sz="2274">
                <a:solidFill>
                  <a:srgbClr val="000000"/>
                </a:solidFill>
                <a:latin typeface="Public Sans"/>
                <a:ea typeface="Public Sans"/>
                <a:cs typeface="Public Sans"/>
                <a:sym typeface="Public Sans"/>
              </a:rPr>
              <a:t>rf_grid.fit(X_train, y_train)</a:t>
            </a:r>
          </a:p>
        </p:txBody>
      </p:sp>
      <p:sp>
        <p:nvSpPr>
          <p:cNvPr name="TextBox 4" id="4"/>
          <p:cNvSpPr txBox="true"/>
          <p:nvPr/>
        </p:nvSpPr>
        <p:spPr>
          <a:xfrm rot="0">
            <a:off x="1292697" y="1841862"/>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004CCF"/>
                </a:solidFill>
                <a:latin typeface="Aileron Ultra-Bold"/>
                <a:ea typeface="Aileron Ultra-Bold"/>
                <a:cs typeface="Aileron Ultra-Bold"/>
                <a:sym typeface="Aileron Ultra-Bold"/>
              </a:rPr>
              <a:t>G</a:t>
            </a:r>
            <a:r>
              <a:rPr lang="en-US" b="true" sz="3699">
                <a:solidFill>
                  <a:srgbClr val="004CCF"/>
                </a:solidFill>
                <a:latin typeface="Aileron Ultra-Bold"/>
                <a:ea typeface="Aileron Ultra-Bold"/>
                <a:cs typeface="Aileron Ultra-Bold"/>
                <a:sym typeface="Aileron Ultra-Bold"/>
              </a:rPr>
              <a:t>ridSearchCV (entraînement)</a:t>
            </a:r>
          </a:p>
        </p:txBody>
      </p:sp>
      <p:sp>
        <p:nvSpPr>
          <p:cNvPr name="TextBox 5" id="5"/>
          <p:cNvSpPr txBox="true"/>
          <p:nvPr/>
        </p:nvSpPr>
        <p:spPr>
          <a:xfrm rot="0">
            <a:off x="10470974" y="505714"/>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273F5D"/>
                </a:solidFill>
                <a:latin typeface="Aileron Ultra-Bold"/>
                <a:ea typeface="Aileron Ultra-Bold"/>
                <a:cs typeface="Aileron Ultra-Bold"/>
                <a:sym typeface="Aileron Ultra-Bold"/>
              </a:rPr>
              <a:t>Random Fo</a:t>
            </a:r>
            <a:r>
              <a:rPr lang="en-US" b="true" sz="3699">
                <a:solidFill>
                  <a:srgbClr val="273F5D"/>
                </a:solidFill>
                <a:latin typeface="Aileron Ultra-Bold"/>
                <a:ea typeface="Aileron Ultra-Bold"/>
                <a:cs typeface="Aileron Ultra-Bold"/>
                <a:sym typeface="Aileron Ultra-Bold"/>
              </a:rPr>
              <a:t>rest Classifier</a:t>
            </a:r>
          </a:p>
        </p:txBody>
      </p:sp>
      <p:grpSp>
        <p:nvGrpSpPr>
          <p:cNvPr name="Group 6" id="6"/>
          <p:cNvGrpSpPr/>
          <p:nvPr/>
        </p:nvGrpSpPr>
        <p:grpSpPr>
          <a:xfrm rot="0">
            <a:off x="-496457" y="-13403"/>
            <a:ext cx="764313" cy="10287000"/>
            <a:chOff x="0" y="0"/>
            <a:chExt cx="201301" cy="2709333"/>
          </a:xfrm>
        </p:grpSpPr>
        <p:sp>
          <p:nvSpPr>
            <p:cNvPr name="Freeform 7" id="7"/>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8" id="8"/>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grpSp>
        <p:nvGrpSpPr>
          <p:cNvPr name="Group 9" id="9"/>
          <p:cNvGrpSpPr/>
          <p:nvPr/>
        </p:nvGrpSpPr>
        <p:grpSpPr>
          <a:xfrm rot="0">
            <a:off x="18039193" y="-13403"/>
            <a:ext cx="764313" cy="10287000"/>
            <a:chOff x="0" y="0"/>
            <a:chExt cx="201301" cy="2709333"/>
          </a:xfrm>
        </p:grpSpPr>
        <p:sp>
          <p:nvSpPr>
            <p:cNvPr name="Freeform 10" id="10"/>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11" id="11"/>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sp>
        <p:nvSpPr>
          <p:cNvPr name="TextBox 12" id="12"/>
          <p:cNvSpPr txBox="true"/>
          <p:nvPr/>
        </p:nvSpPr>
        <p:spPr>
          <a:xfrm rot="0">
            <a:off x="10545436" y="2929057"/>
            <a:ext cx="6713864" cy="3190262"/>
          </a:xfrm>
          <a:prstGeom prst="rect">
            <a:avLst/>
          </a:prstGeom>
        </p:spPr>
        <p:txBody>
          <a:bodyPr anchor="t" rtlCol="false" tIns="0" lIns="0" bIns="0" rIns="0">
            <a:spAutoFit/>
          </a:bodyPr>
          <a:lstStyle/>
          <a:p>
            <a:pPr algn="just" marL="0" indent="0" lvl="0">
              <a:lnSpc>
                <a:spcPts val="3183"/>
              </a:lnSpc>
              <a:spcBef>
                <a:spcPct val="0"/>
              </a:spcBef>
            </a:pPr>
            <a:r>
              <a:rPr lang="en-US" sz="2274">
                <a:solidFill>
                  <a:srgbClr val="000000"/>
                </a:solidFill>
                <a:latin typeface="Public Sans"/>
                <a:ea typeface="Public Sans"/>
                <a:cs typeface="Public Sans"/>
                <a:sym typeface="Public Sans"/>
              </a:rPr>
              <a:t>l</a:t>
            </a:r>
            <a:r>
              <a:rPr lang="en-US" sz="2274">
                <a:solidFill>
                  <a:srgbClr val="000000"/>
                </a:solidFill>
                <a:latin typeface="Public Sans"/>
                <a:ea typeface="Public Sans"/>
                <a:cs typeface="Public Sans"/>
                <a:sym typeface="Public Sans"/>
              </a:rPr>
              <a:t>r_grid = GridSearchCV(</a:t>
            </a:r>
          </a:p>
          <a:p>
            <a:pPr algn="just">
              <a:lnSpc>
                <a:spcPts val="3183"/>
              </a:lnSpc>
              <a:spcBef>
                <a:spcPct val="0"/>
              </a:spcBef>
            </a:pPr>
            <a:r>
              <a:rPr lang="en-US" sz="2274">
                <a:solidFill>
                  <a:srgbClr val="000000"/>
                </a:solidFill>
                <a:latin typeface="Public Sans"/>
                <a:ea typeface="Public Sans"/>
                <a:cs typeface="Public Sans"/>
                <a:sym typeface="Public Sans"/>
              </a:rPr>
              <a:t>    LogisticRegression(max_iter=1000),</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    lr_params,</a:t>
            </a:r>
          </a:p>
          <a:p>
            <a:pPr algn="just">
              <a:lnSpc>
                <a:spcPts val="3183"/>
              </a:lnSpc>
              <a:spcBef>
                <a:spcPct val="0"/>
              </a:spcBef>
            </a:pPr>
            <a:r>
              <a:rPr lang="en-US" sz="2274">
                <a:solidFill>
                  <a:srgbClr val="000000"/>
                </a:solidFill>
                <a:latin typeface="Public Sans"/>
                <a:ea typeface="Public Sans"/>
                <a:cs typeface="Public Sans"/>
                <a:sym typeface="Public Sans"/>
              </a:rPr>
              <a:t>    cv=5,</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    scoring='</a:t>
            </a:r>
            <a:r>
              <a:rPr lang="en-US" b="true" sz="2274">
                <a:solidFill>
                  <a:srgbClr val="000000"/>
                </a:solidFill>
                <a:latin typeface="Public Sans Bold"/>
                <a:ea typeface="Public Sans Bold"/>
                <a:cs typeface="Public Sans Bold"/>
                <a:sym typeface="Public Sans Bold"/>
              </a:rPr>
              <a:t>f1</a:t>
            </a:r>
            <a:r>
              <a:rPr lang="en-US" sz="2274">
                <a:solidFill>
                  <a:srgbClr val="000000"/>
                </a:solidFill>
                <a:latin typeface="Public Sans"/>
                <a:ea typeface="Public Sans"/>
                <a:cs typeface="Public Sans"/>
                <a:sym typeface="Public Sans"/>
              </a:rPr>
              <a:t>'</a:t>
            </a:r>
          </a:p>
          <a:p>
            <a:pPr algn="just" marL="0" indent="0" lvl="0">
              <a:lnSpc>
                <a:spcPts val="3183"/>
              </a:lnSpc>
              <a:spcBef>
                <a:spcPct val="0"/>
              </a:spcBef>
            </a:pPr>
            <a:r>
              <a:rPr lang="en-US" sz="2274">
                <a:solidFill>
                  <a:srgbClr val="000000"/>
                </a:solidFill>
                <a:latin typeface="Public Sans"/>
                <a:ea typeface="Public Sans"/>
                <a:cs typeface="Public Sans"/>
                <a:sym typeface="Public Sans"/>
              </a:rPr>
              <a:t>)</a:t>
            </a:r>
          </a:p>
          <a:p>
            <a:pPr algn="just" marL="0" indent="0" lvl="0">
              <a:lnSpc>
                <a:spcPts val="3183"/>
              </a:lnSpc>
              <a:spcBef>
                <a:spcPct val="0"/>
              </a:spcBef>
            </a:pPr>
          </a:p>
          <a:p>
            <a:pPr algn="just" marL="0" indent="0" lvl="0">
              <a:lnSpc>
                <a:spcPts val="3183"/>
              </a:lnSpc>
              <a:spcBef>
                <a:spcPct val="0"/>
              </a:spcBef>
            </a:pPr>
            <a:r>
              <a:rPr lang="en-US" sz="2274">
                <a:solidFill>
                  <a:srgbClr val="000000"/>
                </a:solidFill>
                <a:latin typeface="Public Sans"/>
                <a:ea typeface="Public Sans"/>
                <a:cs typeface="Public Sans"/>
                <a:sym typeface="Public Sans"/>
              </a:rPr>
              <a:t>lr_grid.fit(X_train, y_train)</a:t>
            </a:r>
          </a:p>
        </p:txBody>
      </p:sp>
      <p:sp>
        <p:nvSpPr>
          <p:cNvPr name="TextBox 13" id="13"/>
          <p:cNvSpPr txBox="true"/>
          <p:nvPr/>
        </p:nvSpPr>
        <p:spPr>
          <a:xfrm rot="0">
            <a:off x="1292697" y="7262544"/>
            <a:ext cx="9406962" cy="586105"/>
          </a:xfrm>
          <a:prstGeom prst="rect">
            <a:avLst/>
          </a:prstGeom>
        </p:spPr>
        <p:txBody>
          <a:bodyPr anchor="t" rtlCol="false" tIns="0" lIns="0" bIns="0" rIns="0">
            <a:spAutoFit/>
          </a:bodyPr>
          <a:lstStyle/>
          <a:p>
            <a:pPr algn="l" marL="0" indent="0" lvl="0">
              <a:lnSpc>
                <a:spcPts val="4624"/>
              </a:lnSpc>
            </a:pPr>
            <a:r>
              <a:rPr lang="en-US" b="true" sz="3699" strike="noStrike" u="none">
                <a:solidFill>
                  <a:srgbClr val="004CCF"/>
                </a:solidFill>
                <a:latin typeface="Aileron Bold"/>
                <a:ea typeface="Aileron Bold"/>
                <a:cs typeface="Aileron Bold"/>
                <a:sym typeface="Aileron Bold"/>
              </a:rPr>
              <a:t>Justification du Choix des Métriques</a:t>
            </a:r>
          </a:p>
        </p:txBody>
      </p:sp>
      <p:sp>
        <p:nvSpPr>
          <p:cNvPr name="TextBox 14" id="14"/>
          <p:cNvSpPr txBox="true"/>
          <p:nvPr/>
        </p:nvSpPr>
        <p:spPr>
          <a:xfrm rot="0">
            <a:off x="1292697" y="8195464"/>
            <a:ext cx="16403934" cy="1563370"/>
          </a:xfrm>
          <a:prstGeom prst="rect">
            <a:avLst/>
          </a:prstGeom>
        </p:spPr>
        <p:txBody>
          <a:bodyPr anchor="t" rtlCol="false" tIns="0" lIns="0" bIns="0" rIns="0">
            <a:spAutoFit/>
          </a:bodyPr>
          <a:lstStyle/>
          <a:p>
            <a:pPr algn="l" marL="0" indent="0" lvl="0">
              <a:lnSpc>
                <a:spcPts val="3079"/>
              </a:lnSpc>
              <a:spcBef>
                <a:spcPct val="0"/>
              </a:spcBef>
            </a:pPr>
            <a:r>
              <a:rPr lang="en-US" sz="2199">
                <a:solidFill>
                  <a:srgbClr val="011226"/>
                </a:solidFill>
                <a:latin typeface="Poppins"/>
                <a:ea typeface="Poppins"/>
                <a:cs typeface="Poppins"/>
                <a:sym typeface="Poppins"/>
              </a:rPr>
              <a:t>F1-Score comme métrique principale : équilibre optimal entre précision et recall, essentiel pour la prédiction de churn.</a:t>
            </a:r>
          </a:p>
          <a:p>
            <a:pPr algn="l" marL="0" indent="0" lvl="0">
              <a:lnSpc>
                <a:spcPts val="3079"/>
              </a:lnSpc>
              <a:spcBef>
                <a:spcPct val="0"/>
              </a:spcBef>
            </a:pPr>
            <a:r>
              <a:rPr lang="en-US" sz="2199">
                <a:solidFill>
                  <a:srgbClr val="011226"/>
                </a:solidFill>
                <a:latin typeface="Poppins"/>
                <a:ea typeface="Poppins"/>
                <a:cs typeface="Poppins"/>
                <a:sym typeface="Poppins"/>
              </a:rPr>
              <a:t>Faux négatifs critiques : ne pas détecter un client à risque coûte plus cher que de cibler un client fidèle. Le recall est donc prioritaire.</a:t>
            </a:r>
          </a:p>
          <a:p>
            <a:pPr algn="l" marL="0" indent="0" lvl="0">
              <a:lnSpc>
                <a:spcPts val="3079"/>
              </a:lnSpc>
              <a:spcBef>
                <a:spcPct val="0"/>
              </a:spcBef>
            </a:pPr>
          </a:p>
        </p:txBody>
      </p:sp>
      <p:sp>
        <p:nvSpPr>
          <p:cNvPr name="TextBox 15" id="15"/>
          <p:cNvSpPr txBox="true"/>
          <p:nvPr/>
        </p:nvSpPr>
        <p:spPr>
          <a:xfrm rot="0">
            <a:off x="17259300" y="9419109"/>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29</a:t>
            </a: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92697" y="505714"/>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273F5D"/>
                </a:solidFill>
                <a:latin typeface="Aileron Ultra-Bold"/>
                <a:ea typeface="Aileron Ultra-Bold"/>
                <a:cs typeface="Aileron Ultra-Bold"/>
                <a:sym typeface="Aileron Ultra-Bold"/>
              </a:rPr>
              <a:t>Etape commune :</a:t>
            </a:r>
          </a:p>
        </p:txBody>
      </p:sp>
      <p:sp>
        <p:nvSpPr>
          <p:cNvPr name="TextBox 3" id="3"/>
          <p:cNvSpPr txBox="true"/>
          <p:nvPr/>
        </p:nvSpPr>
        <p:spPr>
          <a:xfrm rot="0">
            <a:off x="1292697" y="2919532"/>
            <a:ext cx="6713864" cy="835047"/>
          </a:xfrm>
          <a:prstGeom prst="rect">
            <a:avLst/>
          </a:prstGeom>
        </p:spPr>
        <p:txBody>
          <a:bodyPr anchor="t" rtlCol="false" tIns="0" lIns="0" bIns="0" rIns="0">
            <a:spAutoFit/>
          </a:bodyPr>
          <a:lstStyle/>
          <a:p>
            <a:pPr algn="just" marL="0" indent="0" lvl="0">
              <a:lnSpc>
                <a:spcPts val="3323"/>
              </a:lnSpc>
              <a:spcBef>
                <a:spcPct val="0"/>
              </a:spcBef>
            </a:pPr>
            <a:r>
              <a:rPr lang="en-US" sz="2374">
                <a:solidFill>
                  <a:srgbClr val="000000"/>
                </a:solidFill>
                <a:latin typeface="Public Sans"/>
                <a:ea typeface="Public Sans"/>
                <a:cs typeface="Public Sans"/>
                <a:sym typeface="Public Sans"/>
              </a:rPr>
              <a:t>b</a:t>
            </a:r>
            <a:r>
              <a:rPr lang="en-US" sz="2374">
                <a:solidFill>
                  <a:srgbClr val="000000"/>
                </a:solidFill>
                <a:latin typeface="Public Sans"/>
                <a:ea typeface="Public Sans"/>
                <a:cs typeface="Public Sans"/>
                <a:sym typeface="Public Sans"/>
              </a:rPr>
              <a:t>est_lr_model = lr_grid.best_estimator_</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(best_model.pkl)</a:t>
            </a:r>
          </a:p>
        </p:txBody>
      </p:sp>
      <p:sp>
        <p:nvSpPr>
          <p:cNvPr name="TextBox 4" id="4"/>
          <p:cNvSpPr txBox="true"/>
          <p:nvPr/>
        </p:nvSpPr>
        <p:spPr>
          <a:xfrm rot="0">
            <a:off x="1292697" y="1841862"/>
            <a:ext cx="6713864"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004CCF"/>
                </a:solidFill>
                <a:latin typeface="Aileron Ultra-Bold"/>
                <a:ea typeface="Aileron Ultra-Bold"/>
                <a:cs typeface="Aileron Ultra-Bold"/>
                <a:sym typeface="Aileron Ultra-Bold"/>
              </a:rPr>
              <a:t>Récupé</a:t>
            </a:r>
            <a:r>
              <a:rPr lang="en-US" b="true" sz="3699">
                <a:solidFill>
                  <a:srgbClr val="004CCF"/>
                </a:solidFill>
                <a:latin typeface="Aileron Ultra-Bold"/>
                <a:ea typeface="Aileron Ultra-Bold"/>
                <a:cs typeface="Aileron Ultra-Bold"/>
                <a:sym typeface="Aileron Ultra-Bold"/>
              </a:rPr>
              <a:t>rer le meilleur modèle</a:t>
            </a:r>
          </a:p>
        </p:txBody>
      </p:sp>
      <p:grpSp>
        <p:nvGrpSpPr>
          <p:cNvPr name="Group 5" id="5"/>
          <p:cNvGrpSpPr/>
          <p:nvPr/>
        </p:nvGrpSpPr>
        <p:grpSpPr>
          <a:xfrm rot="0">
            <a:off x="-496457" y="-13403"/>
            <a:ext cx="764313" cy="10287000"/>
            <a:chOff x="0" y="0"/>
            <a:chExt cx="201301" cy="2709333"/>
          </a:xfrm>
        </p:grpSpPr>
        <p:sp>
          <p:nvSpPr>
            <p:cNvPr name="Freeform 6" id="6"/>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7" id="7"/>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grpSp>
        <p:nvGrpSpPr>
          <p:cNvPr name="Group 8" id="8"/>
          <p:cNvGrpSpPr/>
          <p:nvPr/>
        </p:nvGrpSpPr>
        <p:grpSpPr>
          <a:xfrm rot="0">
            <a:off x="18039193" y="-13403"/>
            <a:ext cx="764313" cy="10287000"/>
            <a:chOff x="0" y="0"/>
            <a:chExt cx="201301" cy="2709333"/>
          </a:xfrm>
        </p:grpSpPr>
        <p:sp>
          <p:nvSpPr>
            <p:cNvPr name="Freeform 9" id="9"/>
            <p:cNvSpPr/>
            <p:nvPr/>
          </p:nvSpPr>
          <p:spPr>
            <a:xfrm flipH="false" flipV="false" rot="0">
              <a:off x="0" y="0"/>
              <a:ext cx="201301" cy="2709333"/>
            </a:xfrm>
            <a:custGeom>
              <a:avLst/>
              <a:gdLst/>
              <a:ahLst/>
              <a:cxnLst/>
              <a:rect r="r" b="b" t="t" l="l"/>
              <a:pathLst>
                <a:path h="2709333" w="201301">
                  <a:moveTo>
                    <a:pt x="0" y="0"/>
                  </a:moveTo>
                  <a:lnTo>
                    <a:pt x="201301" y="0"/>
                  </a:lnTo>
                  <a:lnTo>
                    <a:pt x="201301" y="2709333"/>
                  </a:lnTo>
                  <a:lnTo>
                    <a:pt x="0" y="2709333"/>
                  </a:lnTo>
                  <a:close/>
                </a:path>
              </a:pathLst>
            </a:custGeom>
            <a:solidFill>
              <a:srgbClr val="0E62F2"/>
            </a:solidFill>
          </p:spPr>
        </p:sp>
        <p:sp>
          <p:nvSpPr>
            <p:cNvPr name="TextBox 10" id="10"/>
            <p:cNvSpPr txBox="true"/>
            <p:nvPr/>
          </p:nvSpPr>
          <p:spPr>
            <a:xfrm>
              <a:off x="0" y="-47625"/>
              <a:ext cx="201301" cy="2756958"/>
            </a:xfrm>
            <a:prstGeom prst="rect">
              <a:avLst/>
            </a:prstGeom>
          </p:spPr>
          <p:txBody>
            <a:bodyPr anchor="ctr" rtlCol="false" tIns="50800" lIns="50800" bIns="50800" rIns="50800"/>
            <a:lstStyle/>
            <a:p>
              <a:pPr algn="l" marL="0" indent="0" lvl="0">
                <a:lnSpc>
                  <a:spcPts val="3258"/>
                </a:lnSpc>
              </a:pPr>
            </a:p>
          </p:txBody>
        </p:sp>
      </p:grpSp>
      <p:sp>
        <p:nvSpPr>
          <p:cNvPr name="TextBox 11" id="11"/>
          <p:cNvSpPr txBox="true"/>
          <p:nvPr/>
        </p:nvSpPr>
        <p:spPr>
          <a:xfrm rot="0">
            <a:off x="1292697" y="5060849"/>
            <a:ext cx="5817516" cy="1254147"/>
          </a:xfrm>
          <a:prstGeom prst="rect">
            <a:avLst/>
          </a:prstGeom>
        </p:spPr>
        <p:txBody>
          <a:bodyPr anchor="t" rtlCol="false" tIns="0" lIns="0" bIns="0" rIns="0">
            <a:spAutoFit/>
          </a:bodyPr>
          <a:lstStyle/>
          <a:p>
            <a:pPr algn="just" marL="0" indent="0" lvl="0">
              <a:lnSpc>
                <a:spcPts val="3323"/>
              </a:lnSpc>
              <a:spcBef>
                <a:spcPct val="0"/>
              </a:spcBef>
            </a:pPr>
            <a:r>
              <a:rPr lang="en-US" sz="2374">
                <a:solidFill>
                  <a:srgbClr val="000000"/>
                </a:solidFill>
                <a:latin typeface="Public Sans"/>
                <a:ea typeface="Public Sans"/>
                <a:cs typeface="Public Sans"/>
                <a:sym typeface="Public Sans"/>
              </a:rPr>
              <a:t>preds = b</a:t>
            </a:r>
            <a:r>
              <a:rPr lang="en-US" sz="2374">
                <a:solidFill>
                  <a:srgbClr val="000000"/>
                </a:solidFill>
                <a:latin typeface="Public Sans"/>
                <a:ea typeface="Public Sans"/>
                <a:cs typeface="Public Sans"/>
                <a:sym typeface="Public Sans"/>
              </a:rPr>
              <a:t>est_lr_model.predict(X_test)</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probs = best_lr_model.predict_proba(X_test)[:, 1]</a:t>
            </a:r>
          </a:p>
        </p:txBody>
      </p:sp>
      <p:sp>
        <p:nvSpPr>
          <p:cNvPr name="TextBox 12" id="12"/>
          <p:cNvSpPr txBox="true"/>
          <p:nvPr/>
        </p:nvSpPr>
        <p:spPr>
          <a:xfrm rot="0">
            <a:off x="1292697" y="3983179"/>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004CCF"/>
                </a:solidFill>
                <a:latin typeface="Aileron Ultra-Bold"/>
                <a:ea typeface="Aileron Ultra-Bold"/>
                <a:cs typeface="Aileron Ultra-Bold"/>
                <a:sym typeface="Aileron Ultra-Bold"/>
              </a:rPr>
              <a:t>Prédiction su</a:t>
            </a:r>
            <a:r>
              <a:rPr lang="en-US" b="true" sz="3699">
                <a:solidFill>
                  <a:srgbClr val="004CCF"/>
                </a:solidFill>
                <a:latin typeface="Aileron Ultra-Bold"/>
                <a:ea typeface="Aileron Ultra-Bold"/>
                <a:cs typeface="Aileron Ultra-Bold"/>
                <a:sym typeface="Aileron Ultra-Bold"/>
              </a:rPr>
              <a:t>r test set</a:t>
            </a:r>
          </a:p>
        </p:txBody>
      </p:sp>
      <p:sp>
        <p:nvSpPr>
          <p:cNvPr name="TextBox 13" id="13"/>
          <p:cNvSpPr txBox="true"/>
          <p:nvPr/>
        </p:nvSpPr>
        <p:spPr>
          <a:xfrm rot="0">
            <a:off x="1292697" y="7449815"/>
            <a:ext cx="7210794" cy="2092347"/>
          </a:xfrm>
          <a:prstGeom prst="rect">
            <a:avLst/>
          </a:prstGeom>
        </p:spPr>
        <p:txBody>
          <a:bodyPr anchor="t" rtlCol="false" tIns="0" lIns="0" bIns="0" rIns="0">
            <a:spAutoFit/>
          </a:bodyPr>
          <a:lstStyle/>
          <a:p>
            <a:pPr algn="just" marL="0" indent="0" lvl="0">
              <a:lnSpc>
                <a:spcPts val="3323"/>
              </a:lnSpc>
              <a:spcBef>
                <a:spcPct val="0"/>
              </a:spcBef>
            </a:pPr>
            <a:r>
              <a:rPr lang="en-US" sz="2374">
                <a:solidFill>
                  <a:srgbClr val="000000"/>
                </a:solidFill>
                <a:latin typeface="Public Sans"/>
                <a:ea typeface="Public Sans"/>
                <a:cs typeface="Public Sans"/>
                <a:sym typeface="Public Sans"/>
              </a:rPr>
              <a:t>accuracy_sco</a:t>
            </a:r>
            <a:r>
              <a:rPr lang="en-US" sz="2374">
                <a:solidFill>
                  <a:srgbClr val="000000"/>
                </a:solidFill>
                <a:latin typeface="Public Sans"/>
                <a:ea typeface="Public Sans"/>
                <a:cs typeface="Public Sans"/>
                <a:sym typeface="Public Sans"/>
              </a:rPr>
              <a:t>re</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precision_score</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recall_score</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f1_score</a:t>
            </a:r>
          </a:p>
          <a:p>
            <a:pPr algn="just" marL="0" indent="0" lvl="0">
              <a:lnSpc>
                <a:spcPts val="3323"/>
              </a:lnSpc>
              <a:spcBef>
                <a:spcPct val="0"/>
              </a:spcBef>
            </a:pPr>
            <a:r>
              <a:rPr lang="en-US" sz="2374">
                <a:solidFill>
                  <a:srgbClr val="000000"/>
                </a:solidFill>
                <a:latin typeface="Public Sans"/>
                <a:ea typeface="Public Sans"/>
                <a:cs typeface="Public Sans"/>
                <a:sym typeface="Public Sans"/>
              </a:rPr>
              <a:t>roc_auc_score</a:t>
            </a:r>
          </a:p>
        </p:txBody>
      </p:sp>
      <p:sp>
        <p:nvSpPr>
          <p:cNvPr name="TextBox 14" id="14"/>
          <p:cNvSpPr txBox="true"/>
          <p:nvPr/>
        </p:nvSpPr>
        <p:spPr>
          <a:xfrm rot="0">
            <a:off x="1292697" y="6667421"/>
            <a:ext cx="9106557" cy="522986"/>
          </a:xfrm>
          <a:prstGeom prst="rect">
            <a:avLst/>
          </a:prstGeom>
        </p:spPr>
        <p:txBody>
          <a:bodyPr anchor="t" rtlCol="false" tIns="0" lIns="0" bIns="0" rIns="0">
            <a:spAutoFit/>
          </a:bodyPr>
          <a:lstStyle/>
          <a:p>
            <a:pPr algn="l" marL="0" indent="0" lvl="0">
              <a:lnSpc>
                <a:spcPts val="3921"/>
              </a:lnSpc>
              <a:spcBef>
                <a:spcPct val="0"/>
              </a:spcBef>
            </a:pPr>
            <a:r>
              <a:rPr lang="en-US" b="true" sz="3699">
                <a:solidFill>
                  <a:srgbClr val="004CCF"/>
                </a:solidFill>
                <a:latin typeface="Aileron Ultra-Bold"/>
                <a:ea typeface="Aileron Ultra-Bold"/>
                <a:cs typeface="Aileron Ultra-Bold"/>
                <a:sym typeface="Aileron Ultra-Bold"/>
              </a:rPr>
              <a:t>Évaluation du</a:t>
            </a:r>
            <a:r>
              <a:rPr lang="en-US" b="true" sz="3699">
                <a:solidFill>
                  <a:srgbClr val="004CCF"/>
                </a:solidFill>
                <a:latin typeface="Aileron Ultra-Bold"/>
                <a:ea typeface="Aileron Ultra-Bold"/>
                <a:cs typeface="Aileron Ultra-Bold"/>
                <a:sym typeface="Aileron Ultra-Bold"/>
              </a:rPr>
              <a:t> modèle</a:t>
            </a:r>
          </a:p>
        </p:txBody>
      </p:sp>
      <p:grpSp>
        <p:nvGrpSpPr>
          <p:cNvPr name="Group 15" id="15"/>
          <p:cNvGrpSpPr/>
          <p:nvPr/>
        </p:nvGrpSpPr>
        <p:grpSpPr>
          <a:xfrm rot="0">
            <a:off x="10140166" y="1504232"/>
            <a:ext cx="1024603" cy="860616"/>
            <a:chOff x="0" y="0"/>
            <a:chExt cx="269854" cy="226664"/>
          </a:xfrm>
        </p:grpSpPr>
        <p:sp>
          <p:nvSpPr>
            <p:cNvPr name="Freeform 16" id="16"/>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17" id="17"/>
            <p:cNvSpPr txBox="true"/>
            <p:nvPr/>
          </p:nvSpPr>
          <p:spPr>
            <a:xfrm>
              <a:off x="0" y="-57150"/>
              <a:ext cx="269854" cy="283814"/>
            </a:xfrm>
            <a:prstGeom prst="rect">
              <a:avLst/>
            </a:prstGeom>
          </p:spPr>
          <p:txBody>
            <a:bodyPr anchor="ctr" rtlCol="false" tIns="50800" lIns="50800" bIns="50800" rIns="50800"/>
            <a:lstStyle/>
            <a:p>
              <a:pPr algn="ctr" marL="0" indent="0" lvl="0">
                <a:lnSpc>
                  <a:spcPts val="3527"/>
                </a:lnSpc>
              </a:pPr>
              <a:r>
                <a:rPr lang="en-US" sz="2519">
                  <a:solidFill>
                    <a:srgbClr val="FFFFFF"/>
                  </a:solidFill>
                  <a:latin typeface="Aileron"/>
                  <a:ea typeface="Aileron"/>
                  <a:cs typeface="Aileron"/>
                  <a:sym typeface="Aileron"/>
                </a:rPr>
                <a:t>01</a:t>
              </a:r>
            </a:p>
          </p:txBody>
        </p:sp>
      </p:grpSp>
      <p:grpSp>
        <p:nvGrpSpPr>
          <p:cNvPr name="Group 18" id="18"/>
          <p:cNvGrpSpPr/>
          <p:nvPr/>
        </p:nvGrpSpPr>
        <p:grpSpPr>
          <a:xfrm rot="0">
            <a:off x="10178266" y="6449692"/>
            <a:ext cx="1024603" cy="860616"/>
            <a:chOff x="0" y="0"/>
            <a:chExt cx="269854" cy="226664"/>
          </a:xfrm>
        </p:grpSpPr>
        <p:sp>
          <p:nvSpPr>
            <p:cNvPr name="Freeform 19" id="19"/>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20" id="20"/>
            <p:cNvSpPr txBox="true"/>
            <p:nvPr/>
          </p:nvSpPr>
          <p:spPr>
            <a:xfrm>
              <a:off x="0" y="-57150"/>
              <a:ext cx="269854" cy="283814"/>
            </a:xfrm>
            <a:prstGeom prst="rect">
              <a:avLst/>
            </a:prstGeom>
          </p:spPr>
          <p:txBody>
            <a:bodyPr anchor="ctr" rtlCol="false" tIns="50800" lIns="50800" bIns="50800" rIns="50800"/>
            <a:lstStyle/>
            <a:p>
              <a:pPr algn="ctr" marL="0" indent="0" lvl="0">
                <a:lnSpc>
                  <a:spcPts val="3527"/>
                </a:lnSpc>
              </a:pPr>
              <a:r>
                <a:rPr lang="en-US" sz="2519">
                  <a:solidFill>
                    <a:srgbClr val="FFFFFF"/>
                  </a:solidFill>
                  <a:latin typeface="Aileron"/>
                  <a:ea typeface="Aileron"/>
                  <a:cs typeface="Aileron"/>
                  <a:sym typeface="Aileron"/>
                </a:rPr>
                <a:t>03</a:t>
              </a:r>
            </a:p>
          </p:txBody>
        </p:sp>
      </p:grpSp>
      <p:grpSp>
        <p:nvGrpSpPr>
          <p:cNvPr name="Group 21" id="21"/>
          <p:cNvGrpSpPr/>
          <p:nvPr/>
        </p:nvGrpSpPr>
        <p:grpSpPr>
          <a:xfrm rot="0">
            <a:off x="14125700" y="1504232"/>
            <a:ext cx="1024603" cy="860616"/>
            <a:chOff x="0" y="0"/>
            <a:chExt cx="269854" cy="226664"/>
          </a:xfrm>
        </p:grpSpPr>
        <p:sp>
          <p:nvSpPr>
            <p:cNvPr name="Freeform 22" id="22"/>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23" id="23"/>
            <p:cNvSpPr txBox="true"/>
            <p:nvPr/>
          </p:nvSpPr>
          <p:spPr>
            <a:xfrm>
              <a:off x="0" y="-57150"/>
              <a:ext cx="269854" cy="283814"/>
            </a:xfrm>
            <a:prstGeom prst="rect">
              <a:avLst/>
            </a:prstGeom>
          </p:spPr>
          <p:txBody>
            <a:bodyPr anchor="ctr" rtlCol="false" tIns="50800" lIns="50800" bIns="50800" rIns="50800"/>
            <a:lstStyle/>
            <a:p>
              <a:pPr algn="ctr" marL="0" indent="0" lvl="0">
                <a:lnSpc>
                  <a:spcPts val="3527"/>
                </a:lnSpc>
              </a:pPr>
              <a:r>
                <a:rPr lang="en-US" sz="2519">
                  <a:solidFill>
                    <a:srgbClr val="FFFFFF"/>
                  </a:solidFill>
                  <a:latin typeface="Aileron"/>
                  <a:ea typeface="Aileron"/>
                  <a:cs typeface="Aileron"/>
                  <a:sym typeface="Aileron"/>
                </a:rPr>
                <a:t>02</a:t>
              </a:r>
            </a:p>
          </p:txBody>
        </p:sp>
      </p:grpSp>
      <p:grpSp>
        <p:nvGrpSpPr>
          <p:cNvPr name="Group 24" id="24"/>
          <p:cNvGrpSpPr/>
          <p:nvPr/>
        </p:nvGrpSpPr>
        <p:grpSpPr>
          <a:xfrm rot="0">
            <a:off x="14125700" y="6449692"/>
            <a:ext cx="1024603" cy="860616"/>
            <a:chOff x="0" y="0"/>
            <a:chExt cx="269854" cy="226664"/>
          </a:xfrm>
        </p:grpSpPr>
        <p:sp>
          <p:nvSpPr>
            <p:cNvPr name="Freeform 25" id="25"/>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26" id="26"/>
            <p:cNvSpPr txBox="true"/>
            <p:nvPr/>
          </p:nvSpPr>
          <p:spPr>
            <a:xfrm>
              <a:off x="0" y="-57150"/>
              <a:ext cx="269854" cy="283814"/>
            </a:xfrm>
            <a:prstGeom prst="rect">
              <a:avLst/>
            </a:prstGeom>
          </p:spPr>
          <p:txBody>
            <a:bodyPr anchor="ctr" rtlCol="false" tIns="50800" lIns="50800" bIns="50800" rIns="50800"/>
            <a:lstStyle/>
            <a:p>
              <a:pPr algn="ctr" marL="0" indent="0" lvl="0">
                <a:lnSpc>
                  <a:spcPts val="3527"/>
                </a:lnSpc>
              </a:pPr>
              <a:r>
                <a:rPr lang="en-US" sz="2519">
                  <a:solidFill>
                    <a:srgbClr val="FFFFFF"/>
                  </a:solidFill>
                  <a:latin typeface="Aileron"/>
                  <a:ea typeface="Aileron"/>
                  <a:cs typeface="Aileron"/>
                  <a:sym typeface="Aileron"/>
                </a:rPr>
                <a:t>04</a:t>
              </a:r>
            </a:p>
          </p:txBody>
        </p:sp>
      </p:grpSp>
      <p:sp>
        <p:nvSpPr>
          <p:cNvPr name="TextBox 27" id="27"/>
          <p:cNvSpPr txBox="true"/>
          <p:nvPr/>
        </p:nvSpPr>
        <p:spPr>
          <a:xfrm rot="0">
            <a:off x="10140166" y="2629864"/>
            <a:ext cx="3167793" cy="448440"/>
          </a:xfrm>
          <a:prstGeom prst="rect">
            <a:avLst/>
          </a:prstGeom>
        </p:spPr>
        <p:txBody>
          <a:bodyPr anchor="t" rtlCol="false" tIns="0" lIns="0" bIns="0" rIns="0">
            <a:spAutoFit/>
          </a:bodyPr>
          <a:lstStyle/>
          <a:p>
            <a:pPr algn="l" marL="0" indent="0" lvl="0">
              <a:lnSpc>
                <a:spcPts val="3599"/>
              </a:lnSpc>
              <a:spcBef>
                <a:spcPct val="0"/>
              </a:spcBef>
            </a:pPr>
            <a:r>
              <a:rPr lang="en-US" b="true" sz="2879" strike="noStrike" u="none">
                <a:solidFill>
                  <a:srgbClr val="004CCF"/>
                </a:solidFill>
                <a:latin typeface="Aileron Bold"/>
                <a:ea typeface="Aileron Bold"/>
                <a:cs typeface="Aileron Bold"/>
                <a:sym typeface="Aileron Bold"/>
              </a:rPr>
              <a:t>Accuracy</a:t>
            </a:r>
          </a:p>
        </p:txBody>
      </p:sp>
      <p:sp>
        <p:nvSpPr>
          <p:cNvPr name="TextBox 28" id="28"/>
          <p:cNvSpPr txBox="true"/>
          <p:nvPr/>
        </p:nvSpPr>
        <p:spPr>
          <a:xfrm rot="0">
            <a:off x="10178266" y="7414338"/>
            <a:ext cx="3167793" cy="448440"/>
          </a:xfrm>
          <a:prstGeom prst="rect">
            <a:avLst/>
          </a:prstGeom>
        </p:spPr>
        <p:txBody>
          <a:bodyPr anchor="t" rtlCol="false" tIns="0" lIns="0" bIns="0" rIns="0">
            <a:spAutoFit/>
          </a:bodyPr>
          <a:lstStyle/>
          <a:p>
            <a:pPr algn="l" marL="0" indent="0" lvl="0">
              <a:lnSpc>
                <a:spcPts val="3599"/>
              </a:lnSpc>
              <a:spcBef>
                <a:spcPct val="0"/>
              </a:spcBef>
            </a:pPr>
            <a:r>
              <a:rPr lang="en-US" b="true" sz="2879">
                <a:solidFill>
                  <a:srgbClr val="004CCF"/>
                </a:solidFill>
                <a:latin typeface="Aileron Bold"/>
                <a:ea typeface="Aileron Bold"/>
                <a:cs typeface="Aileron Bold"/>
                <a:sym typeface="Aileron Bold"/>
              </a:rPr>
              <a:t>Recall</a:t>
            </a:r>
          </a:p>
        </p:txBody>
      </p:sp>
      <p:sp>
        <p:nvSpPr>
          <p:cNvPr name="TextBox 29" id="29"/>
          <p:cNvSpPr txBox="true"/>
          <p:nvPr/>
        </p:nvSpPr>
        <p:spPr>
          <a:xfrm rot="0">
            <a:off x="14125700" y="2629864"/>
            <a:ext cx="3605092" cy="448440"/>
          </a:xfrm>
          <a:prstGeom prst="rect">
            <a:avLst/>
          </a:prstGeom>
        </p:spPr>
        <p:txBody>
          <a:bodyPr anchor="t" rtlCol="false" tIns="0" lIns="0" bIns="0" rIns="0">
            <a:spAutoFit/>
          </a:bodyPr>
          <a:lstStyle/>
          <a:p>
            <a:pPr algn="l" marL="0" indent="0" lvl="0">
              <a:lnSpc>
                <a:spcPts val="3599"/>
              </a:lnSpc>
              <a:spcBef>
                <a:spcPct val="0"/>
              </a:spcBef>
            </a:pPr>
            <a:r>
              <a:rPr lang="en-US" b="true" sz="2879" strike="noStrike" u="none">
                <a:solidFill>
                  <a:srgbClr val="004CCF"/>
                </a:solidFill>
                <a:latin typeface="Aileron Bold"/>
                <a:ea typeface="Aileron Bold"/>
                <a:cs typeface="Aileron Bold"/>
                <a:sym typeface="Aileron Bold"/>
              </a:rPr>
              <a:t>Precision</a:t>
            </a:r>
          </a:p>
        </p:txBody>
      </p:sp>
      <p:sp>
        <p:nvSpPr>
          <p:cNvPr name="TextBox 30" id="30"/>
          <p:cNvSpPr txBox="true"/>
          <p:nvPr/>
        </p:nvSpPr>
        <p:spPr>
          <a:xfrm rot="0">
            <a:off x="14125700" y="7414338"/>
            <a:ext cx="3605092" cy="448440"/>
          </a:xfrm>
          <a:prstGeom prst="rect">
            <a:avLst/>
          </a:prstGeom>
        </p:spPr>
        <p:txBody>
          <a:bodyPr anchor="t" rtlCol="false" tIns="0" lIns="0" bIns="0" rIns="0">
            <a:spAutoFit/>
          </a:bodyPr>
          <a:lstStyle/>
          <a:p>
            <a:pPr algn="l" marL="0" indent="0" lvl="0">
              <a:lnSpc>
                <a:spcPts val="3599"/>
              </a:lnSpc>
              <a:spcBef>
                <a:spcPct val="0"/>
              </a:spcBef>
            </a:pPr>
            <a:r>
              <a:rPr lang="en-US" b="true" sz="2879">
                <a:solidFill>
                  <a:srgbClr val="004CCF"/>
                </a:solidFill>
                <a:latin typeface="Aileron Bold"/>
                <a:ea typeface="Aileron Bold"/>
                <a:cs typeface="Aileron Bold"/>
                <a:sym typeface="Aileron Bold"/>
              </a:rPr>
              <a:t>F1-Score</a:t>
            </a:r>
          </a:p>
        </p:txBody>
      </p:sp>
      <p:sp>
        <p:nvSpPr>
          <p:cNvPr name="TextBox 31" id="31"/>
          <p:cNvSpPr txBox="true"/>
          <p:nvPr/>
        </p:nvSpPr>
        <p:spPr>
          <a:xfrm rot="0">
            <a:off x="10140166" y="3497404"/>
            <a:ext cx="3167793" cy="1090839"/>
          </a:xfrm>
          <a:prstGeom prst="rect">
            <a:avLst/>
          </a:prstGeom>
        </p:spPr>
        <p:txBody>
          <a:bodyPr anchor="t" rtlCol="false" tIns="0" lIns="0" bIns="0" rIns="0">
            <a:spAutoFit/>
          </a:bodyPr>
          <a:lstStyle/>
          <a:p>
            <a:pPr algn="l" marL="0" indent="0" lvl="0">
              <a:lnSpc>
                <a:spcPts val="2874"/>
              </a:lnSpc>
              <a:spcBef>
                <a:spcPct val="0"/>
              </a:spcBef>
            </a:pPr>
            <a:r>
              <a:rPr lang="en-US" sz="2053" strike="noStrike" u="none">
                <a:solidFill>
                  <a:srgbClr val="011226"/>
                </a:solidFill>
                <a:latin typeface="Poppins"/>
                <a:ea typeface="Poppins"/>
                <a:cs typeface="Poppins"/>
                <a:sym typeface="Poppins"/>
              </a:rPr>
              <a:t>Prédictions correctes globales. Peut être biaisée si déséquilibre.</a:t>
            </a:r>
          </a:p>
        </p:txBody>
      </p:sp>
      <p:sp>
        <p:nvSpPr>
          <p:cNvPr name="TextBox 32" id="32"/>
          <p:cNvSpPr txBox="true"/>
          <p:nvPr/>
        </p:nvSpPr>
        <p:spPr>
          <a:xfrm rot="0">
            <a:off x="10140166" y="8270106"/>
            <a:ext cx="3167793" cy="1090930"/>
          </a:xfrm>
          <a:prstGeom prst="rect">
            <a:avLst/>
          </a:prstGeom>
        </p:spPr>
        <p:txBody>
          <a:bodyPr anchor="t" rtlCol="false" tIns="0" lIns="0" bIns="0" rIns="0">
            <a:spAutoFit/>
          </a:bodyPr>
          <a:lstStyle/>
          <a:p>
            <a:pPr algn="l" marL="0" indent="0" lvl="0">
              <a:lnSpc>
                <a:spcPts val="2869"/>
              </a:lnSpc>
              <a:spcBef>
                <a:spcPct val="0"/>
              </a:spcBef>
            </a:pPr>
            <a:r>
              <a:rPr lang="en-US" sz="2049">
                <a:solidFill>
                  <a:srgbClr val="011226"/>
                </a:solidFill>
                <a:latin typeface="Poppins"/>
                <a:ea typeface="Poppins"/>
                <a:cs typeface="Poppins"/>
                <a:sym typeface="Poppins"/>
              </a:rPr>
              <a:t>Capacité à détecter les vrais churners. Critique pour le business.</a:t>
            </a:r>
          </a:p>
        </p:txBody>
      </p:sp>
      <p:sp>
        <p:nvSpPr>
          <p:cNvPr name="TextBox 33" id="33"/>
          <p:cNvSpPr txBox="true"/>
          <p:nvPr/>
        </p:nvSpPr>
        <p:spPr>
          <a:xfrm rot="0">
            <a:off x="14125700" y="3497404"/>
            <a:ext cx="3400108" cy="728980"/>
          </a:xfrm>
          <a:prstGeom prst="rect">
            <a:avLst/>
          </a:prstGeom>
        </p:spPr>
        <p:txBody>
          <a:bodyPr anchor="t" rtlCol="false" tIns="0" lIns="0" bIns="0" rIns="0">
            <a:spAutoFit/>
          </a:bodyPr>
          <a:lstStyle/>
          <a:p>
            <a:pPr algn="l" marL="0" indent="0" lvl="0">
              <a:lnSpc>
                <a:spcPts val="2869"/>
              </a:lnSpc>
              <a:spcBef>
                <a:spcPct val="0"/>
              </a:spcBef>
            </a:pPr>
            <a:r>
              <a:rPr lang="en-US" sz="2049">
                <a:solidFill>
                  <a:srgbClr val="011226"/>
                </a:solidFill>
                <a:latin typeface="Poppins"/>
                <a:ea typeface="Poppins"/>
                <a:cs typeface="Poppins"/>
                <a:sym typeface="Poppins"/>
              </a:rPr>
              <a:t>Fiabilité des prédictions de churn positives.</a:t>
            </a:r>
          </a:p>
        </p:txBody>
      </p:sp>
      <p:sp>
        <p:nvSpPr>
          <p:cNvPr name="TextBox 34" id="34"/>
          <p:cNvSpPr txBox="true"/>
          <p:nvPr/>
        </p:nvSpPr>
        <p:spPr>
          <a:xfrm rot="0">
            <a:off x="14125700" y="8451232"/>
            <a:ext cx="3400108" cy="1090930"/>
          </a:xfrm>
          <a:prstGeom prst="rect">
            <a:avLst/>
          </a:prstGeom>
        </p:spPr>
        <p:txBody>
          <a:bodyPr anchor="t" rtlCol="false" tIns="0" lIns="0" bIns="0" rIns="0">
            <a:spAutoFit/>
          </a:bodyPr>
          <a:lstStyle/>
          <a:p>
            <a:pPr algn="l" marL="0" indent="0" lvl="0">
              <a:lnSpc>
                <a:spcPts val="2869"/>
              </a:lnSpc>
              <a:spcBef>
                <a:spcPct val="0"/>
              </a:spcBef>
            </a:pPr>
            <a:r>
              <a:rPr lang="en-US" sz="2049">
                <a:solidFill>
                  <a:srgbClr val="011226"/>
                </a:solidFill>
                <a:latin typeface="Poppins"/>
                <a:ea typeface="Poppins"/>
                <a:cs typeface="Poppins"/>
                <a:sym typeface="Poppins"/>
              </a:rPr>
              <a:t>Moyenne harmonique. Métrique principale choisie.</a:t>
            </a:r>
          </a:p>
        </p:txBody>
      </p:sp>
      <p:sp>
        <p:nvSpPr>
          <p:cNvPr name="TextBox 35" id="3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30</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871075">
            <a:off x="14720104" y="-1982493"/>
            <a:ext cx="5078392" cy="5072044"/>
          </a:xfrm>
          <a:custGeom>
            <a:avLst/>
            <a:gdLst/>
            <a:ahLst/>
            <a:cxnLst/>
            <a:rect r="r" b="b" t="t" l="l"/>
            <a:pathLst>
              <a:path h="5072044" w="5078392">
                <a:moveTo>
                  <a:pt x="0" y="0"/>
                </a:moveTo>
                <a:lnTo>
                  <a:pt x="5078392" y="0"/>
                </a:lnTo>
                <a:lnTo>
                  <a:pt x="5078392" y="5072044"/>
                </a:lnTo>
                <a:lnTo>
                  <a:pt x="0" y="5072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3" id="3"/>
          <p:cNvSpPr/>
          <p:nvPr/>
        </p:nvSpPr>
        <p:spPr>
          <a:xfrm flipH="false" flipV="false" rot="0">
            <a:off x="1028700" y="1227158"/>
            <a:ext cx="12804992" cy="3191213"/>
          </a:xfrm>
          <a:custGeom>
            <a:avLst/>
            <a:gdLst/>
            <a:ahLst/>
            <a:cxnLst/>
            <a:rect r="r" b="b" t="t" l="l"/>
            <a:pathLst>
              <a:path h="3191213" w="12804992">
                <a:moveTo>
                  <a:pt x="0" y="0"/>
                </a:moveTo>
                <a:lnTo>
                  <a:pt x="12804992" y="0"/>
                </a:lnTo>
                <a:lnTo>
                  <a:pt x="12804992" y="3191213"/>
                </a:lnTo>
                <a:lnTo>
                  <a:pt x="0" y="3191213"/>
                </a:lnTo>
                <a:lnTo>
                  <a:pt x="0" y="0"/>
                </a:lnTo>
                <a:close/>
              </a:path>
            </a:pathLst>
          </a:custGeom>
          <a:blipFill>
            <a:blip r:embed="rId5"/>
            <a:stretch>
              <a:fillRect l="0" t="0" r="0" b="0"/>
            </a:stretch>
          </a:blipFill>
        </p:spPr>
      </p:sp>
      <p:sp>
        <p:nvSpPr>
          <p:cNvPr name="Freeform 4" id="4"/>
          <p:cNvSpPr/>
          <p:nvPr/>
        </p:nvSpPr>
        <p:spPr>
          <a:xfrm flipH="false" flipV="false" rot="0">
            <a:off x="1028700" y="5531197"/>
            <a:ext cx="15099657" cy="3051025"/>
          </a:xfrm>
          <a:custGeom>
            <a:avLst/>
            <a:gdLst/>
            <a:ahLst/>
            <a:cxnLst/>
            <a:rect r="r" b="b" t="t" l="l"/>
            <a:pathLst>
              <a:path h="3051025" w="15099657">
                <a:moveTo>
                  <a:pt x="0" y="0"/>
                </a:moveTo>
                <a:lnTo>
                  <a:pt x="15099657" y="0"/>
                </a:lnTo>
                <a:lnTo>
                  <a:pt x="15099657" y="3051025"/>
                </a:lnTo>
                <a:lnTo>
                  <a:pt x="0" y="3051025"/>
                </a:lnTo>
                <a:lnTo>
                  <a:pt x="0" y="0"/>
                </a:lnTo>
                <a:close/>
              </a:path>
            </a:pathLst>
          </a:custGeom>
          <a:blipFill>
            <a:blip r:embed="rId6"/>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31</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49802" y="1385579"/>
            <a:ext cx="4952723" cy="8229600"/>
          </a:xfrm>
          <a:custGeom>
            <a:avLst/>
            <a:gdLst/>
            <a:ahLst/>
            <a:cxnLst/>
            <a:rect r="r" b="b" t="t" l="l"/>
            <a:pathLst>
              <a:path h="8229600" w="4952723">
                <a:moveTo>
                  <a:pt x="0" y="0"/>
                </a:moveTo>
                <a:lnTo>
                  <a:pt x="4952722" y="0"/>
                </a:lnTo>
                <a:lnTo>
                  <a:pt x="4952722" y="8229600"/>
                </a:lnTo>
                <a:lnTo>
                  <a:pt x="0" y="8229600"/>
                </a:lnTo>
                <a:lnTo>
                  <a:pt x="0" y="0"/>
                </a:lnTo>
                <a:close/>
              </a:path>
            </a:pathLst>
          </a:custGeom>
          <a:blipFill>
            <a:blip r:embed="rId3"/>
            <a:stretch>
              <a:fillRect l="0" t="0" r="0" b="0"/>
            </a:stretch>
          </a:blipFill>
        </p:spPr>
      </p:sp>
      <p:sp>
        <p:nvSpPr>
          <p:cNvPr name="TextBox 3" id="3"/>
          <p:cNvSpPr txBox="true"/>
          <p:nvPr/>
        </p:nvSpPr>
        <p:spPr>
          <a:xfrm rot="0">
            <a:off x="7502524" y="3610445"/>
            <a:ext cx="9469678" cy="3208985"/>
          </a:xfrm>
          <a:prstGeom prst="rect">
            <a:avLst/>
          </a:prstGeom>
        </p:spPr>
        <p:txBody>
          <a:bodyPr anchor="t" rtlCol="false" tIns="0" lIns="0" bIns="0" rIns="0">
            <a:spAutoFit/>
          </a:bodyPr>
          <a:lstStyle/>
          <a:p>
            <a:pPr algn="ctr" marL="0" indent="0" lvl="0">
              <a:lnSpc>
                <a:spcPts val="12408"/>
              </a:lnSpc>
              <a:spcBef>
                <a:spcPct val="0"/>
              </a:spcBef>
            </a:pPr>
            <a:r>
              <a:rPr lang="en-US" b="true" sz="11706">
                <a:solidFill>
                  <a:srgbClr val="004CCF"/>
                </a:solidFill>
                <a:latin typeface="Aileron Ultra-Bold"/>
                <a:ea typeface="Aileron Ultra-Bold"/>
                <a:cs typeface="Aileron Ultra-Bold"/>
                <a:sym typeface="Aileron Ultra-Bold"/>
              </a:rPr>
              <a:t>Rég</a:t>
            </a:r>
            <a:r>
              <a:rPr lang="en-US" b="true" sz="11706">
                <a:solidFill>
                  <a:srgbClr val="004CCF"/>
                </a:solidFill>
                <a:latin typeface="Aileron Ultra-Bold"/>
                <a:ea typeface="Aileron Ultra-Bold"/>
                <a:cs typeface="Aileron Ultra-Bold"/>
                <a:sym typeface="Aileron Ultra-Bold"/>
              </a:rPr>
              <a:t>ression Logistique</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32</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826624" y="4613311"/>
            <a:ext cx="10406461" cy="940918"/>
          </a:xfrm>
          <a:custGeom>
            <a:avLst/>
            <a:gdLst/>
            <a:ahLst/>
            <a:cxnLst/>
            <a:rect r="r" b="b" t="t" l="l"/>
            <a:pathLst>
              <a:path h="940918" w="10406461">
                <a:moveTo>
                  <a:pt x="0" y="0"/>
                </a:moveTo>
                <a:lnTo>
                  <a:pt x="10406461" y="0"/>
                </a:lnTo>
                <a:lnTo>
                  <a:pt x="10406461" y="940917"/>
                </a:lnTo>
                <a:lnTo>
                  <a:pt x="0" y="9409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869342"/>
            <a:ext cx="6533111" cy="787306"/>
          </a:xfrm>
          <a:prstGeom prst="rect">
            <a:avLst/>
          </a:prstGeom>
        </p:spPr>
        <p:txBody>
          <a:bodyPr anchor="t" rtlCol="false" tIns="0" lIns="0" bIns="0" rIns="0">
            <a:spAutoFit/>
          </a:bodyPr>
          <a:lstStyle/>
          <a:p>
            <a:pPr algn="l" marL="0" indent="0" lvl="0">
              <a:lnSpc>
                <a:spcPts val="6268"/>
              </a:lnSpc>
              <a:spcBef>
                <a:spcPct val="0"/>
              </a:spcBef>
            </a:pPr>
            <a:r>
              <a:rPr lang="en-US" b="true" sz="5014">
                <a:solidFill>
                  <a:srgbClr val="004CCF"/>
                </a:solidFill>
                <a:latin typeface="Aileron Bold"/>
                <a:ea typeface="Aileron Bold"/>
                <a:cs typeface="Aileron Bold"/>
                <a:sym typeface="Aileron Bold"/>
              </a:rPr>
              <a:t>Classe Predict</a:t>
            </a:r>
          </a:p>
        </p:txBody>
      </p:sp>
      <p:grpSp>
        <p:nvGrpSpPr>
          <p:cNvPr name="Group 4" id="4"/>
          <p:cNvGrpSpPr/>
          <p:nvPr/>
        </p:nvGrpSpPr>
        <p:grpSpPr>
          <a:xfrm rot="0">
            <a:off x="253593" y="8992413"/>
            <a:ext cx="20334267" cy="8668838"/>
            <a:chOff x="0" y="0"/>
            <a:chExt cx="2210551" cy="942395"/>
          </a:xfrm>
        </p:grpSpPr>
        <p:sp>
          <p:nvSpPr>
            <p:cNvPr name="Freeform 5" id="5"/>
            <p:cNvSpPr/>
            <p:nvPr/>
          </p:nvSpPr>
          <p:spPr>
            <a:xfrm flipH="false" flipV="false" rot="0">
              <a:off x="4400" y="0"/>
              <a:ext cx="2201750" cy="942395"/>
            </a:xfrm>
            <a:custGeom>
              <a:avLst/>
              <a:gdLst/>
              <a:ahLst/>
              <a:cxnLst/>
              <a:rect r="r" b="b" t="t" l="l"/>
              <a:pathLst>
                <a:path h="942395" w="2201750">
                  <a:moveTo>
                    <a:pt x="221644" y="0"/>
                  </a:moveTo>
                  <a:lnTo>
                    <a:pt x="2183307" y="0"/>
                  </a:lnTo>
                  <a:cubicBezTo>
                    <a:pt x="2188881" y="0"/>
                    <a:pt x="2194156" y="2521"/>
                    <a:pt x="2197657" y="6858"/>
                  </a:cubicBezTo>
                  <a:cubicBezTo>
                    <a:pt x="2201159" y="11194"/>
                    <a:pt x="2202511" y="16882"/>
                    <a:pt x="2201336" y="22331"/>
                  </a:cubicBezTo>
                  <a:lnTo>
                    <a:pt x="2007766" y="920064"/>
                  </a:lnTo>
                  <a:cubicBezTo>
                    <a:pt x="2004957" y="933093"/>
                    <a:pt x="1993436" y="942395"/>
                    <a:pt x="1980107" y="942395"/>
                  </a:cubicBezTo>
                  <a:lnTo>
                    <a:pt x="18444" y="942395"/>
                  </a:lnTo>
                  <a:cubicBezTo>
                    <a:pt x="12870" y="942395"/>
                    <a:pt x="7595" y="939874"/>
                    <a:pt x="4094" y="935537"/>
                  </a:cubicBezTo>
                  <a:cubicBezTo>
                    <a:pt x="592" y="931201"/>
                    <a:pt x="-760" y="925513"/>
                    <a:pt x="415" y="920064"/>
                  </a:cubicBezTo>
                  <a:lnTo>
                    <a:pt x="193985" y="22331"/>
                  </a:lnTo>
                  <a:cubicBezTo>
                    <a:pt x="196794" y="9302"/>
                    <a:pt x="208316" y="0"/>
                    <a:pt x="221644" y="0"/>
                  </a:cubicBezTo>
                  <a:close/>
                </a:path>
              </a:pathLst>
            </a:custGeom>
            <a:gradFill rotWithShape="true">
              <a:gsLst>
                <a:gs pos="0">
                  <a:srgbClr val="0D1296">
                    <a:alpha val="100000"/>
                  </a:srgbClr>
                </a:gs>
                <a:gs pos="100000">
                  <a:srgbClr val="2B79FF">
                    <a:alpha val="100000"/>
                  </a:srgbClr>
                </a:gs>
              </a:gsLst>
              <a:lin ang="2700000"/>
            </a:gradFill>
          </p:spPr>
        </p:sp>
        <p:sp>
          <p:nvSpPr>
            <p:cNvPr name="TextBox 6" id="6"/>
            <p:cNvSpPr txBox="true"/>
            <p:nvPr/>
          </p:nvSpPr>
          <p:spPr>
            <a:xfrm>
              <a:off x="101600" y="-66675"/>
              <a:ext cx="2007351" cy="1009070"/>
            </a:xfrm>
            <a:prstGeom prst="rect">
              <a:avLst/>
            </a:prstGeom>
          </p:spPr>
          <p:txBody>
            <a:bodyPr anchor="ctr" rtlCol="false" tIns="50800" lIns="50800" bIns="50800" rIns="50800"/>
            <a:lstStyle/>
            <a:p>
              <a:pPr algn="ctr" marL="0" indent="0" lvl="0">
                <a:lnSpc>
                  <a:spcPts val="3151"/>
                </a:lnSpc>
              </a:pPr>
            </a:p>
          </p:txBody>
        </p:sp>
      </p:grpSp>
      <p:sp>
        <p:nvSpPr>
          <p:cNvPr name="TextBox 7" id="7"/>
          <p:cNvSpPr txBox="true"/>
          <p:nvPr/>
        </p:nvSpPr>
        <p:spPr>
          <a:xfrm rot="0">
            <a:off x="1028700" y="3437792"/>
            <a:ext cx="15858773" cy="4006949"/>
          </a:xfrm>
          <a:prstGeom prst="rect">
            <a:avLst/>
          </a:prstGeom>
        </p:spPr>
        <p:txBody>
          <a:bodyPr anchor="t" rtlCol="false" tIns="0" lIns="0" bIns="0" rIns="0">
            <a:spAutoFit/>
          </a:bodyPr>
          <a:lstStyle/>
          <a:p>
            <a:pPr algn="l" marL="0" indent="0" lvl="0">
              <a:lnSpc>
                <a:spcPts val="5259"/>
              </a:lnSpc>
              <a:spcBef>
                <a:spcPct val="0"/>
              </a:spcBef>
            </a:pPr>
            <a:r>
              <a:rPr lang="en-US" sz="3757">
                <a:solidFill>
                  <a:srgbClr val="011226"/>
                </a:solidFill>
                <a:latin typeface="Poppins"/>
                <a:ea typeface="Poppins"/>
                <a:cs typeface="Poppins"/>
                <a:sym typeface="Poppins"/>
              </a:rPr>
              <a:t>La classe Predict centralise l’ensemble du processus d’inférence du modèle en chargeant les artefacts essentiels (pipeline de prétraitement et modèle entraîné) et en appliquant les mêmes transformations que lors de l’entraînement. Cette étape est cruciale en machine learning, car elle garantit la cohérence entre les données d’entraîne</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33</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874" y="1028700"/>
            <a:ext cx="945426" cy="355431"/>
          </a:xfrm>
          <a:custGeom>
            <a:avLst/>
            <a:gdLst/>
            <a:ahLst/>
            <a:cxnLst/>
            <a:rect r="r" b="b" t="t" l="l"/>
            <a:pathLst>
              <a:path h="355431" w="945426">
                <a:moveTo>
                  <a:pt x="0" y="0"/>
                </a:moveTo>
                <a:lnTo>
                  <a:pt x="945426" y="0"/>
                </a:lnTo>
                <a:lnTo>
                  <a:pt x="945426" y="355431"/>
                </a:lnTo>
                <a:lnTo>
                  <a:pt x="0" y="3554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51598" y="842213"/>
            <a:ext cx="9446597" cy="2105025"/>
          </a:xfrm>
          <a:prstGeom prst="rect">
            <a:avLst/>
          </a:prstGeom>
        </p:spPr>
        <p:txBody>
          <a:bodyPr anchor="t" rtlCol="false" tIns="0" lIns="0" bIns="0" rIns="0">
            <a:spAutoFit/>
          </a:bodyPr>
          <a:lstStyle/>
          <a:p>
            <a:pPr algn="l" marL="0" indent="0" lvl="0">
              <a:lnSpc>
                <a:spcPts val="8400"/>
              </a:lnSpc>
              <a:spcBef>
                <a:spcPct val="0"/>
              </a:spcBef>
            </a:pPr>
            <a:r>
              <a:rPr lang="en-US" b="true" sz="6000" strike="noStrike" u="none">
                <a:solidFill>
                  <a:srgbClr val="004CCF"/>
                </a:solidFill>
                <a:latin typeface="Aileron Bold"/>
                <a:ea typeface="Aileron Bold"/>
                <a:cs typeface="Aileron Bold"/>
                <a:sym typeface="Aileron Bold"/>
              </a:rPr>
              <a:t>Déploiement Architecture Flask</a:t>
            </a:r>
          </a:p>
        </p:txBody>
      </p:sp>
      <p:sp>
        <p:nvSpPr>
          <p:cNvPr name="TextBox 4" id="4"/>
          <p:cNvSpPr txBox="true"/>
          <p:nvPr/>
        </p:nvSpPr>
        <p:spPr>
          <a:xfrm rot="0">
            <a:off x="1051598" y="3489769"/>
            <a:ext cx="14823604" cy="6453425"/>
          </a:xfrm>
          <a:prstGeom prst="rect">
            <a:avLst/>
          </a:prstGeom>
        </p:spPr>
        <p:txBody>
          <a:bodyPr anchor="t" rtlCol="false" tIns="0" lIns="0" bIns="0" rIns="0">
            <a:spAutoFit/>
          </a:bodyPr>
          <a:lstStyle/>
          <a:p>
            <a:pPr algn="l" marL="530438" indent="-265219" lvl="1">
              <a:lnSpc>
                <a:spcPts val="3439"/>
              </a:lnSpc>
              <a:spcBef>
                <a:spcPct val="0"/>
              </a:spcBef>
              <a:buFont typeface="Arial"/>
              <a:buChar char="•"/>
            </a:pPr>
            <a:r>
              <a:rPr lang="en-US" sz="2456">
                <a:solidFill>
                  <a:srgbClr val="011226"/>
                </a:solidFill>
                <a:latin typeface="Poppins"/>
                <a:ea typeface="Poppins"/>
                <a:cs typeface="Poppins"/>
                <a:sym typeface="Poppins"/>
              </a:rPr>
              <a:t>F</a:t>
            </a:r>
            <a:r>
              <a:rPr lang="en-US" sz="2456">
                <a:solidFill>
                  <a:srgbClr val="011226"/>
                </a:solidFill>
                <a:latin typeface="Poppins"/>
                <a:ea typeface="Poppins"/>
                <a:cs typeface="Poppins"/>
                <a:sym typeface="Poppins"/>
              </a:rPr>
              <a:t>lask est un micro-framework Python léger et flexible utilisé pour transformer un modèle de machine learning en application web et permet l’intégrer directement des modèles scikit-learn.</a:t>
            </a:r>
          </a:p>
          <a:p>
            <a:pPr algn="l" marL="530438" indent="-265219" lvl="1">
              <a:lnSpc>
                <a:spcPts val="3439"/>
              </a:lnSpc>
              <a:spcBef>
                <a:spcPct val="0"/>
              </a:spcBef>
              <a:buFont typeface="Arial"/>
              <a:buChar char="•"/>
            </a:pPr>
            <a:r>
              <a:rPr lang="en-US" sz="2456">
                <a:solidFill>
                  <a:srgbClr val="011226"/>
                </a:solidFill>
                <a:latin typeface="Poppins"/>
                <a:ea typeface="Poppins"/>
                <a:cs typeface="Poppins"/>
                <a:sym typeface="Poppins"/>
              </a:rPr>
              <a:t>1.  </a:t>
            </a:r>
            <a:r>
              <a:rPr lang="en-US" b="true" sz="2456">
                <a:solidFill>
                  <a:srgbClr val="004CCF"/>
                </a:solidFill>
                <a:latin typeface="Poppins Bold"/>
                <a:ea typeface="Poppins Bold"/>
                <a:cs typeface="Poppins Bold"/>
                <a:sym typeface="Poppins Bold"/>
              </a:rPr>
              <a:t>init </a:t>
            </a:r>
          </a:p>
          <a:p>
            <a:pPr algn="l">
              <a:lnSpc>
                <a:spcPts val="3439"/>
              </a:lnSpc>
              <a:spcBef>
                <a:spcPct val="0"/>
              </a:spcBef>
            </a:pPr>
            <a:r>
              <a:rPr lang="en-US" sz="2456">
                <a:solidFill>
                  <a:srgbClr val="011226"/>
                </a:solidFill>
                <a:latin typeface="Poppins"/>
                <a:ea typeface="Poppins"/>
                <a:cs typeface="Poppins"/>
                <a:sym typeface="Poppins"/>
              </a:rPr>
              <a:t>            </a:t>
            </a:r>
            <a:r>
              <a:rPr lang="en-US" sz="2456">
                <a:solidFill>
                  <a:srgbClr val="011226"/>
                </a:solidFill>
                <a:latin typeface="Poppins"/>
                <a:ea typeface="Poppins"/>
                <a:cs typeface="Poppins"/>
                <a:sym typeface="Poppins"/>
              </a:rPr>
              <a:t>création de l’app : def create_app()</a:t>
            </a:r>
          </a:p>
          <a:p>
            <a:pPr algn="l">
              <a:lnSpc>
                <a:spcPts val="3439"/>
              </a:lnSpc>
              <a:spcBef>
                <a:spcPct val="0"/>
              </a:spcBef>
            </a:pPr>
            <a:r>
              <a:rPr lang="en-US" sz="2456">
                <a:solidFill>
                  <a:srgbClr val="011226"/>
                </a:solidFill>
                <a:latin typeface="Poppins"/>
                <a:ea typeface="Poppins"/>
                <a:cs typeface="Poppins"/>
                <a:sym typeface="Poppins"/>
              </a:rPr>
              <a:t>            Initialisation de l’application Flask principale   </a:t>
            </a:r>
            <a:r>
              <a:rPr lang="en-US" sz="2456">
                <a:solidFill>
                  <a:srgbClr val="011226"/>
                </a:solidFill>
                <a:latin typeface="Poppins"/>
                <a:ea typeface="Poppins"/>
                <a:cs typeface="Poppins"/>
                <a:sym typeface="Poppins"/>
              </a:rPr>
              <a:t>app = Flask(__name__)</a:t>
            </a:r>
          </a:p>
          <a:p>
            <a:pPr algn="l" marL="530438" indent="-265219" lvl="1">
              <a:lnSpc>
                <a:spcPts val="3439"/>
              </a:lnSpc>
              <a:buFont typeface="Arial"/>
              <a:buChar char="•"/>
            </a:pPr>
            <a:r>
              <a:rPr lang="en-US" b="true" sz="2456">
                <a:solidFill>
                  <a:srgbClr val="004CCF"/>
                </a:solidFill>
                <a:latin typeface="Poppins Bold"/>
                <a:ea typeface="Poppins Bold"/>
                <a:cs typeface="Poppins Bold"/>
                <a:sym typeface="Poppins Bold"/>
              </a:rPr>
              <a:t>routes </a:t>
            </a:r>
            <a:r>
              <a:rPr lang="en-US" sz="2456">
                <a:solidFill>
                  <a:srgbClr val="011226"/>
                </a:solidFill>
                <a:latin typeface="Poppins"/>
                <a:ea typeface="Poppins"/>
                <a:cs typeface="Poppins"/>
                <a:sym typeface="Poppins"/>
              </a:rPr>
              <a:t>(logique de l’application </a:t>
            </a:r>
            <a:r>
              <a:rPr lang="en-US" b="true" sz="2456">
                <a:solidFill>
                  <a:srgbClr val="011226"/>
                </a:solidFill>
                <a:latin typeface="Poppins Bold"/>
                <a:ea typeface="Poppins Bold"/>
                <a:cs typeface="Poppins Bold"/>
                <a:sym typeface="Poppins Bold"/>
              </a:rPr>
              <a:t>API REST Endpoints</a:t>
            </a:r>
            <a:r>
              <a:rPr lang="en-US" sz="2456">
                <a:solidFill>
                  <a:srgbClr val="011226"/>
                </a:solidFill>
                <a:latin typeface="Poppins"/>
                <a:ea typeface="Poppins"/>
                <a:cs typeface="Poppins"/>
                <a:sym typeface="Poppins"/>
              </a:rPr>
              <a:t>)</a:t>
            </a:r>
          </a:p>
          <a:p>
            <a:pPr algn="l">
              <a:lnSpc>
                <a:spcPts val="3439"/>
              </a:lnSpc>
            </a:pPr>
            <a:r>
              <a:rPr lang="en-US" sz="2456">
                <a:solidFill>
                  <a:srgbClr val="011226"/>
                </a:solidFill>
                <a:latin typeface="Poppins"/>
                <a:ea typeface="Poppins"/>
                <a:cs typeface="Poppins"/>
                <a:sym typeface="Poppins"/>
              </a:rPr>
              <a:t>            @main_bp.route('/', methods=['</a:t>
            </a:r>
            <a:r>
              <a:rPr lang="en-US" b="true" sz="2456">
                <a:solidFill>
                  <a:srgbClr val="011226"/>
                </a:solidFill>
                <a:latin typeface="Poppins Bold"/>
                <a:ea typeface="Poppins Bold"/>
                <a:cs typeface="Poppins Bold"/>
                <a:sym typeface="Poppins Bold"/>
              </a:rPr>
              <a:t>GET</a:t>
            </a:r>
            <a:r>
              <a:rPr lang="en-US" sz="2456">
                <a:solidFill>
                  <a:srgbClr val="011226"/>
                </a:solidFill>
                <a:latin typeface="Poppins"/>
                <a:ea typeface="Poppins"/>
                <a:cs typeface="Poppins"/>
                <a:sym typeface="Poppins"/>
              </a:rPr>
              <a:t>']) ⟶ index.html (formulaire)</a:t>
            </a:r>
          </a:p>
          <a:p>
            <a:pPr algn="l">
              <a:lnSpc>
                <a:spcPts val="3439"/>
              </a:lnSpc>
            </a:pPr>
            <a:r>
              <a:rPr lang="en-US" sz="2456">
                <a:solidFill>
                  <a:srgbClr val="011226"/>
                </a:solidFill>
                <a:latin typeface="Poppins"/>
                <a:ea typeface="Poppins"/>
                <a:cs typeface="Poppins"/>
                <a:sym typeface="Poppins"/>
              </a:rPr>
              <a:t>            @main_bp.route('/predict', methods=['</a:t>
            </a:r>
            <a:r>
              <a:rPr lang="en-US" b="true" sz="2456">
                <a:solidFill>
                  <a:srgbClr val="011226"/>
                </a:solidFill>
                <a:latin typeface="Poppins Bold"/>
                <a:ea typeface="Poppins Bold"/>
                <a:cs typeface="Poppins Bold"/>
                <a:sym typeface="Poppins Bold"/>
              </a:rPr>
              <a:t>POST</a:t>
            </a:r>
            <a:r>
              <a:rPr lang="en-US" sz="2456">
                <a:solidFill>
                  <a:srgbClr val="011226"/>
                </a:solidFill>
                <a:latin typeface="Poppins"/>
                <a:ea typeface="Poppins"/>
                <a:cs typeface="Poppins"/>
                <a:sym typeface="Poppins"/>
              </a:rPr>
              <a:t>']) ⟶ (Retourne :la classe (churn / non churn)</a:t>
            </a:r>
          </a:p>
          <a:p>
            <a:pPr algn="l" marL="530438" indent="-265219" lvl="1">
              <a:lnSpc>
                <a:spcPts val="3439"/>
              </a:lnSpc>
              <a:buFont typeface="Arial"/>
              <a:buChar char="•"/>
            </a:pPr>
            <a:r>
              <a:rPr lang="en-US" b="true" sz="2456">
                <a:solidFill>
                  <a:srgbClr val="004CCF"/>
                </a:solidFill>
                <a:latin typeface="Poppins Bold"/>
                <a:ea typeface="Poppins Bold"/>
                <a:cs typeface="Poppins Bold"/>
                <a:sym typeface="Poppins Bold"/>
              </a:rPr>
              <a:t>run </a:t>
            </a:r>
            <a:r>
              <a:rPr lang="en-US" sz="2456">
                <a:solidFill>
                  <a:srgbClr val="011226"/>
                </a:solidFill>
                <a:latin typeface="Poppins"/>
                <a:ea typeface="Poppins"/>
                <a:cs typeface="Poppins"/>
                <a:sym typeface="Poppins"/>
              </a:rPr>
              <a:t>(lancement du serveur)</a:t>
            </a:r>
          </a:p>
          <a:p>
            <a:pPr algn="l">
              <a:lnSpc>
                <a:spcPts val="3439"/>
              </a:lnSpc>
            </a:pPr>
          </a:p>
          <a:p>
            <a:pPr algn="l">
              <a:lnSpc>
                <a:spcPts val="3439"/>
              </a:lnSpc>
            </a:pPr>
            <a:r>
              <a:rPr lang="en-US" sz="2456">
                <a:solidFill>
                  <a:srgbClr val="011226"/>
                </a:solidFill>
                <a:latin typeface="Poppins"/>
                <a:ea typeface="Poppins"/>
                <a:cs typeface="Poppins"/>
                <a:sym typeface="Poppins"/>
              </a:rPr>
              <a:t>            </a:t>
            </a:r>
          </a:p>
          <a:p>
            <a:pPr algn="l" marL="0" indent="0" lvl="0">
              <a:lnSpc>
                <a:spcPts val="3439"/>
              </a:lnSpc>
              <a:spcBef>
                <a:spcPct val="0"/>
              </a:spcBef>
            </a:pPr>
          </a:p>
          <a:p>
            <a:pPr algn="l" marL="0" indent="0" lvl="0">
              <a:lnSpc>
                <a:spcPts val="3439"/>
              </a:lnSpc>
              <a:spcBef>
                <a:spcPct val="0"/>
              </a:spcBef>
            </a:pPr>
          </a:p>
        </p:txBody>
      </p:sp>
      <p:grpSp>
        <p:nvGrpSpPr>
          <p:cNvPr name="Group 5" id="5"/>
          <p:cNvGrpSpPr/>
          <p:nvPr/>
        </p:nvGrpSpPr>
        <p:grpSpPr>
          <a:xfrm rot="0">
            <a:off x="405993" y="9144813"/>
            <a:ext cx="20334267" cy="8668838"/>
            <a:chOff x="0" y="0"/>
            <a:chExt cx="2210551" cy="942395"/>
          </a:xfrm>
        </p:grpSpPr>
        <p:sp>
          <p:nvSpPr>
            <p:cNvPr name="Freeform 6" id="6"/>
            <p:cNvSpPr/>
            <p:nvPr/>
          </p:nvSpPr>
          <p:spPr>
            <a:xfrm flipH="false" flipV="false" rot="0">
              <a:off x="4400" y="0"/>
              <a:ext cx="2201750" cy="942395"/>
            </a:xfrm>
            <a:custGeom>
              <a:avLst/>
              <a:gdLst/>
              <a:ahLst/>
              <a:cxnLst/>
              <a:rect r="r" b="b" t="t" l="l"/>
              <a:pathLst>
                <a:path h="942395" w="2201750">
                  <a:moveTo>
                    <a:pt x="221644" y="0"/>
                  </a:moveTo>
                  <a:lnTo>
                    <a:pt x="2183307" y="0"/>
                  </a:lnTo>
                  <a:cubicBezTo>
                    <a:pt x="2188881" y="0"/>
                    <a:pt x="2194156" y="2521"/>
                    <a:pt x="2197657" y="6858"/>
                  </a:cubicBezTo>
                  <a:cubicBezTo>
                    <a:pt x="2201159" y="11194"/>
                    <a:pt x="2202511" y="16882"/>
                    <a:pt x="2201336" y="22331"/>
                  </a:cubicBezTo>
                  <a:lnTo>
                    <a:pt x="2007766" y="920064"/>
                  </a:lnTo>
                  <a:cubicBezTo>
                    <a:pt x="2004957" y="933093"/>
                    <a:pt x="1993436" y="942395"/>
                    <a:pt x="1980107" y="942395"/>
                  </a:cubicBezTo>
                  <a:lnTo>
                    <a:pt x="18444" y="942395"/>
                  </a:lnTo>
                  <a:cubicBezTo>
                    <a:pt x="12870" y="942395"/>
                    <a:pt x="7595" y="939874"/>
                    <a:pt x="4094" y="935537"/>
                  </a:cubicBezTo>
                  <a:cubicBezTo>
                    <a:pt x="592" y="931201"/>
                    <a:pt x="-760" y="925513"/>
                    <a:pt x="415" y="920064"/>
                  </a:cubicBezTo>
                  <a:lnTo>
                    <a:pt x="193985" y="22331"/>
                  </a:lnTo>
                  <a:cubicBezTo>
                    <a:pt x="196794" y="9302"/>
                    <a:pt x="208316" y="0"/>
                    <a:pt x="221644" y="0"/>
                  </a:cubicBezTo>
                  <a:close/>
                </a:path>
              </a:pathLst>
            </a:custGeom>
            <a:gradFill rotWithShape="true">
              <a:gsLst>
                <a:gs pos="0">
                  <a:srgbClr val="0D1296">
                    <a:alpha val="100000"/>
                  </a:srgbClr>
                </a:gs>
                <a:gs pos="100000">
                  <a:srgbClr val="2B79FF">
                    <a:alpha val="100000"/>
                  </a:srgbClr>
                </a:gs>
              </a:gsLst>
              <a:lin ang="2700000"/>
            </a:gradFill>
          </p:spPr>
        </p:sp>
        <p:sp>
          <p:nvSpPr>
            <p:cNvPr name="TextBox 7" id="7"/>
            <p:cNvSpPr txBox="true"/>
            <p:nvPr/>
          </p:nvSpPr>
          <p:spPr>
            <a:xfrm>
              <a:off x="101600" y="-66675"/>
              <a:ext cx="2007351" cy="1009070"/>
            </a:xfrm>
            <a:prstGeom prst="rect">
              <a:avLst/>
            </a:prstGeom>
          </p:spPr>
          <p:txBody>
            <a:bodyPr anchor="ctr" rtlCol="false" tIns="50800" lIns="50800" bIns="50800" rIns="50800"/>
            <a:lstStyle/>
            <a:p>
              <a:pPr algn="ctr" marL="0" indent="0" lvl="0">
                <a:lnSpc>
                  <a:spcPts val="3151"/>
                </a:lnSpc>
              </a:pPr>
            </a:p>
          </p:txBody>
        </p:sp>
      </p:grpSp>
      <p:sp>
        <p:nvSpPr>
          <p:cNvPr name="TextBox 8" id="8"/>
          <p:cNvSpPr txBox="true"/>
          <p:nvPr/>
        </p:nvSpPr>
        <p:spPr>
          <a:xfrm rot="0">
            <a:off x="17259300" y="9467850"/>
            <a:ext cx="152400" cy="200025"/>
          </a:xfrm>
          <a:prstGeom prst="rect">
            <a:avLst/>
          </a:prstGeom>
        </p:spPr>
        <p:txBody>
          <a:bodyPr anchor="t" rtlCol="false" tIns="0" lIns="0" bIns="0" rIns="0" wrap="none">
            <a:spAutoFit/>
          </a:bodyPr>
          <a:lstStyle/>
          <a:p>
            <a:pPr algn="ctr">
              <a:lnSpc>
                <a:spcPts val="3219"/>
              </a:lnSpc>
              <a:spcBef>
                <a:spcPct val="0"/>
              </a:spcBef>
            </a:pPr>
            <a:r>
              <a:rPr lang="en-US" sz="2299">
                <a:solidFill>
                  <a:srgbClr val="FFFFFF"/>
                </a:solidFill>
                <a:latin typeface="Open Sans"/>
                <a:ea typeface="Open Sans"/>
                <a:cs typeface="Open Sans"/>
                <a:sym typeface="Open Sans"/>
              </a:rPr>
              <a:t>34</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6756029" y="7319496"/>
            <a:ext cx="4699522" cy="3582804"/>
          </a:xfrm>
          <a:custGeom>
            <a:avLst/>
            <a:gdLst/>
            <a:ahLst/>
            <a:cxnLst/>
            <a:rect r="r" b="b" t="t" l="l"/>
            <a:pathLst>
              <a:path h="3582804" w="4699522">
                <a:moveTo>
                  <a:pt x="0" y="0"/>
                </a:moveTo>
                <a:lnTo>
                  <a:pt x="4699522" y="0"/>
                </a:lnTo>
                <a:lnTo>
                  <a:pt x="4699522" y="3582803"/>
                </a:lnTo>
                <a:lnTo>
                  <a:pt x="0" y="3582803"/>
                </a:lnTo>
                <a:lnTo>
                  <a:pt x="0" y="0"/>
                </a:lnTo>
                <a:close/>
              </a:path>
            </a:pathLst>
          </a:custGeom>
          <a:blipFill>
            <a:blip r:embed="rId2"/>
            <a:stretch>
              <a:fillRect l="0" t="0" r="0" b="0"/>
            </a:stretch>
          </a:blipFill>
        </p:spPr>
      </p:sp>
      <p:grpSp>
        <p:nvGrpSpPr>
          <p:cNvPr name="Group 3" id="3"/>
          <p:cNvGrpSpPr/>
          <p:nvPr/>
        </p:nvGrpSpPr>
        <p:grpSpPr>
          <a:xfrm rot="0">
            <a:off x="8982491" y="2428048"/>
            <a:ext cx="1024603" cy="860616"/>
            <a:chOff x="0" y="0"/>
            <a:chExt cx="269854" cy="226664"/>
          </a:xfrm>
        </p:grpSpPr>
        <p:sp>
          <p:nvSpPr>
            <p:cNvPr name="Freeform 4" id="4"/>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5" id="5"/>
            <p:cNvSpPr txBox="true"/>
            <p:nvPr/>
          </p:nvSpPr>
          <p:spPr>
            <a:xfrm>
              <a:off x="0" y="-47625"/>
              <a:ext cx="269854" cy="274289"/>
            </a:xfrm>
            <a:prstGeom prst="rect">
              <a:avLst/>
            </a:prstGeom>
          </p:spPr>
          <p:txBody>
            <a:bodyPr anchor="ctr" rtlCol="false" tIns="50800" lIns="50800" bIns="50800" rIns="50800"/>
            <a:lstStyle/>
            <a:p>
              <a:pPr algn="ctr" marL="0" indent="0" lvl="0">
                <a:lnSpc>
                  <a:spcPts val="3691"/>
                </a:lnSpc>
              </a:pPr>
              <a:r>
                <a:rPr lang="en-US" sz="2636">
                  <a:solidFill>
                    <a:srgbClr val="FFFFFF"/>
                  </a:solidFill>
                  <a:latin typeface="Aileron"/>
                  <a:ea typeface="Aileron"/>
                  <a:cs typeface="Aileron"/>
                  <a:sym typeface="Aileron"/>
                </a:rPr>
                <a:t>M</a:t>
              </a:r>
            </a:p>
          </p:txBody>
        </p:sp>
      </p:grpSp>
      <p:grpSp>
        <p:nvGrpSpPr>
          <p:cNvPr name="Group 6" id="6"/>
          <p:cNvGrpSpPr/>
          <p:nvPr/>
        </p:nvGrpSpPr>
        <p:grpSpPr>
          <a:xfrm rot="0">
            <a:off x="8982491" y="6697688"/>
            <a:ext cx="1024603" cy="860616"/>
            <a:chOff x="0" y="0"/>
            <a:chExt cx="269854" cy="226664"/>
          </a:xfrm>
        </p:grpSpPr>
        <p:sp>
          <p:nvSpPr>
            <p:cNvPr name="Freeform 7" id="7"/>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8" id="8"/>
            <p:cNvSpPr txBox="true"/>
            <p:nvPr/>
          </p:nvSpPr>
          <p:spPr>
            <a:xfrm>
              <a:off x="0" y="-47625"/>
              <a:ext cx="269854" cy="274289"/>
            </a:xfrm>
            <a:prstGeom prst="rect">
              <a:avLst/>
            </a:prstGeom>
          </p:spPr>
          <p:txBody>
            <a:bodyPr anchor="ctr" rtlCol="false" tIns="50800" lIns="50800" bIns="50800" rIns="50800"/>
            <a:lstStyle/>
            <a:p>
              <a:pPr algn="ctr" marL="0" indent="0" lvl="0">
                <a:lnSpc>
                  <a:spcPts val="3691"/>
                </a:lnSpc>
              </a:pPr>
              <a:r>
                <a:rPr lang="en-US" sz="2636">
                  <a:solidFill>
                    <a:srgbClr val="FFFFFF"/>
                  </a:solidFill>
                  <a:latin typeface="Aileron"/>
                  <a:ea typeface="Aileron"/>
                  <a:cs typeface="Aileron"/>
                  <a:sym typeface="Aileron"/>
                </a:rPr>
                <a:t>C</a:t>
              </a:r>
            </a:p>
          </p:txBody>
        </p:sp>
      </p:grpSp>
      <p:grpSp>
        <p:nvGrpSpPr>
          <p:cNvPr name="Group 9" id="9"/>
          <p:cNvGrpSpPr/>
          <p:nvPr/>
        </p:nvGrpSpPr>
        <p:grpSpPr>
          <a:xfrm rot="0">
            <a:off x="12929926" y="2428048"/>
            <a:ext cx="1024603" cy="860616"/>
            <a:chOff x="0" y="0"/>
            <a:chExt cx="269854" cy="226664"/>
          </a:xfrm>
        </p:grpSpPr>
        <p:sp>
          <p:nvSpPr>
            <p:cNvPr name="Freeform 10" id="10"/>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11" id="11"/>
            <p:cNvSpPr txBox="true"/>
            <p:nvPr/>
          </p:nvSpPr>
          <p:spPr>
            <a:xfrm>
              <a:off x="0" y="-47625"/>
              <a:ext cx="269854" cy="274289"/>
            </a:xfrm>
            <a:prstGeom prst="rect">
              <a:avLst/>
            </a:prstGeom>
          </p:spPr>
          <p:txBody>
            <a:bodyPr anchor="ctr" rtlCol="false" tIns="50800" lIns="50800" bIns="50800" rIns="50800"/>
            <a:lstStyle/>
            <a:p>
              <a:pPr algn="ctr" marL="0" indent="0" lvl="0">
                <a:lnSpc>
                  <a:spcPts val="3691"/>
                </a:lnSpc>
              </a:pPr>
              <a:r>
                <a:rPr lang="en-US" sz="2636">
                  <a:solidFill>
                    <a:srgbClr val="FFFFFF"/>
                  </a:solidFill>
                  <a:latin typeface="Aileron"/>
                  <a:ea typeface="Aileron"/>
                  <a:cs typeface="Aileron"/>
                  <a:sym typeface="Aileron"/>
                </a:rPr>
                <a:t>V</a:t>
              </a:r>
            </a:p>
          </p:txBody>
        </p:sp>
      </p:grpSp>
      <p:grpSp>
        <p:nvGrpSpPr>
          <p:cNvPr name="Group 12" id="12"/>
          <p:cNvGrpSpPr/>
          <p:nvPr/>
        </p:nvGrpSpPr>
        <p:grpSpPr>
          <a:xfrm rot="0">
            <a:off x="12929926" y="6697688"/>
            <a:ext cx="1024603" cy="860616"/>
            <a:chOff x="0" y="0"/>
            <a:chExt cx="269854" cy="226664"/>
          </a:xfrm>
        </p:grpSpPr>
        <p:sp>
          <p:nvSpPr>
            <p:cNvPr name="Freeform 13" id="13"/>
            <p:cNvSpPr/>
            <p:nvPr/>
          </p:nvSpPr>
          <p:spPr>
            <a:xfrm flipH="false" flipV="false" rot="0">
              <a:off x="0" y="0"/>
              <a:ext cx="269854" cy="226664"/>
            </a:xfrm>
            <a:custGeom>
              <a:avLst/>
              <a:gdLst/>
              <a:ahLst/>
              <a:cxnLst/>
              <a:rect r="r" b="b" t="t" l="l"/>
              <a:pathLst>
                <a:path h="226664" w="269854">
                  <a:moveTo>
                    <a:pt x="75560" y="0"/>
                  </a:moveTo>
                  <a:lnTo>
                    <a:pt x="194294" y="0"/>
                  </a:lnTo>
                  <a:cubicBezTo>
                    <a:pt x="214334" y="0"/>
                    <a:pt x="233553" y="7961"/>
                    <a:pt x="247723" y="22131"/>
                  </a:cubicBezTo>
                  <a:cubicBezTo>
                    <a:pt x="261893" y="36301"/>
                    <a:pt x="269854" y="55520"/>
                    <a:pt x="269854" y="75560"/>
                  </a:cubicBezTo>
                  <a:lnTo>
                    <a:pt x="269854" y="151104"/>
                  </a:lnTo>
                  <a:cubicBezTo>
                    <a:pt x="269854" y="192835"/>
                    <a:pt x="236025" y="226664"/>
                    <a:pt x="194294" y="226664"/>
                  </a:cubicBezTo>
                  <a:lnTo>
                    <a:pt x="75560" y="226664"/>
                  </a:lnTo>
                  <a:cubicBezTo>
                    <a:pt x="55520" y="226664"/>
                    <a:pt x="36301" y="218704"/>
                    <a:pt x="22131" y="204533"/>
                  </a:cubicBezTo>
                  <a:cubicBezTo>
                    <a:pt x="7961" y="190363"/>
                    <a:pt x="0" y="171144"/>
                    <a:pt x="0" y="151104"/>
                  </a:cubicBezTo>
                  <a:lnTo>
                    <a:pt x="0" y="75560"/>
                  </a:lnTo>
                  <a:cubicBezTo>
                    <a:pt x="0" y="55520"/>
                    <a:pt x="7961" y="36301"/>
                    <a:pt x="22131" y="22131"/>
                  </a:cubicBezTo>
                  <a:cubicBezTo>
                    <a:pt x="36301" y="7961"/>
                    <a:pt x="55520" y="0"/>
                    <a:pt x="75560" y="0"/>
                  </a:cubicBezTo>
                  <a:close/>
                </a:path>
              </a:pathLst>
            </a:custGeom>
            <a:solidFill>
              <a:srgbClr val="004CCF"/>
            </a:solidFill>
          </p:spPr>
        </p:sp>
        <p:sp>
          <p:nvSpPr>
            <p:cNvPr name="TextBox 14" id="14"/>
            <p:cNvSpPr txBox="true"/>
            <p:nvPr/>
          </p:nvSpPr>
          <p:spPr>
            <a:xfrm>
              <a:off x="0" y="-47625"/>
              <a:ext cx="269854" cy="274289"/>
            </a:xfrm>
            <a:prstGeom prst="rect">
              <a:avLst/>
            </a:prstGeom>
          </p:spPr>
          <p:txBody>
            <a:bodyPr anchor="ctr" rtlCol="false" tIns="50800" lIns="50800" bIns="50800" rIns="50800"/>
            <a:lstStyle/>
            <a:p>
              <a:pPr algn="ctr" marL="0" indent="0" lvl="0">
                <a:lnSpc>
                  <a:spcPts val="3691"/>
                </a:lnSpc>
              </a:pPr>
              <a:r>
                <a:rPr lang="en-US" sz="2636">
                  <a:solidFill>
                    <a:srgbClr val="FFFFFF"/>
                  </a:solidFill>
                  <a:latin typeface="Aileron"/>
                  <a:ea typeface="Aileron"/>
                  <a:cs typeface="Aileron"/>
                  <a:sym typeface="Aileron"/>
                </a:rPr>
                <a:t>F</a:t>
              </a:r>
            </a:p>
          </p:txBody>
        </p:sp>
      </p:grpSp>
      <p:sp>
        <p:nvSpPr>
          <p:cNvPr name="TextBox 15" id="15"/>
          <p:cNvSpPr txBox="true"/>
          <p:nvPr/>
        </p:nvSpPr>
        <p:spPr>
          <a:xfrm rot="0">
            <a:off x="8982491" y="3392694"/>
            <a:ext cx="3167793" cy="476164"/>
          </a:xfrm>
          <a:prstGeom prst="rect">
            <a:avLst/>
          </a:prstGeom>
        </p:spPr>
        <p:txBody>
          <a:bodyPr anchor="t" rtlCol="false" tIns="0" lIns="0" bIns="0" rIns="0">
            <a:spAutoFit/>
          </a:bodyPr>
          <a:lstStyle/>
          <a:p>
            <a:pPr algn="l" marL="0" indent="0" lvl="0">
              <a:lnSpc>
                <a:spcPts val="3766"/>
              </a:lnSpc>
              <a:spcBef>
                <a:spcPct val="0"/>
              </a:spcBef>
            </a:pPr>
            <a:r>
              <a:rPr lang="en-US" b="true" sz="3013" strike="noStrike" u="none">
                <a:solidFill>
                  <a:srgbClr val="004CCF"/>
                </a:solidFill>
                <a:latin typeface="Aileron Bold"/>
                <a:ea typeface="Aileron Bold"/>
                <a:cs typeface="Aileron Bold"/>
                <a:sym typeface="Aileron Bold"/>
              </a:rPr>
              <a:t>Model</a:t>
            </a:r>
          </a:p>
        </p:txBody>
      </p:sp>
      <p:sp>
        <p:nvSpPr>
          <p:cNvPr name="TextBox 16" id="16"/>
          <p:cNvSpPr txBox="true"/>
          <p:nvPr/>
        </p:nvSpPr>
        <p:spPr>
          <a:xfrm rot="0">
            <a:off x="8982491" y="7662335"/>
            <a:ext cx="3167793" cy="476164"/>
          </a:xfrm>
          <a:prstGeom prst="rect">
            <a:avLst/>
          </a:prstGeom>
        </p:spPr>
        <p:txBody>
          <a:bodyPr anchor="t" rtlCol="false" tIns="0" lIns="0" bIns="0" rIns="0">
            <a:spAutoFit/>
          </a:bodyPr>
          <a:lstStyle/>
          <a:p>
            <a:pPr algn="l" marL="0" indent="0" lvl="0">
              <a:lnSpc>
                <a:spcPts val="3766"/>
              </a:lnSpc>
              <a:spcBef>
                <a:spcPct val="0"/>
              </a:spcBef>
            </a:pPr>
            <a:r>
              <a:rPr lang="en-US" b="true" sz="3013">
                <a:solidFill>
                  <a:srgbClr val="004CCF"/>
                </a:solidFill>
                <a:latin typeface="Aileron Bold"/>
                <a:ea typeface="Aileron Bold"/>
                <a:cs typeface="Aileron Bold"/>
                <a:sym typeface="Aileron Bold"/>
              </a:rPr>
              <a:t>Controller</a:t>
            </a:r>
          </a:p>
        </p:txBody>
      </p:sp>
      <p:sp>
        <p:nvSpPr>
          <p:cNvPr name="TextBox 17" id="17"/>
          <p:cNvSpPr txBox="true"/>
          <p:nvPr/>
        </p:nvSpPr>
        <p:spPr>
          <a:xfrm rot="0">
            <a:off x="12929926" y="3392694"/>
            <a:ext cx="3605092" cy="476164"/>
          </a:xfrm>
          <a:prstGeom prst="rect">
            <a:avLst/>
          </a:prstGeom>
        </p:spPr>
        <p:txBody>
          <a:bodyPr anchor="t" rtlCol="false" tIns="0" lIns="0" bIns="0" rIns="0">
            <a:spAutoFit/>
          </a:bodyPr>
          <a:lstStyle/>
          <a:p>
            <a:pPr algn="l" marL="0" indent="0" lvl="0">
              <a:lnSpc>
                <a:spcPts val="3766"/>
              </a:lnSpc>
              <a:spcBef>
                <a:spcPct val="0"/>
              </a:spcBef>
            </a:pPr>
            <a:r>
              <a:rPr lang="en-US" b="true" sz="3013" strike="noStrike" u="none">
                <a:solidFill>
                  <a:srgbClr val="004CCF"/>
                </a:solidFill>
                <a:latin typeface="Aileron Bold"/>
                <a:ea typeface="Aileron Bold"/>
                <a:cs typeface="Aileron Bold"/>
                <a:sym typeface="Aileron Bold"/>
              </a:rPr>
              <a:t>View</a:t>
            </a:r>
          </a:p>
        </p:txBody>
      </p:sp>
      <p:sp>
        <p:nvSpPr>
          <p:cNvPr name="TextBox 18" id="18"/>
          <p:cNvSpPr txBox="true"/>
          <p:nvPr/>
        </p:nvSpPr>
        <p:spPr>
          <a:xfrm rot="0">
            <a:off x="12929926" y="7662335"/>
            <a:ext cx="3605092" cy="476164"/>
          </a:xfrm>
          <a:prstGeom prst="rect">
            <a:avLst/>
          </a:prstGeom>
        </p:spPr>
        <p:txBody>
          <a:bodyPr anchor="t" rtlCol="false" tIns="0" lIns="0" bIns="0" rIns="0">
            <a:spAutoFit/>
          </a:bodyPr>
          <a:lstStyle/>
          <a:p>
            <a:pPr algn="l" marL="0" indent="0" lvl="0">
              <a:lnSpc>
                <a:spcPts val="3766"/>
              </a:lnSpc>
              <a:spcBef>
                <a:spcPct val="0"/>
              </a:spcBef>
            </a:pPr>
            <a:r>
              <a:rPr lang="en-US" b="true" sz="3013">
                <a:solidFill>
                  <a:srgbClr val="004CCF"/>
                </a:solidFill>
                <a:latin typeface="Aileron Bold"/>
                <a:ea typeface="Aileron Bold"/>
                <a:cs typeface="Aileron Bold"/>
                <a:sym typeface="Aileron Bold"/>
              </a:rPr>
              <a:t>Factory</a:t>
            </a:r>
          </a:p>
        </p:txBody>
      </p:sp>
      <p:sp>
        <p:nvSpPr>
          <p:cNvPr name="TextBox 19" id="19"/>
          <p:cNvSpPr txBox="true"/>
          <p:nvPr/>
        </p:nvSpPr>
        <p:spPr>
          <a:xfrm rot="0">
            <a:off x="8982491" y="3925973"/>
            <a:ext cx="3167793" cy="2734984"/>
          </a:xfrm>
          <a:prstGeom prst="rect">
            <a:avLst/>
          </a:prstGeom>
        </p:spPr>
        <p:txBody>
          <a:bodyPr anchor="t" rtlCol="false" tIns="0" lIns="0" bIns="0" rIns="0">
            <a:spAutoFit/>
          </a:bodyPr>
          <a:lstStyle/>
          <a:p>
            <a:pPr algn="l">
              <a:lnSpc>
                <a:spcPts val="3077"/>
              </a:lnSpc>
              <a:spcBef>
                <a:spcPct val="0"/>
              </a:spcBef>
            </a:pPr>
            <a:r>
              <a:rPr lang="en-US" sz="2198" strike="noStrike" u="none">
                <a:solidFill>
                  <a:srgbClr val="011226"/>
                </a:solidFill>
                <a:latin typeface="Poppins"/>
                <a:ea typeface="Poppins"/>
                <a:cs typeface="Poppins"/>
                <a:sym typeface="Poppins"/>
              </a:rPr>
              <a:t>src/predict.py  (b</a:t>
            </a:r>
            <a:r>
              <a:rPr lang="en-US" sz="2198" strike="noStrike" u="none">
                <a:solidFill>
                  <a:srgbClr val="011226"/>
                </a:solidFill>
                <a:latin typeface="Poppins"/>
                <a:ea typeface="Poppins"/>
                <a:cs typeface="Poppins"/>
                <a:sym typeface="Poppins"/>
              </a:rPr>
              <a:t>e</a:t>
            </a:r>
            <a:r>
              <a:rPr lang="en-US" sz="2198" strike="noStrike" u="none">
                <a:solidFill>
                  <a:srgbClr val="011226"/>
                </a:solidFill>
                <a:latin typeface="Poppins"/>
                <a:ea typeface="Poppins"/>
                <a:cs typeface="Poppins"/>
                <a:sym typeface="Poppins"/>
              </a:rPr>
              <a:t>st_model.pkl,</a:t>
            </a:r>
            <a:r>
              <a:rPr lang="en-US" sz="2198" strike="noStrike" u="none">
                <a:solidFill>
                  <a:srgbClr val="011226"/>
                </a:solidFill>
                <a:latin typeface="Poppins"/>
                <a:ea typeface="Poppins"/>
                <a:cs typeface="Poppins"/>
                <a:sym typeface="Poppins"/>
              </a:rPr>
              <a:t> </a:t>
            </a:r>
            <a:r>
              <a:rPr lang="en-US" sz="2198" strike="noStrike" u="none">
                <a:solidFill>
                  <a:srgbClr val="011226"/>
                </a:solidFill>
                <a:latin typeface="Poppins"/>
                <a:ea typeface="Poppins"/>
                <a:cs typeface="Poppins"/>
                <a:sym typeface="Poppins"/>
              </a:rPr>
              <a:t>p</a:t>
            </a:r>
            <a:r>
              <a:rPr lang="en-US" sz="2198" strike="noStrike" u="none">
                <a:solidFill>
                  <a:srgbClr val="011226"/>
                </a:solidFill>
                <a:latin typeface="Poppins"/>
                <a:ea typeface="Poppins"/>
                <a:cs typeface="Poppins"/>
                <a:sym typeface="Poppins"/>
              </a:rPr>
              <a:t>r</a:t>
            </a:r>
            <a:r>
              <a:rPr lang="en-US" sz="2198" strike="noStrike" u="none">
                <a:solidFill>
                  <a:srgbClr val="011226"/>
                </a:solidFill>
                <a:latin typeface="Poppins"/>
                <a:ea typeface="Poppins"/>
                <a:cs typeface="Poppins"/>
                <a:sym typeface="Poppins"/>
              </a:rPr>
              <a:t>ep</a:t>
            </a:r>
            <a:r>
              <a:rPr lang="en-US" sz="2198" strike="noStrike" u="none">
                <a:solidFill>
                  <a:srgbClr val="011226"/>
                </a:solidFill>
                <a:latin typeface="Poppins"/>
                <a:ea typeface="Poppins"/>
                <a:cs typeface="Poppins"/>
                <a:sym typeface="Poppins"/>
              </a:rPr>
              <a:t>r</a:t>
            </a:r>
            <a:r>
              <a:rPr lang="en-US" sz="2198" strike="noStrike" u="none">
                <a:solidFill>
                  <a:srgbClr val="011226"/>
                </a:solidFill>
                <a:latin typeface="Poppins"/>
                <a:ea typeface="Poppins"/>
                <a:cs typeface="Poppins"/>
                <a:sym typeface="Poppins"/>
              </a:rPr>
              <a:t>o</a:t>
            </a:r>
            <a:r>
              <a:rPr lang="en-US" sz="2198" strike="noStrike" u="none">
                <a:solidFill>
                  <a:srgbClr val="011226"/>
                </a:solidFill>
                <a:latin typeface="Poppins"/>
                <a:ea typeface="Poppins"/>
                <a:cs typeface="Poppins"/>
                <a:sym typeface="Poppins"/>
              </a:rPr>
              <a:t>c</a:t>
            </a:r>
            <a:r>
              <a:rPr lang="en-US" sz="2198" strike="noStrike" u="none">
                <a:solidFill>
                  <a:srgbClr val="011226"/>
                </a:solidFill>
                <a:latin typeface="Poppins"/>
                <a:ea typeface="Poppins"/>
                <a:cs typeface="Poppins"/>
                <a:sym typeface="Poppins"/>
              </a:rPr>
              <a:t>ess</a:t>
            </a:r>
            <a:r>
              <a:rPr lang="en-US" sz="2198" strike="noStrike" u="none">
                <a:solidFill>
                  <a:srgbClr val="011226"/>
                </a:solidFill>
                <a:latin typeface="Poppins"/>
                <a:ea typeface="Poppins"/>
                <a:cs typeface="Poppins"/>
                <a:sym typeface="Poppins"/>
              </a:rPr>
              <a:t>or</a:t>
            </a:r>
            <a:r>
              <a:rPr lang="en-US" sz="2198" strike="noStrike" u="none">
                <a:solidFill>
                  <a:srgbClr val="011226"/>
                </a:solidFill>
                <a:latin typeface="Poppins"/>
                <a:ea typeface="Poppins"/>
                <a:cs typeface="Poppins"/>
                <a:sym typeface="Poppins"/>
              </a:rPr>
              <a:t>_pipeline.pkl feautures_meta.pkl)</a:t>
            </a:r>
          </a:p>
          <a:p>
            <a:pPr algn="l" marL="0" indent="0" lvl="0">
              <a:lnSpc>
                <a:spcPts val="3077"/>
              </a:lnSpc>
              <a:spcBef>
                <a:spcPct val="0"/>
              </a:spcBef>
            </a:pPr>
          </a:p>
          <a:p>
            <a:pPr algn="l" marL="0" indent="0" lvl="0">
              <a:lnSpc>
                <a:spcPts val="3077"/>
              </a:lnSpc>
              <a:spcBef>
                <a:spcPct val="0"/>
              </a:spcBef>
            </a:pPr>
          </a:p>
        </p:txBody>
      </p:sp>
      <p:sp>
        <p:nvSpPr>
          <p:cNvPr name="TextBox 20" id="20"/>
          <p:cNvSpPr txBox="true"/>
          <p:nvPr/>
        </p:nvSpPr>
        <p:spPr>
          <a:xfrm rot="0">
            <a:off x="8982491" y="8300618"/>
            <a:ext cx="3518809" cy="1563409"/>
          </a:xfrm>
          <a:prstGeom prst="rect">
            <a:avLst/>
          </a:prstGeom>
        </p:spPr>
        <p:txBody>
          <a:bodyPr anchor="t" rtlCol="false" tIns="0" lIns="0" bIns="0" rIns="0">
            <a:spAutoFit/>
          </a:bodyPr>
          <a:lstStyle/>
          <a:p>
            <a:pPr algn="l" marL="0" indent="0" lvl="0">
              <a:lnSpc>
                <a:spcPts val="3077"/>
              </a:lnSpc>
              <a:spcBef>
                <a:spcPct val="0"/>
              </a:spcBef>
            </a:pPr>
            <a:r>
              <a:rPr lang="en-US" sz="2198">
                <a:solidFill>
                  <a:srgbClr val="011226"/>
                </a:solidFill>
                <a:latin typeface="Poppins"/>
                <a:ea typeface="Poppins"/>
                <a:cs typeface="Poppins"/>
                <a:sym typeface="Poppins"/>
              </a:rPr>
              <a:t>app/routes.py </a:t>
            </a:r>
          </a:p>
          <a:p>
            <a:pPr algn="l" marL="0" indent="0" lvl="0">
              <a:lnSpc>
                <a:spcPts val="3077"/>
              </a:lnSpc>
              <a:spcBef>
                <a:spcPct val="0"/>
              </a:spcBef>
            </a:pPr>
            <a:r>
              <a:rPr lang="en-US" sz="2198">
                <a:solidFill>
                  <a:srgbClr val="011226"/>
                </a:solidFill>
                <a:latin typeface="Poppins"/>
                <a:ea typeface="Poppins"/>
                <a:cs typeface="Poppins"/>
                <a:sym typeface="Poppins"/>
              </a:rPr>
              <a:t>gestion des requêtes HTTP et communication entre View et Model</a:t>
            </a:r>
          </a:p>
        </p:txBody>
      </p:sp>
      <p:sp>
        <p:nvSpPr>
          <p:cNvPr name="TextBox 21" id="21"/>
          <p:cNvSpPr txBox="true"/>
          <p:nvPr/>
        </p:nvSpPr>
        <p:spPr>
          <a:xfrm rot="0">
            <a:off x="12929926" y="3925973"/>
            <a:ext cx="3400108" cy="782359"/>
          </a:xfrm>
          <a:prstGeom prst="rect">
            <a:avLst/>
          </a:prstGeom>
        </p:spPr>
        <p:txBody>
          <a:bodyPr anchor="t" rtlCol="false" tIns="0" lIns="0" bIns="0" rIns="0">
            <a:spAutoFit/>
          </a:bodyPr>
          <a:lstStyle/>
          <a:p>
            <a:pPr algn="l" marL="0" indent="0" lvl="0">
              <a:lnSpc>
                <a:spcPts val="3077"/>
              </a:lnSpc>
              <a:spcBef>
                <a:spcPct val="0"/>
              </a:spcBef>
            </a:pPr>
            <a:r>
              <a:rPr lang="en-US" sz="2198">
                <a:solidFill>
                  <a:srgbClr val="011226"/>
                </a:solidFill>
                <a:latin typeface="Poppins"/>
                <a:ea typeface="Poppins"/>
                <a:cs typeface="Poppins"/>
                <a:sym typeface="Poppins"/>
              </a:rPr>
              <a:t>templates/index.html interface responsive</a:t>
            </a:r>
          </a:p>
        </p:txBody>
      </p:sp>
      <p:sp>
        <p:nvSpPr>
          <p:cNvPr name="TextBox 22" id="22"/>
          <p:cNvSpPr txBox="true"/>
          <p:nvPr/>
        </p:nvSpPr>
        <p:spPr>
          <a:xfrm rot="0">
            <a:off x="12929926" y="8538549"/>
            <a:ext cx="3400108" cy="782359"/>
          </a:xfrm>
          <a:prstGeom prst="rect">
            <a:avLst/>
          </a:prstGeom>
        </p:spPr>
        <p:txBody>
          <a:bodyPr anchor="t" rtlCol="false" tIns="0" lIns="0" bIns="0" rIns="0">
            <a:spAutoFit/>
          </a:bodyPr>
          <a:lstStyle/>
          <a:p>
            <a:pPr algn="l" marL="0" indent="0" lvl="0">
              <a:lnSpc>
                <a:spcPts val="3077"/>
              </a:lnSpc>
              <a:spcBef>
                <a:spcPct val="0"/>
              </a:spcBef>
            </a:pPr>
            <a:r>
              <a:rPr lang="en-US" sz="2198">
                <a:solidFill>
                  <a:srgbClr val="011226"/>
                </a:solidFill>
                <a:latin typeface="Poppins"/>
                <a:ea typeface="Poppins"/>
                <a:cs typeface="Poppins"/>
                <a:sym typeface="Poppins"/>
              </a:rPr>
              <a:t>app/</a:t>
            </a:r>
            <a:r>
              <a:rPr lang="en-US" b="true" sz="2198">
                <a:solidFill>
                  <a:srgbClr val="011226"/>
                </a:solidFill>
                <a:latin typeface="Poppins Bold"/>
                <a:ea typeface="Poppins Bold"/>
                <a:cs typeface="Poppins Bold"/>
                <a:sym typeface="Poppins Bold"/>
              </a:rPr>
              <a:t>init</a:t>
            </a:r>
            <a:r>
              <a:rPr lang="en-US" sz="2198">
                <a:solidFill>
                  <a:srgbClr val="011226"/>
                </a:solidFill>
                <a:latin typeface="Poppins"/>
                <a:ea typeface="Poppins"/>
                <a:cs typeface="Poppins"/>
                <a:sym typeface="Poppins"/>
              </a:rPr>
              <a:t>.py initialisation Flask</a:t>
            </a:r>
          </a:p>
        </p:txBody>
      </p:sp>
      <p:sp>
        <p:nvSpPr>
          <p:cNvPr name="TextBox 23" id="23"/>
          <p:cNvSpPr txBox="true"/>
          <p:nvPr/>
        </p:nvSpPr>
        <p:spPr>
          <a:xfrm rot="0">
            <a:off x="1028700" y="2399473"/>
            <a:ext cx="6533111" cy="1764690"/>
          </a:xfrm>
          <a:prstGeom prst="rect">
            <a:avLst/>
          </a:prstGeom>
        </p:spPr>
        <p:txBody>
          <a:bodyPr anchor="t" rtlCol="false" tIns="0" lIns="0" bIns="0" rIns="0">
            <a:spAutoFit/>
          </a:bodyPr>
          <a:lstStyle/>
          <a:p>
            <a:pPr algn="l" marL="0" indent="0" lvl="0">
              <a:lnSpc>
                <a:spcPts val="6995"/>
              </a:lnSpc>
              <a:spcBef>
                <a:spcPct val="0"/>
              </a:spcBef>
            </a:pPr>
            <a:r>
              <a:rPr lang="en-US" b="true" sz="5596">
                <a:solidFill>
                  <a:srgbClr val="004CCF"/>
                </a:solidFill>
                <a:latin typeface="Aileron Bold"/>
                <a:ea typeface="Aileron Bold"/>
                <a:cs typeface="Aileron Bold"/>
                <a:sym typeface="Aileron Bold"/>
              </a:rPr>
              <a:t>Architecture MVC de l'Application</a:t>
            </a:r>
          </a:p>
        </p:txBody>
      </p:sp>
      <p:sp>
        <p:nvSpPr>
          <p:cNvPr name="TextBox 24" id="24"/>
          <p:cNvSpPr txBox="true"/>
          <p:nvPr/>
        </p:nvSpPr>
        <p:spPr>
          <a:xfrm rot="0">
            <a:off x="1051598" y="4691701"/>
            <a:ext cx="6906515" cy="3341410"/>
          </a:xfrm>
          <a:prstGeom prst="rect">
            <a:avLst/>
          </a:prstGeom>
        </p:spPr>
        <p:txBody>
          <a:bodyPr anchor="t" rtlCol="false" tIns="0" lIns="0" bIns="0" rIns="0">
            <a:spAutoFit/>
          </a:bodyPr>
          <a:lstStyle/>
          <a:p>
            <a:pPr algn="l" marL="0" indent="0" lvl="0">
              <a:lnSpc>
                <a:spcPts val="3777"/>
              </a:lnSpc>
              <a:spcBef>
                <a:spcPct val="0"/>
              </a:spcBef>
            </a:pPr>
            <a:r>
              <a:rPr lang="en-US" sz="2698">
                <a:solidFill>
                  <a:srgbClr val="011226"/>
                </a:solidFill>
                <a:latin typeface="Poppins"/>
                <a:ea typeface="Poppins"/>
                <a:cs typeface="Poppins"/>
                <a:sym typeface="Poppins"/>
              </a:rPr>
              <a:t>L'application de prédiction de churn suit le pattern MVC (Model-View-Controller) pour une architecture modulaire et maintenable. Cette séparation des responsabilités facilite le développement et les évolutions futures.</a:t>
            </a:r>
          </a:p>
        </p:txBody>
      </p:sp>
      <p:sp>
        <p:nvSpPr>
          <p:cNvPr name="TextBox 25" id="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35</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21514" y="0"/>
            <a:ext cx="15044973" cy="10287000"/>
          </a:xfrm>
          <a:custGeom>
            <a:avLst/>
            <a:gdLst/>
            <a:ahLst/>
            <a:cxnLst/>
            <a:rect r="r" b="b" t="t" l="l"/>
            <a:pathLst>
              <a:path h="10287000" w="15044973">
                <a:moveTo>
                  <a:pt x="0" y="0"/>
                </a:moveTo>
                <a:lnTo>
                  <a:pt x="15044972" y="0"/>
                </a:lnTo>
                <a:lnTo>
                  <a:pt x="15044972"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36</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313874" y="1028700"/>
            <a:ext cx="945426" cy="355431"/>
          </a:xfrm>
          <a:custGeom>
            <a:avLst/>
            <a:gdLst/>
            <a:ahLst/>
            <a:cxnLst/>
            <a:rect r="r" b="b" t="t" l="l"/>
            <a:pathLst>
              <a:path h="355431" w="945426">
                <a:moveTo>
                  <a:pt x="0" y="0"/>
                </a:moveTo>
                <a:lnTo>
                  <a:pt x="945426" y="0"/>
                </a:lnTo>
                <a:lnTo>
                  <a:pt x="945426" y="355431"/>
                </a:lnTo>
                <a:lnTo>
                  <a:pt x="0" y="3554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2833796" y="2659182"/>
            <a:ext cx="5422199" cy="1764690"/>
          </a:xfrm>
          <a:prstGeom prst="rect">
            <a:avLst/>
          </a:prstGeom>
        </p:spPr>
        <p:txBody>
          <a:bodyPr anchor="t" rtlCol="false" tIns="0" lIns="0" bIns="0" rIns="0">
            <a:spAutoFit/>
          </a:bodyPr>
          <a:lstStyle/>
          <a:p>
            <a:pPr algn="l" marL="0" indent="0" lvl="0">
              <a:lnSpc>
                <a:spcPts val="6995"/>
              </a:lnSpc>
              <a:spcBef>
                <a:spcPct val="0"/>
              </a:spcBef>
            </a:pPr>
            <a:r>
              <a:rPr lang="en-US" b="true" sz="5596">
                <a:solidFill>
                  <a:srgbClr val="004CCF"/>
                </a:solidFill>
                <a:latin typeface="Aileron Bold"/>
                <a:ea typeface="Aileron Bold"/>
                <a:cs typeface="Aileron Bold"/>
                <a:sym typeface="Aileron Bold"/>
              </a:rPr>
              <a:t>Réalisations Clés du Projet</a:t>
            </a:r>
          </a:p>
        </p:txBody>
      </p:sp>
      <p:sp>
        <p:nvSpPr>
          <p:cNvPr name="TextBox 4" id="4"/>
          <p:cNvSpPr txBox="true"/>
          <p:nvPr/>
        </p:nvSpPr>
        <p:spPr>
          <a:xfrm rot="0">
            <a:off x="8625898" y="2578848"/>
            <a:ext cx="8103599" cy="1953934"/>
          </a:xfrm>
          <a:prstGeom prst="rect">
            <a:avLst/>
          </a:prstGeom>
        </p:spPr>
        <p:txBody>
          <a:bodyPr anchor="t" rtlCol="false" tIns="0" lIns="0" bIns="0" rIns="0">
            <a:spAutoFit/>
          </a:bodyPr>
          <a:lstStyle/>
          <a:p>
            <a:pPr algn="l" marL="0" indent="0" lvl="0">
              <a:lnSpc>
                <a:spcPts val="3077"/>
              </a:lnSpc>
              <a:spcBef>
                <a:spcPct val="0"/>
              </a:spcBef>
            </a:pPr>
            <a:r>
              <a:rPr lang="en-US" sz="2198">
                <a:solidFill>
                  <a:srgbClr val="011226"/>
                </a:solidFill>
                <a:latin typeface="Poppins"/>
                <a:ea typeface="Poppins"/>
                <a:cs typeface="Poppins"/>
                <a:sym typeface="Poppins"/>
              </a:rPr>
              <a:t>Ce workshop a permis de construire un pipeline ML complet pour la prédiction du churn client, de la préparation des données jusqu'au déploiement. Cette solution opérationnelle permet d'anticiper les départs clients et d'activer des stratégies de rétention efficaces.</a:t>
            </a:r>
          </a:p>
        </p:txBody>
      </p:sp>
      <p:sp>
        <p:nvSpPr>
          <p:cNvPr name="TextBox 5" id="5"/>
          <p:cNvSpPr txBox="true"/>
          <p:nvPr/>
        </p:nvSpPr>
        <p:spPr>
          <a:xfrm rot="0">
            <a:off x="1317435" y="6692862"/>
            <a:ext cx="3468436" cy="412255"/>
          </a:xfrm>
          <a:prstGeom prst="rect">
            <a:avLst/>
          </a:prstGeom>
        </p:spPr>
        <p:txBody>
          <a:bodyPr anchor="t" rtlCol="false" tIns="0" lIns="0" bIns="0" rIns="0">
            <a:spAutoFit/>
          </a:bodyPr>
          <a:lstStyle/>
          <a:p>
            <a:pPr algn="ctr" marL="0" indent="0" lvl="0">
              <a:lnSpc>
                <a:spcPts val="3222"/>
              </a:lnSpc>
              <a:spcBef>
                <a:spcPct val="0"/>
              </a:spcBef>
            </a:pPr>
            <a:r>
              <a:rPr lang="en-US" b="true" sz="2578" strike="noStrike" u="none">
                <a:solidFill>
                  <a:srgbClr val="004CCF"/>
                </a:solidFill>
                <a:latin typeface="Aileron Bold"/>
                <a:ea typeface="Aileron Bold"/>
                <a:cs typeface="Aileron Bold"/>
                <a:sym typeface="Aileron Bold"/>
              </a:rPr>
              <a:t>Pipeline Complet</a:t>
            </a:r>
          </a:p>
        </p:txBody>
      </p:sp>
      <p:sp>
        <p:nvSpPr>
          <p:cNvPr name="TextBox 6" id="6"/>
          <p:cNvSpPr txBox="true"/>
          <p:nvPr/>
        </p:nvSpPr>
        <p:spPr>
          <a:xfrm rot="0">
            <a:off x="5157462" y="6692862"/>
            <a:ext cx="3468436" cy="412255"/>
          </a:xfrm>
          <a:prstGeom prst="rect">
            <a:avLst/>
          </a:prstGeom>
        </p:spPr>
        <p:txBody>
          <a:bodyPr anchor="t" rtlCol="false" tIns="0" lIns="0" bIns="0" rIns="0">
            <a:spAutoFit/>
          </a:bodyPr>
          <a:lstStyle/>
          <a:p>
            <a:pPr algn="ctr" marL="0" indent="0" lvl="0">
              <a:lnSpc>
                <a:spcPts val="3222"/>
              </a:lnSpc>
              <a:spcBef>
                <a:spcPct val="0"/>
              </a:spcBef>
            </a:pPr>
            <a:r>
              <a:rPr lang="en-US" b="true" sz="2578" strike="noStrike" u="none">
                <a:solidFill>
                  <a:srgbClr val="004CCF"/>
                </a:solidFill>
                <a:latin typeface="Aileron Bold"/>
                <a:ea typeface="Aileron Bold"/>
                <a:cs typeface="Aileron Bold"/>
                <a:sym typeface="Aileron Bold"/>
              </a:rPr>
              <a:t>Nettoyage Rigoureux</a:t>
            </a:r>
          </a:p>
        </p:txBody>
      </p:sp>
      <p:sp>
        <p:nvSpPr>
          <p:cNvPr name="TextBox 7" id="7"/>
          <p:cNvSpPr txBox="true"/>
          <p:nvPr/>
        </p:nvSpPr>
        <p:spPr>
          <a:xfrm rot="0">
            <a:off x="8997373" y="6692862"/>
            <a:ext cx="3468436" cy="812305"/>
          </a:xfrm>
          <a:prstGeom prst="rect">
            <a:avLst/>
          </a:prstGeom>
        </p:spPr>
        <p:txBody>
          <a:bodyPr anchor="t" rtlCol="false" tIns="0" lIns="0" bIns="0" rIns="0">
            <a:spAutoFit/>
          </a:bodyPr>
          <a:lstStyle/>
          <a:p>
            <a:pPr algn="ctr" marL="0" indent="0" lvl="0">
              <a:lnSpc>
                <a:spcPts val="3222"/>
              </a:lnSpc>
              <a:spcBef>
                <a:spcPct val="0"/>
              </a:spcBef>
            </a:pPr>
            <a:r>
              <a:rPr lang="en-US" b="true" sz="2578">
                <a:solidFill>
                  <a:srgbClr val="004CCF"/>
                </a:solidFill>
                <a:latin typeface="Aileron Bold"/>
                <a:ea typeface="Aileron Bold"/>
                <a:cs typeface="Aileron Bold"/>
                <a:sym typeface="Aileron Bold"/>
              </a:rPr>
              <a:t>Comparaison Modèles</a:t>
            </a:r>
          </a:p>
        </p:txBody>
      </p:sp>
      <p:sp>
        <p:nvSpPr>
          <p:cNvPr name="TextBox 8" id="8"/>
          <p:cNvSpPr txBox="true"/>
          <p:nvPr/>
        </p:nvSpPr>
        <p:spPr>
          <a:xfrm rot="0">
            <a:off x="12837283" y="6692862"/>
            <a:ext cx="3468436" cy="412255"/>
          </a:xfrm>
          <a:prstGeom prst="rect">
            <a:avLst/>
          </a:prstGeom>
        </p:spPr>
        <p:txBody>
          <a:bodyPr anchor="t" rtlCol="false" tIns="0" lIns="0" bIns="0" rIns="0">
            <a:spAutoFit/>
          </a:bodyPr>
          <a:lstStyle/>
          <a:p>
            <a:pPr algn="ctr" marL="0" indent="0" lvl="0">
              <a:lnSpc>
                <a:spcPts val="3222"/>
              </a:lnSpc>
              <a:spcBef>
                <a:spcPct val="0"/>
              </a:spcBef>
            </a:pPr>
            <a:r>
              <a:rPr lang="en-US" b="true" sz="2578">
                <a:solidFill>
                  <a:srgbClr val="004CCF"/>
                </a:solidFill>
                <a:latin typeface="Aileron Bold"/>
                <a:ea typeface="Aileron Bold"/>
                <a:cs typeface="Aileron Bold"/>
                <a:sym typeface="Aileron Bold"/>
              </a:rPr>
              <a:t>Déploiement Flask</a:t>
            </a:r>
          </a:p>
        </p:txBody>
      </p:sp>
      <p:sp>
        <p:nvSpPr>
          <p:cNvPr name="TextBox 9" id="9"/>
          <p:cNvSpPr txBox="true"/>
          <p:nvPr/>
        </p:nvSpPr>
        <p:spPr>
          <a:xfrm rot="0">
            <a:off x="1317435" y="7416641"/>
            <a:ext cx="3468436" cy="782359"/>
          </a:xfrm>
          <a:prstGeom prst="rect">
            <a:avLst/>
          </a:prstGeom>
        </p:spPr>
        <p:txBody>
          <a:bodyPr anchor="t" rtlCol="false" tIns="0" lIns="0" bIns="0" rIns="0">
            <a:spAutoFit/>
          </a:bodyPr>
          <a:lstStyle/>
          <a:p>
            <a:pPr algn="ctr" marL="0" indent="0" lvl="0">
              <a:lnSpc>
                <a:spcPts val="3077"/>
              </a:lnSpc>
              <a:spcBef>
                <a:spcPct val="0"/>
              </a:spcBef>
            </a:pPr>
            <a:r>
              <a:rPr lang="en-US" sz="2198">
                <a:solidFill>
                  <a:srgbClr val="011226"/>
                </a:solidFill>
                <a:latin typeface="Poppins"/>
                <a:ea typeface="Poppins"/>
                <a:cs typeface="Poppins"/>
                <a:sym typeface="Poppins"/>
              </a:rPr>
              <a:t>De la donnée au déploiement</a:t>
            </a:r>
          </a:p>
        </p:txBody>
      </p:sp>
      <p:sp>
        <p:nvSpPr>
          <p:cNvPr name="TextBox 10" id="10"/>
          <p:cNvSpPr txBox="true"/>
          <p:nvPr/>
        </p:nvSpPr>
        <p:spPr>
          <a:xfrm rot="0">
            <a:off x="5157462" y="7426166"/>
            <a:ext cx="3468436" cy="782359"/>
          </a:xfrm>
          <a:prstGeom prst="rect">
            <a:avLst/>
          </a:prstGeom>
        </p:spPr>
        <p:txBody>
          <a:bodyPr anchor="t" rtlCol="false" tIns="0" lIns="0" bIns="0" rIns="0">
            <a:spAutoFit/>
          </a:bodyPr>
          <a:lstStyle/>
          <a:p>
            <a:pPr algn="ctr" marL="0" indent="0" lvl="0">
              <a:lnSpc>
                <a:spcPts val="3077"/>
              </a:lnSpc>
              <a:spcBef>
                <a:spcPct val="0"/>
              </a:spcBef>
            </a:pPr>
            <a:r>
              <a:rPr lang="en-US" sz="2198">
                <a:solidFill>
                  <a:srgbClr val="011226"/>
                </a:solidFill>
                <a:latin typeface="Poppins"/>
                <a:ea typeface="Poppins"/>
                <a:cs typeface="Poppins"/>
                <a:sym typeface="Poppins"/>
              </a:rPr>
              <a:t>Feature engineering optimisé</a:t>
            </a:r>
          </a:p>
        </p:txBody>
      </p:sp>
      <p:sp>
        <p:nvSpPr>
          <p:cNvPr name="TextBox 11" id="11"/>
          <p:cNvSpPr txBox="true"/>
          <p:nvPr/>
        </p:nvSpPr>
        <p:spPr>
          <a:xfrm rot="0">
            <a:off x="8997373" y="7476592"/>
            <a:ext cx="3468436" cy="782359"/>
          </a:xfrm>
          <a:prstGeom prst="rect">
            <a:avLst/>
          </a:prstGeom>
        </p:spPr>
        <p:txBody>
          <a:bodyPr anchor="t" rtlCol="false" tIns="0" lIns="0" bIns="0" rIns="0">
            <a:spAutoFit/>
          </a:bodyPr>
          <a:lstStyle/>
          <a:p>
            <a:pPr algn="ctr" marL="0" indent="0" lvl="0">
              <a:lnSpc>
                <a:spcPts val="3077"/>
              </a:lnSpc>
              <a:spcBef>
                <a:spcPct val="0"/>
              </a:spcBef>
            </a:pPr>
            <a:r>
              <a:rPr lang="en-US" sz="2198">
                <a:solidFill>
                  <a:srgbClr val="011226"/>
                </a:solidFill>
                <a:latin typeface="Poppins"/>
                <a:ea typeface="Poppins"/>
                <a:cs typeface="Poppins"/>
                <a:sym typeface="Poppins"/>
              </a:rPr>
              <a:t>GridSearchCV &amp; F1-Score</a:t>
            </a:r>
          </a:p>
        </p:txBody>
      </p:sp>
      <p:sp>
        <p:nvSpPr>
          <p:cNvPr name="TextBox 12" id="12"/>
          <p:cNvSpPr txBox="true"/>
          <p:nvPr/>
        </p:nvSpPr>
        <p:spPr>
          <a:xfrm rot="0">
            <a:off x="12837283" y="7407116"/>
            <a:ext cx="3468436" cy="782359"/>
          </a:xfrm>
          <a:prstGeom prst="rect">
            <a:avLst/>
          </a:prstGeom>
        </p:spPr>
        <p:txBody>
          <a:bodyPr anchor="t" rtlCol="false" tIns="0" lIns="0" bIns="0" rIns="0">
            <a:spAutoFit/>
          </a:bodyPr>
          <a:lstStyle/>
          <a:p>
            <a:pPr algn="ctr" marL="0" indent="0" lvl="0">
              <a:lnSpc>
                <a:spcPts val="3077"/>
              </a:lnSpc>
              <a:spcBef>
                <a:spcPct val="0"/>
              </a:spcBef>
            </a:pPr>
            <a:r>
              <a:rPr lang="en-US" sz="2198">
                <a:solidFill>
                  <a:srgbClr val="011226"/>
                </a:solidFill>
                <a:latin typeface="Poppins"/>
                <a:ea typeface="Poppins"/>
                <a:cs typeface="Poppins"/>
                <a:sym typeface="Poppins"/>
              </a:rPr>
              <a:t>Application web modulaire</a:t>
            </a:r>
          </a:p>
        </p:txBody>
      </p:sp>
      <p:grpSp>
        <p:nvGrpSpPr>
          <p:cNvPr name="Group 13" id="13"/>
          <p:cNvGrpSpPr/>
          <p:nvPr/>
        </p:nvGrpSpPr>
        <p:grpSpPr>
          <a:xfrm rot="0">
            <a:off x="253593" y="8992413"/>
            <a:ext cx="20334267" cy="8668838"/>
            <a:chOff x="0" y="0"/>
            <a:chExt cx="2210551" cy="942395"/>
          </a:xfrm>
        </p:grpSpPr>
        <p:sp>
          <p:nvSpPr>
            <p:cNvPr name="Freeform 14" id="14"/>
            <p:cNvSpPr/>
            <p:nvPr/>
          </p:nvSpPr>
          <p:spPr>
            <a:xfrm flipH="false" flipV="false" rot="0">
              <a:off x="4400" y="0"/>
              <a:ext cx="2201750" cy="942395"/>
            </a:xfrm>
            <a:custGeom>
              <a:avLst/>
              <a:gdLst/>
              <a:ahLst/>
              <a:cxnLst/>
              <a:rect r="r" b="b" t="t" l="l"/>
              <a:pathLst>
                <a:path h="942395" w="2201750">
                  <a:moveTo>
                    <a:pt x="221644" y="0"/>
                  </a:moveTo>
                  <a:lnTo>
                    <a:pt x="2183307" y="0"/>
                  </a:lnTo>
                  <a:cubicBezTo>
                    <a:pt x="2188881" y="0"/>
                    <a:pt x="2194156" y="2521"/>
                    <a:pt x="2197657" y="6858"/>
                  </a:cubicBezTo>
                  <a:cubicBezTo>
                    <a:pt x="2201159" y="11194"/>
                    <a:pt x="2202511" y="16882"/>
                    <a:pt x="2201336" y="22331"/>
                  </a:cubicBezTo>
                  <a:lnTo>
                    <a:pt x="2007766" y="920064"/>
                  </a:lnTo>
                  <a:cubicBezTo>
                    <a:pt x="2004957" y="933093"/>
                    <a:pt x="1993436" y="942395"/>
                    <a:pt x="1980107" y="942395"/>
                  </a:cubicBezTo>
                  <a:lnTo>
                    <a:pt x="18444" y="942395"/>
                  </a:lnTo>
                  <a:cubicBezTo>
                    <a:pt x="12870" y="942395"/>
                    <a:pt x="7595" y="939874"/>
                    <a:pt x="4094" y="935537"/>
                  </a:cubicBezTo>
                  <a:cubicBezTo>
                    <a:pt x="592" y="931201"/>
                    <a:pt x="-760" y="925513"/>
                    <a:pt x="415" y="920064"/>
                  </a:cubicBezTo>
                  <a:lnTo>
                    <a:pt x="193985" y="22331"/>
                  </a:lnTo>
                  <a:cubicBezTo>
                    <a:pt x="196794" y="9302"/>
                    <a:pt x="208316" y="0"/>
                    <a:pt x="221644" y="0"/>
                  </a:cubicBezTo>
                  <a:close/>
                </a:path>
              </a:pathLst>
            </a:custGeom>
            <a:gradFill rotWithShape="true">
              <a:gsLst>
                <a:gs pos="0">
                  <a:srgbClr val="0D1296">
                    <a:alpha val="100000"/>
                  </a:srgbClr>
                </a:gs>
                <a:gs pos="100000">
                  <a:srgbClr val="2B79FF">
                    <a:alpha val="100000"/>
                  </a:srgbClr>
                </a:gs>
              </a:gsLst>
              <a:lin ang="2700000"/>
            </a:gradFill>
          </p:spPr>
        </p:sp>
        <p:sp>
          <p:nvSpPr>
            <p:cNvPr name="TextBox 15" id="15"/>
            <p:cNvSpPr txBox="true"/>
            <p:nvPr/>
          </p:nvSpPr>
          <p:spPr>
            <a:xfrm>
              <a:off x="101600" y="-66675"/>
              <a:ext cx="2007351" cy="1009070"/>
            </a:xfrm>
            <a:prstGeom prst="rect">
              <a:avLst/>
            </a:prstGeom>
          </p:spPr>
          <p:txBody>
            <a:bodyPr anchor="ctr" rtlCol="false" tIns="50800" lIns="50800" bIns="50800" rIns="50800"/>
            <a:lstStyle/>
            <a:p>
              <a:pPr algn="ctr" marL="0" indent="0" lvl="0">
                <a:lnSpc>
                  <a:spcPts val="3151"/>
                </a:lnSpc>
              </a:pPr>
            </a:p>
          </p:txBody>
        </p:sp>
      </p:grpSp>
      <p:sp>
        <p:nvSpPr>
          <p:cNvPr name="Freeform 16" id="16"/>
          <p:cNvSpPr/>
          <p:nvPr/>
        </p:nvSpPr>
        <p:spPr>
          <a:xfrm flipH="false" flipV="false" rot="2871075">
            <a:off x="-1999804" y="-2536022"/>
            <a:ext cx="5078392" cy="5072044"/>
          </a:xfrm>
          <a:custGeom>
            <a:avLst/>
            <a:gdLst/>
            <a:ahLst/>
            <a:cxnLst/>
            <a:rect r="r" b="b" t="t" l="l"/>
            <a:pathLst>
              <a:path h="5072044" w="5078392">
                <a:moveTo>
                  <a:pt x="0" y="0"/>
                </a:moveTo>
                <a:lnTo>
                  <a:pt x="5078391" y="0"/>
                </a:lnTo>
                <a:lnTo>
                  <a:pt x="5078391" y="5072044"/>
                </a:lnTo>
                <a:lnTo>
                  <a:pt x="0" y="50720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Open Sans"/>
                <a:ea typeface="Open Sans"/>
                <a:cs typeface="Open Sans"/>
                <a:sym typeface="Open Sans"/>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DAHHJ1cxeUA</dc:identifier>
  <dcterms:modified xsi:type="dcterms:W3CDTF">2011-08-01T06:04:30Z</dcterms:modified>
  <cp:revision>1</cp:revision>
  <dc:title>Analyse Comportementale Retail - Atelier ML</dc:title>
</cp:coreProperties>
</file>